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8" r:id="rId15"/>
    <p:sldId id="279" r:id="rId16"/>
    <p:sldId id="270" r:id="rId17"/>
    <p:sldId id="276" r:id="rId18"/>
    <p:sldId id="277" r:id="rId19"/>
    <p:sldId id="280" r:id="rId20"/>
    <p:sldId id="281" r:id="rId21"/>
    <p:sldId id="283" r:id="rId22"/>
    <p:sldId id="284" r:id="rId23"/>
    <p:sldId id="285" r:id="rId24"/>
    <p:sldId id="286" r:id="rId25"/>
    <p:sldId id="287" r:id="rId26"/>
    <p:sldId id="301" r:id="rId27"/>
    <p:sldId id="292" r:id="rId28"/>
    <p:sldId id="293" r:id="rId29"/>
    <p:sldId id="295" r:id="rId30"/>
    <p:sldId id="296" r:id="rId31"/>
    <p:sldId id="297" r:id="rId32"/>
    <p:sldId id="298" r:id="rId33"/>
    <p:sldId id="299" r:id="rId34"/>
    <p:sldId id="300" r:id="rId35"/>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3" d="100"/>
          <a:sy n="83" d="100"/>
        </p:scale>
        <p:origin x="-2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Click to move the slide</a:t>
            </a: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 </a:t>
            </a:r>
          </a:p>
        </p:txBody>
      </p:sp>
      <p:sp>
        <p:nvSpPr>
          <p:cNvPr id="5"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 </a:t>
            </a: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D2CD7C08-86D8-4A1A-8FEF-EB61FE24A617}"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PlaceHolder 1"/>
          <p:cNvSpPr>
            <a:spLocks noGrp="1" noRot="1" noChangeAspect="1"/>
          </p:cNvSpPr>
          <p:nvPr>
            <p:ph type="sldImg"/>
          </p:nvPr>
        </p:nvSpPr>
        <p:spPr>
          <a:xfrm>
            <a:off x="685800" y="1143000"/>
            <a:ext cx="5486040" cy="3085920"/>
          </a:xfrm>
          <a:prstGeom prst="rect">
            <a:avLst/>
          </a:prstGeom>
          <a:ln w="0">
            <a:noFill/>
          </a:ln>
        </p:spPr>
      </p:sp>
      <p:sp>
        <p:nvSpPr>
          <p:cNvPr id="6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37"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C65BAAF-C83B-4B3C-9AE0-C3FF3AC924D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8" name="PlaceHolder 1"/>
          <p:cNvSpPr>
            <a:spLocks noGrp="1" noRot="1" noChangeAspect="1"/>
          </p:cNvSpPr>
          <p:nvPr>
            <p:ph type="sldImg"/>
          </p:nvPr>
        </p:nvSpPr>
        <p:spPr>
          <a:xfrm>
            <a:off x="685800" y="1143000"/>
            <a:ext cx="5486040" cy="3085920"/>
          </a:xfrm>
          <a:prstGeom prst="rect">
            <a:avLst/>
          </a:prstGeom>
          <a:ln w="0">
            <a:noFill/>
          </a:ln>
        </p:spPr>
      </p:sp>
      <p:sp>
        <p:nvSpPr>
          <p:cNvPr id="6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40"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426DAF4-3A0C-47E1-9E82-8FF8A91AAE5A}"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 name="PlaceHolder 1"/>
          <p:cNvSpPr>
            <a:spLocks noGrp="1" noRot="1" noChangeAspect="1"/>
          </p:cNvSpPr>
          <p:nvPr>
            <p:ph type="sldImg"/>
          </p:nvPr>
        </p:nvSpPr>
        <p:spPr>
          <a:xfrm>
            <a:off x="685800" y="1143000"/>
            <a:ext cx="5486400" cy="3086100"/>
          </a:xfrm>
          <a:prstGeom prst="rect">
            <a:avLst/>
          </a:prstGeom>
          <a:ln w="0">
            <a:noFill/>
          </a:ln>
        </p:spPr>
      </p:sp>
      <p:sp>
        <p:nvSpPr>
          <p:cNvPr id="6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43"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40D50FF-0A7E-4560-B7E4-E5A4F9ADF944}" type="slidenum">
              <a:rPr lang="en-US" sz="1200" b="0" u="none" strike="noStrike">
                <a:solidFill>
                  <a:schemeClr val="dk1"/>
                </a:solidFill>
                <a:effectLst/>
                <a:uFillTx/>
                <a:latin typeface="+mn-lt"/>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4" name="PlaceHolder 1"/>
          <p:cNvSpPr>
            <a:spLocks noGrp="1" noRot="1" noChangeAspect="1"/>
          </p:cNvSpPr>
          <p:nvPr>
            <p:ph type="sldImg"/>
          </p:nvPr>
        </p:nvSpPr>
        <p:spPr>
          <a:xfrm>
            <a:off x="685800" y="1143000"/>
            <a:ext cx="5486040" cy="3085920"/>
          </a:xfrm>
          <a:prstGeom prst="rect">
            <a:avLst/>
          </a:prstGeom>
          <a:ln w="0">
            <a:noFill/>
          </a:ln>
        </p:spPr>
      </p:sp>
      <p:sp>
        <p:nvSpPr>
          <p:cNvPr id="6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46"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3BA3C29-46B8-4468-87B7-F733873FE99B}" type="slidenum">
              <a:rPr lang="en-US" sz="1200" b="0" u="none" strike="noStrike">
                <a:solidFill>
                  <a:schemeClr val="dk1"/>
                </a:solidFill>
                <a:effectLst/>
                <a:uFillTx/>
                <a:latin typeface="+mn-lt"/>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7" name="PlaceHolder 1"/>
          <p:cNvSpPr>
            <a:spLocks noGrp="1" noRot="1" noChangeAspect="1"/>
          </p:cNvSpPr>
          <p:nvPr>
            <p:ph type="sldImg"/>
          </p:nvPr>
        </p:nvSpPr>
        <p:spPr>
          <a:xfrm>
            <a:off x="685800" y="1143000"/>
            <a:ext cx="5486400" cy="3086100"/>
          </a:xfrm>
          <a:prstGeom prst="rect">
            <a:avLst/>
          </a:prstGeom>
          <a:ln w="0">
            <a:noFill/>
          </a:ln>
        </p:spPr>
      </p:sp>
      <p:sp>
        <p:nvSpPr>
          <p:cNvPr id="6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49"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A308E19-ED31-4025-A48A-5AC464D93EB2}" type="slidenum">
              <a:rPr lang="en-US" sz="1200" b="0" u="none" strike="noStrike">
                <a:solidFill>
                  <a:schemeClr val="dk1"/>
                </a:solidFill>
                <a:effectLst/>
                <a:uFillTx/>
                <a:latin typeface="+mn-lt"/>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 name="PlaceHolder 1"/>
          <p:cNvSpPr>
            <a:spLocks noGrp="1" noRot="1" noChangeAspect="1"/>
          </p:cNvSpPr>
          <p:nvPr>
            <p:ph type="sldImg"/>
          </p:nvPr>
        </p:nvSpPr>
        <p:spPr>
          <a:xfrm>
            <a:off x="685800" y="1143000"/>
            <a:ext cx="5486040" cy="3085920"/>
          </a:xfrm>
          <a:prstGeom prst="rect">
            <a:avLst/>
          </a:prstGeom>
          <a:ln w="0">
            <a:noFill/>
          </a:ln>
        </p:spPr>
      </p:sp>
      <p:sp>
        <p:nvSpPr>
          <p:cNvPr id="6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52"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87DB126-F27E-4424-8FAF-DE98B1536B5D}" type="slidenum">
              <a:rPr lang="en-US" sz="1200" b="0" u="none" strike="noStrike">
                <a:solidFill>
                  <a:schemeClr val="dk1"/>
                </a:solidFill>
                <a:effectLst/>
                <a:uFillTx/>
                <a:latin typeface="+mn-lt"/>
                <a:ea typeface="+mn-ea"/>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3" name="PlaceHolder 1"/>
          <p:cNvSpPr>
            <a:spLocks noGrp="1" noRot="1" noChangeAspect="1"/>
          </p:cNvSpPr>
          <p:nvPr>
            <p:ph type="sldImg"/>
          </p:nvPr>
        </p:nvSpPr>
        <p:spPr>
          <a:xfrm>
            <a:off x="685800" y="1143000"/>
            <a:ext cx="5486040" cy="3085920"/>
          </a:xfrm>
          <a:prstGeom prst="rect">
            <a:avLst/>
          </a:prstGeom>
          <a:ln w="0">
            <a:noFill/>
          </a:ln>
        </p:spPr>
      </p:sp>
      <p:sp>
        <p:nvSpPr>
          <p:cNvPr id="6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55"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602F44B-94C9-4028-987D-4C7E5F35A4F3}"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6" name="PlaceHolder 1"/>
          <p:cNvSpPr>
            <a:spLocks noGrp="1" noRot="1" noChangeAspect="1"/>
          </p:cNvSpPr>
          <p:nvPr>
            <p:ph type="sldImg"/>
          </p:nvPr>
        </p:nvSpPr>
        <p:spPr>
          <a:xfrm>
            <a:off x="685800" y="1143000"/>
            <a:ext cx="5486040" cy="3085920"/>
          </a:xfrm>
          <a:prstGeom prst="rect">
            <a:avLst/>
          </a:prstGeom>
          <a:ln w="0">
            <a:noFill/>
          </a:ln>
        </p:spPr>
      </p:sp>
      <p:sp>
        <p:nvSpPr>
          <p:cNvPr id="65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58"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AD4E2AF-96A4-42F5-AA42-9EB676E8B97D}" type="slidenum">
              <a:rPr lang="en-US" sz="1200" b="0" u="none" strike="noStrike">
                <a:solidFill>
                  <a:schemeClr val="dk1"/>
                </a:solidFill>
                <a:effectLst/>
                <a:uFillTx/>
                <a:latin typeface="+mn-lt"/>
                <a:ea typeface="+mn-ea"/>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9" name="PlaceHolder 1"/>
          <p:cNvSpPr>
            <a:spLocks noGrp="1" noRot="1" noChangeAspect="1"/>
          </p:cNvSpPr>
          <p:nvPr>
            <p:ph type="sldImg"/>
          </p:nvPr>
        </p:nvSpPr>
        <p:spPr>
          <a:xfrm>
            <a:off x="685800" y="1143000"/>
            <a:ext cx="5486040" cy="3085920"/>
          </a:xfrm>
          <a:prstGeom prst="rect">
            <a:avLst/>
          </a:prstGeom>
          <a:ln w="0">
            <a:noFill/>
          </a:ln>
        </p:spPr>
      </p:sp>
      <p:sp>
        <p:nvSpPr>
          <p:cNvPr id="66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61"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FC06670-2AB2-49E4-ABC2-2A2B5F704935}" type="slidenum">
              <a:rPr lang="en-US" sz="1200" b="0" u="none" strike="noStrike">
                <a:solidFill>
                  <a:schemeClr val="dk1"/>
                </a:solidFill>
                <a:effectLst/>
                <a:uFillTx/>
                <a:latin typeface="+mn-lt"/>
                <a:ea typeface="+mn-ea"/>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 name="PlaceHolder 1"/>
          <p:cNvSpPr>
            <a:spLocks noGrp="1" noRot="1" noChangeAspect="1"/>
          </p:cNvSpPr>
          <p:nvPr>
            <p:ph type="sldImg"/>
          </p:nvPr>
        </p:nvSpPr>
        <p:spPr>
          <a:xfrm>
            <a:off x="685800" y="1143000"/>
            <a:ext cx="5486040" cy="3085920"/>
          </a:xfrm>
          <a:prstGeom prst="rect">
            <a:avLst/>
          </a:prstGeom>
          <a:ln w="0">
            <a:noFill/>
          </a:ln>
        </p:spPr>
      </p:sp>
      <p:sp>
        <p:nvSpPr>
          <p:cNvPr id="66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67"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4109C99-54EB-42D3-ADB8-A6F1B7168D23}" type="slidenum">
              <a:rPr lang="en-US" sz="1200" b="0" u="none" strike="noStrike">
                <a:solidFill>
                  <a:schemeClr val="dk1"/>
                </a:solidFill>
                <a:effectLst/>
                <a:uFillTx/>
                <a:latin typeface="+mn-lt"/>
                <a:ea typeface="+mn-ea"/>
              </a:rPr>
              <a:t>10</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 name="PlaceHolder 1"/>
          <p:cNvSpPr>
            <a:spLocks noGrp="1" noRot="1" noChangeAspect="1"/>
          </p:cNvSpPr>
          <p:nvPr>
            <p:ph type="sldImg"/>
          </p:nvPr>
        </p:nvSpPr>
        <p:spPr>
          <a:xfrm>
            <a:off x="685800" y="1143000"/>
            <a:ext cx="5486040" cy="3085920"/>
          </a:xfrm>
          <a:prstGeom prst="rect">
            <a:avLst/>
          </a:prstGeom>
          <a:ln w="0">
            <a:noFill/>
          </a:ln>
        </p:spPr>
      </p:sp>
      <p:sp>
        <p:nvSpPr>
          <p:cNvPr id="66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70"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75F6893-05EA-466C-BEB9-EE303AC2D823}"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1" name="PlaceHolder 1"/>
          <p:cNvSpPr>
            <a:spLocks noGrp="1" noRot="1" noChangeAspect="1"/>
          </p:cNvSpPr>
          <p:nvPr>
            <p:ph type="sldImg"/>
          </p:nvPr>
        </p:nvSpPr>
        <p:spPr>
          <a:xfrm>
            <a:off x="685800" y="1143000"/>
            <a:ext cx="5486040" cy="3085920"/>
          </a:xfrm>
          <a:prstGeom prst="rect">
            <a:avLst/>
          </a:prstGeom>
          <a:ln w="0">
            <a:noFill/>
          </a:ln>
        </p:spPr>
      </p:sp>
      <p:sp>
        <p:nvSpPr>
          <p:cNvPr id="67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73"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0086E72-B910-44E8-93B4-15D6C5C6FFAF}" type="slidenum">
              <a:rPr lang="en-US" sz="1200" b="0" u="none" strike="noStrike">
                <a:solidFill>
                  <a:schemeClr val="dk1"/>
                </a:solidFill>
                <a:effectLst/>
                <a:uFillTx/>
                <a:latin typeface="+mn-lt"/>
                <a:ea typeface="+mn-ea"/>
              </a:rPr>
              <a:t>12</a:t>
            </a:fld>
            <a:endParaRPr lang="en-US"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4" name="PlaceHolder 1"/>
          <p:cNvSpPr>
            <a:spLocks noGrp="1" noRot="1" noChangeAspect="1"/>
          </p:cNvSpPr>
          <p:nvPr>
            <p:ph type="sldImg"/>
          </p:nvPr>
        </p:nvSpPr>
        <p:spPr>
          <a:xfrm>
            <a:off x="685800" y="1143000"/>
            <a:ext cx="5486040" cy="3085920"/>
          </a:xfrm>
          <a:prstGeom prst="rect">
            <a:avLst/>
          </a:prstGeom>
          <a:ln w="0">
            <a:noFill/>
          </a:ln>
        </p:spPr>
      </p:sp>
      <p:sp>
        <p:nvSpPr>
          <p:cNvPr id="67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76"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8B34CB2-BFA4-4DE9-A59A-63A26BEE26A8}" type="slidenum">
              <a:rPr lang="en-US" sz="1200" b="0" u="none" strike="noStrike">
                <a:solidFill>
                  <a:schemeClr val="dk1"/>
                </a:solidFill>
                <a:effectLst/>
                <a:uFillTx/>
                <a:latin typeface="+mn-lt"/>
                <a:ea typeface="+mn-ea"/>
              </a:rPr>
              <a:t>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 name="PlaceHolder 1"/>
          <p:cNvSpPr>
            <a:spLocks noGrp="1" noRot="1" noChangeAspect="1"/>
          </p:cNvSpPr>
          <p:nvPr>
            <p:ph type="sldImg"/>
          </p:nvPr>
        </p:nvSpPr>
        <p:spPr>
          <a:xfrm>
            <a:off x="685800" y="1143000"/>
            <a:ext cx="5486400" cy="3086100"/>
          </a:xfrm>
          <a:prstGeom prst="rect">
            <a:avLst/>
          </a:prstGeom>
          <a:ln w="0">
            <a:noFill/>
          </a:ln>
        </p:spPr>
      </p:sp>
      <p:sp>
        <p:nvSpPr>
          <p:cNvPr id="70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703"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FD45D28-F31E-48BB-9288-A6F30FE4C3D6}" type="slidenum">
              <a:rPr lang="en-US" sz="1200" b="0" u="none" strike="noStrike">
                <a:solidFill>
                  <a:schemeClr val="dk1"/>
                </a:solidFill>
                <a:effectLst/>
                <a:uFillTx/>
                <a:latin typeface="+mn-lt"/>
                <a:ea typeface="+mn-ea"/>
              </a:rPr>
              <a:t>14</a:t>
            </a:fld>
            <a:endParaRPr lang="en-U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4" name="PlaceHolder 1"/>
          <p:cNvSpPr>
            <a:spLocks noGrp="1" noRot="1" noChangeAspect="1"/>
          </p:cNvSpPr>
          <p:nvPr>
            <p:ph type="sldImg"/>
          </p:nvPr>
        </p:nvSpPr>
        <p:spPr>
          <a:xfrm>
            <a:off x="685800" y="1143000"/>
            <a:ext cx="5486400" cy="3086100"/>
          </a:xfrm>
          <a:prstGeom prst="rect">
            <a:avLst/>
          </a:prstGeom>
          <a:ln w="0">
            <a:noFill/>
          </a:ln>
        </p:spPr>
      </p:sp>
      <p:sp>
        <p:nvSpPr>
          <p:cNvPr id="7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706"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969541E-0F89-4F47-8619-6133EFB9BBE0}" type="slidenum">
              <a:rPr lang="en-US" sz="1200" b="0" u="none" strike="noStrike">
                <a:solidFill>
                  <a:schemeClr val="dk1"/>
                </a:solidFill>
                <a:effectLst/>
                <a:uFillTx/>
                <a:latin typeface="+mn-lt"/>
                <a:ea typeface="+mn-ea"/>
              </a:rPr>
              <a:t>15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7" name="PlaceHolder 1"/>
          <p:cNvSpPr>
            <a:spLocks noGrp="1" noRot="1" noChangeAspect="1"/>
          </p:cNvSpPr>
          <p:nvPr>
            <p:ph type="sldImg"/>
          </p:nvPr>
        </p:nvSpPr>
        <p:spPr>
          <a:xfrm>
            <a:off x="685800" y="1143000"/>
            <a:ext cx="5486040" cy="3085920"/>
          </a:xfrm>
          <a:prstGeom prst="rect">
            <a:avLst/>
          </a:prstGeom>
          <a:ln w="0">
            <a:noFill/>
          </a:ln>
        </p:spPr>
      </p:sp>
      <p:sp>
        <p:nvSpPr>
          <p:cNvPr id="67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79"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84B717A-8E9B-4DFD-A77C-6118A80D9F1D}" type="slidenum">
              <a:rPr lang="en-US" sz="1200" b="0" u="none" strike="noStrike">
                <a:solidFill>
                  <a:schemeClr val="dk1"/>
                </a:solidFill>
                <a:effectLst/>
                <a:uFillTx/>
                <a:latin typeface="+mn-lt"/>
                <a:ea typeface="+mn-ea"/>
              </a:rPr>
              <a:t>16</a:t>
            </a:fld>
            <a:endParaRPr lang="en-US"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5" name="PlaceHolder 1"/>
          <p:cNvSpPr>
            <a:spLocks noGrp="1" noRot="1" noChangeAspect="1"/>
          </p:cNvSpPr>
          <p:nvPr>
            <p:ph type="sldImg"/>
          </p:nvPr>
        </p:nvSpPr>
        <p:spPr>
          <a:xfrm>
            <a:off x="685800" y="1143000"/>
            <a:ext cx="5486040" cy="3085920"/>
          </a:xfrm>
          <a:prstGeom prst="rect">
            <a:avLst/>
          </a:prstGeom>
          <a:ln w="0">
            <a:noFill/>
          </a:ln>
        </p:spPr>
      </p:sp>
      <p:sp>
        <p:nvSpPr>
          <p:cNvPr id="69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97"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171A4B8-D9B4-4473-87DB-4E7569B95EF6}" type="slidenum">
              <a:rPr lang="en-US" sz="1200" b="0" u="none" strike="noStrike">
                <a:solidFill>
                  <a:schemeClr val="dk1"/>
                </a:solidFill>
                <a:effectLst/>
                <a:uFillTx/>
                <a:latin typeface="+mn-lt"/>
                <a:ea typeface="+mn-ea"/>
              </a:rPr>
              <a:t>17</a:t>
            </a:fld>
            <a:endParaRPr lang="en-US" sz="12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8" name="PlaceHolder 1"/>
          <p:cNvSpPr>
            <a:spLocks noGrp="1" noRot="1" noChangeAspect="1"/>
          </p:cNvSpPr>
          <p:nvPr>
            <p:ph type="sldImg"/>
          </p:nvPr>
        </p:nvSpPr>
        <p:spPr>
          <a:xfrm>
            <a:off x="685800" y="1143000"/>
            <a:ext cx="5486040" cy="3085920"/>
          </a:xfrm>
          <a:prstGeom prst="rect">
            <a:avLst/>
          </a:prstGeom>
          <a:ln w="0">
            <a:noFill/>
          </a:ln>
        </p:spPr>
      </p:sp>
      <p:sp>
        <p:nvSpPr>
          <p:cNvPr id="69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700"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65CCB35-215D-42A3-93AA-14DDD3056908}" type="slidenum">
              <a:rPr lang="en-US" sz="1200" b="0" u="none" strike="noStrike">
                <a:solidFill>
                  <a:schemeClr val="dk1"/>
                </a:solidFill>
                <a:effectLst/>
                <a:uFillTx/>
                <a:latin typeface="+mn-lt"/>
                <a:ea typeface="+mn-ea"/>
              </a:rPr>
              <a:t>18</a:t>
            </a:fld>
            <a:endParaRPr lang="en-US" sz="1200" b="0" u="none" strike="noStrike">
              <a:solidFill>
                <a:srgbClr val="000000"/>
              </a:solidFill>
              <a:effectLst/>
              <a:uFillTx/>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7" name="PlaceHolder 1"/>
          <p:cNvSpPr>
            <a:spLocks noGrp="1" noRot="1" noChangeAspect="1"/>
          </p:cNvSpPr>
          <p:nvPr>
            <p:ph type="sldImg"/>
          </p:nvPr>
        </p:nvSpPr>
        <p:spPr>
          <a:xfrm>
            <a:off x="685800" y="1143000"/>
            <a:ext cx="5486040" cy="3085920"/>
          </a:xfrm>
          <a:prstGeom prst="rect">
            <a:avLst/>
          </a:prstGeom>
          <a:ln w="0">
            <a:noFill/>
          </a:ln>
        </p:spPr>
      </p:sp>
      <p:sp>
        <p:nvSpPr>
          <p:cNvPr id="7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709"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ACAFFA8-6AFE-4B8C-A487-A1F36ABB326E}" type="slidenum">
              <a:rPr lang="en-US" sz="1200" b="0" u="none" strike="noStrike">
                <a:solidFill>
                  <a:schemeClr val="dk1"/>
                </a:solidFill>
                <a:effectLst/>
                <a:uFillTx/>
                <a:latin typeface="+mn-lt"/>
                <a:ea typeface="+mn-ea"/>
              </a:rPr>
              <a:t>19</a:t>
            </a:fld>
            <a:endParaRPr lang="en-US" sz="1200" b="0" u="none" strike="noStrike">
              <a:solidFill>
                <a:srgbClr val="000000"/>
              </a:solidFill>
              <a:effectLst/>
              <a:uFillTx/>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0" name="PlaceHolder 1"/>
          <p:cNvSpPr>
            <a:spLocks noGrp="1" noRot="1" noChangeAspect="1"/>
          </p:cNvSpPr>
          <p:nvPr>
            <p:ph type="sldImg"/>
          </p:nvPr>
        </p:nvSpPr>
        <p:spPr>
          <a:xfrm>
            <a:off x="685800" y="1143000"/>
            <a:ext cx="5486400" cy="3086100"/>
          </a:xfrm>
          <a:prstGeom prst="rect">
            <a:avLst/>
          </a:prstGeom>
          <a:ln w="0">
            <a:noFill/>
          </a:ln>
        </p:spPr>
      </p:sp>
      <p:sp>
        <p:nvSpPr>
          <p:cNvPr id="7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712"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4B3FAC5-3B38-45D2-97EC-CB017CF2F394}" type="slidenum">
              <a:rPr lang="en-US" sz="1200" b="0" u="none" strike="noStrike">
                <a:solidFill>
                  <a:schemeClr val="dk1"/>
                </a:solidFill>
                <a:effectLst/>
                <a:uFillTx/>
                <a:latin typeface="+mn-lt"/>
                <a:ea typeface="+mn-ea"/>
              </a:rPr>
              <a:t>20</a:t>
            </a:fld>
            <a:endParaRPr lang="en-US" sz="1200" b="0" u="none" strike="noStrike">
              <a:solidFill>
                <a:srgbClr val="000000"/>
              </a:solidFill>
              <a:effectLst/>
              <a:uFillTx/>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 name="PlaceHolder 1"/>
          <p:cNvSpPr>
            <a:spLocks noGrp="1" noRot="1" noChangeAspect="1"/>
          </p:cNvSpPr>
          <p:nvPr>
            <p:ph type="sldImg"/>
          </p:nvPr>
        </p:nvSpPr>
        <p:spPr>
          <a:xfrm>
            <a:off x="685800" y="1143000"/>
            <a:ext cx="5486040" cy="3085920"/>
          </a:xfrm>
          <a:prstGeom prst="rect">
            <a:avLst/>
          </a:prstGeom>
          <a:ln w="0">
            <a:noFill/>
          </a:ln>
        </p:spPr>
      </p:sp>
      <p:sp>
        <p:nvSpPr>
          <p:cNvPr id="7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718"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105972E-EE86-48BF-80B5-1642F8E0253B}"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 name="PlaceHolder 1"/>
          <p:cNvSpPr>
            <a:spLocks noGrp="1" noRot="1" noChangeAspect="1"/>
          </p:cNvSpPr>
          <p:nvPr>
            <p:ph type="sldImg"/>
          </p:nvPr>
        </p:nvSpPr>
        <p:spPr>
          <a:xfrm>
            <a:off x="685800" y="1143000"/>
            <a:ext cx="5486400" cy="3086100"/>
          </a:xfrm>
          <a:prstGeom prst="rect">
            <a:avLst/>
          </a:prstGeom>
          <a:ln w="0">
            <a:noFill/>
          </a:ln>
        </p:spPr>
      </p:sp>
      <p:sp>
        <p:nvSpPr>
          <p:cNvPr id="72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721"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CF8E5A3-E57F-4467-AA7E-64E8993DB2BA}" type="slidenum">
              <a:rPr lang="en-US" sz="1200" b="0" u="none" strike="noStrike">
                <a:solidFill>
                  <a:schemeClr val="dk1"/>
                </a:solidFill>
                <a:effectLst/>
                <a:uFillTx/>
                <a:latin typeface="+mn-lt"/>
                <a:ea typeface="+mn-ea"/>
              </a:rPr>
              <a:t>26</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11724793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 name="PlaceHolder 1"/>
          <p:cNvSpPr>
            <a:spLocks noGrp="1" noRot="1" noChangeAspect="1"/>
          </p:cNvSpPr>
          <p:nvPr>
            <p:ph type="sldImg"/>
          </p:nvPr>
        </p:nvSpPr>
        <p:spPr>
          <a:xfrm>
            <a:off x="685800" y="1143000"/>
            <a:ext cx="5486400" cy="3086100"/>
          </a:xfrm>
          <a:prstGeom prst="rect">
            <a:avLst/>
          </a:prstGeom>
          <a:ln w="0">
            <a:noFill/>
          </a:ln>
        </p:spPr>
      </p:sp>
      <p:sp>
        <p:nvSpPr>
          <p:cNvPr id="73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733" name="PlaceHolder 3"/>
          <p:cNvSpPr>
            <a:spLocks noGrp="1"/>
          </p:cNvSpPr>
          <p:nvPr>
            <p:ph type="sldNum" idx="3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3E93578-DC49-4C50-B1DF-2DCC2CCBFB62}" type="slidenum">
              <a:rPr lang="en-US" sz="1200" b="0" u="none" strike="noStrike">
                <a:solidFill>
                  <a:schemeClr val="dk1"/>
                </a:solidFill>
                <a:effectLst/>
                <a:uFillTx/>
                <a:latin typeface="+mn-lt"/>
                <a:ea typeface="+mn-ea"/>
              </a:rPr>
              <a:t>27</a:t>
            </a:fld>
            <a:endParaRPr lang="en-US" sz="1200" b="0" u="none" strike="noStrike">
              <a:solidFill>
                <a:srgbClr val="000000"/>
              </a:solidFill>
              <a:effectLst/>
              <a:uFillTx/>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4" name="PlaceHolder 1"/>
          <p:cNvSpPr>
            <a:spLocks noGrp="1" noRot="1" noChangeAspect="1"/>
          </p:cNvSpPr>
          <p:nvPr>
            <p:ph type="sldImg"/>
          </p:nvPr>
        </p:nvSpPr>
        <p:spPr>
          <a:xfrm>
            <a:off x="685800" y="1143000"/>
            <a:ext cx="5486400" cy="3086100"/>
          </a:xfrm>
          <a:prstGeom prst="rect">
            <a:avLst/>
          </a:prstGeom>
          <a:ln w="0">
            <a:noFill/>
          </a:ln>
        </p:spPr>
      </p:sp>
      <p:sp>
        <p:nvSpPr>
          <p:cNvPr id="73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736"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C71DBD4-81DF-486A-907F-AD7939C5FA72}" type="slidenum">
              <a:rPr lang="en-US" sz="1200" b="0" u="none" strike="noStrike">
                <a:solidFill>
                  <a:schemeClr val="dk1"/>
                </a:solidFill>
                <a:effectLst/>
                <a:uFillTx/>
                <a:latin typeface="+mn-lt"/>
                <a:ea typeface="+mn-ea"/>
              </a:rPr>
              <a:t>28</a:t>
            </a:fld>
            <a:endParaRPr lang="en-US" sz="1200" b="0" u="none" strike="noStrike">
              <a:solidFill>
                <a:srgbClr val="000000"/>
              </a:solidFill>
              <a:effectLst/>
              <a:uFillTx/>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0" name="PlaceHolder 1"/>
          <p:cNvSpPr>
            <a:spLocks noGrp="1" noRot="1" noChangeAspect="1"/>
          </p:cNvSpPr>
          <p:nvPr>
            <p:ph type="sldImg"/>
          </p:nvPr>
        </p:nvSpPr>
        <p:spPr>
          <a:xfrm>
            <a:off x="685800" y="1143000"/>
            <a:ext cx="5486400" cy="3086100"/>
          </a:xfrm>
          <a:prstGeom prst="rect">
            <a:avLst/>
          </a:prstGeom>
          <a:ln w="0">
            <a:noFill/>
          </a:ln>
        </p:spPr>
      </p:sp>
      <p:sp>
        <p:nvSpPr>
          <p:cNvPr id="74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742"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99CF619-32AA-49F0-8061-9DC08468A24C}" type="slidenum">
              <a:rPr lang="en-US" sz="1200" b="0" u="none" strike="noStrike">
                <a:solidFill>
                  <a:schemeClr val="dk1"/>
                </a:solidFill>
                <a:effectLst/>
                <a:uFillTx/>
                <a:latin typeface="+mn-lt"/>
                <a:ea typeface="+mn-ea"/>
              </a:rPr>
              <a:t>29</a:t>
            </a:fld>
            <a:endParaRPr lang="en-US" sz="1200" b="0" u="none" strike="noStrike">
              <a:solidFill>
                <a:srgbClr val="000000"/>
              </a:solidFill>
              <a:effectLst/>
              <a:uFillTx/>
              <a:latin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3" name="PlaceHolder 1"/>
          <p:cNvSpPr>
            <a:spLocks noGrp="1" noRot="1" noChangeAspect="1"/>
          </p:cNvSpPr>
          <p:nvPr>
            <p:ph type="sldImg"/>
          </p:nvPr>
        </p:nvSpPr>
        <p:spPr>
          <a:xfrm>
            <a:off x="685800" y="1143000"/>
            <a:ext cx="5486040" cy="3085920"/>
          </a:xfrm>
          <a:prstGeom prst="rect">
            <a:avLst/>
          </a:prstGeom>
          <a:ln w="0">
            <a:noFill/>
          </a:ln>
        </p:spPr>
      </p:sp>
      <p:sp>
        <p:nvSpPr>
          <p:cNvPr id="74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745"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D04FF5E-1D9E-48F5-A6DA-C5BF8135DF77}" type="slidenum">
              <a:rPr lang="en-US" sz="1200" b="0" u="none" strike="noStrike">
                <a:solidFill>
                  <a:schemeClr val="dk1"/>
                </a:solidFill>
                <a:effectLst/>
                <a:uFillTx/>
                <a:latin typeface="+mn-lt"/>
                <a:ea typeface="+mn-ea"/>
              </a:rPr>
              <a:t>30</a:t>
            </a:fld>
            <a:endParaRPr lang="en-US" sz="1200" b="0" u="none" strike="noStrike">
              <a:solidFill>
                <a:srgbClr val="000000"/>
              </a:solidFill>
              <a:effectLst/>
              <a:uFillTx/>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6" name="PlaceHolder 1"/>
          <p:cNvSpPr>
            <a:spLocks noGrp="1" noRot="1" noChangeAspect="1"/>
          </p:cNvSpPr>
          <p:nvPr>
            <p:ph type="sldImg"/>
          </p:nvPr>
        </p:nvSpPr>
        <p:spPr>
          <a:xfrm>
            <a:off x="685800" y="1143000"/>
            <a:ext cx="5486040" cy="3085920"/>
          </a:xfrm>
          <a:prstGeom prst="rect">
            <a:avLst/>
          </a:prstGeom>
          <a:ln w="0">
            <a:noFill/>
          </a:ln>
        </p:spPr>
      </p:sp>
      <p:sp>
        <p:nvSpPr>
          <p:cNvPr id="74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748"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4385657-B141-49B1-8482-2F2C64C6DAFE}" type="slidenum">
              <a:rPr lang="en-US" sz="1200" b="0" u="none" strike="noStrike">
                <a:solidFill>
                  <a:schemeClr val="dk1"/>
                </a:solidFill>
                <a:effectLst/>
                <a:uFillTx/>
                <a:latin typeface="+mn-lt"/>
                <a:ea typeface="+mn-ea"/>
              </a:rPr>
              <a:t>31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9" name="PlaceHolder 1"/>
          <p:cNvSpPr>
            <a:spLocks noGrp="1" noRot="1" noChangeAspect="1"/>
          </p:cNvSpPr>
          <p:nvPr>
            <p:ph type="sldImg"/>
          </p:nvPr>
        </p:nvSpPr>
        <p:spPr>
          <a:xfrm>
            <a:off x="685800" y="1143000"/>
            <a:ext cx="5486040" cy="3085920"/>
          </a:xfrm>
          <a:prstGeom prst="rect">
            <a:avLst/>
          </a:prstGeom>
          <a:ln w="0">
            <a:noFill/>
          </a:ln>
        </p:spPr>
      </p:sp>
      <p:sp>
        <p:nvSpPr>
          <p:cNvPr id="75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751"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363DC27-D1DC-426A-9EF1-F3A5D2F1D3F6}" type="slidenum">
              <a:rPr lang="en-US" sz="1200" b="0" u="none" strike="noStrike">
                <a:solidFill>
                  <a:schemeClr val="dk1"/>
                </a:solidFill>
                <a:effectLst/>
                <a:uFillTx/>
                <a:latin typeface="+mn-lt"/>
                <a:ea typeface="+mn-ea"/>
              </a:rPr>
              <a:t>32</a:t>
            </a:fld>
            <a:endParaRPr lang="en-US" sz="1200" b="0" u="none" strike="noStrike">
              <a:solidFill>
                <a:srgbClr val="000000"/>
              </a:solidFill>
              <a:effectLst/>
              <a:uFillTx/>
              <a:latin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2" name="PlaceHolder 1"/>
          <p:cNvSpPr>
            <a:spLocks noGrp="1" noRot="1" noChangeAspect="1"/>
          </p:cNvSpPr>
          <p:nvPr>
            <p:ph type="sldImg"/>
          </p:nvPr>
        </p:nvSpPr>
        <p:spPr>
          <a:xfrm>
            <a:off x="685800" y="1143000"/>
            <a:ext cx="5486040" cy="3085920"/>
          </a:xfrm>
          <a:prstGeom prst="rect">
            <a:avLst/>
          </a:prstGeom>
          <a:ln w="0">
            <a:noFill/>
          </a:ln>
        </p:spPr>
      </p:sp>
      <p:sp>
        <p:nvSpPr>
          <p:cNvPr id="75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754"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3728530-7AB8-4026-804F-B275FDEC0F4C}" type="slidenum">
              <a:rPr lang="en-US" sz="1200" b="0" u="none" strike="noStrike">
                <a:solidFill>
                  <a:schemeClr val="dk1"/>
                </a:solidFill>
                <a:effectLst/>
                <a:uFillTx/>
                <a:latin typeface="+mn-lt"/>
                <a:ea typeface="+mn-ea"/>
              </a:rPr>
              <a:t>33</a:t>
            </a:fld>
            <a:endParaRPr lang="en-US" sz="1200" b="0" u="none" strike="noStrike">
              <a:solidFill>
                <a:srgbClr val="000000"/>
              </a:solidFill>
              <a:effectLst/>
              <a:uFillTx/>
              <a:latin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5" name="PlaceHolder 1"/>
          <p:cNvSpPr>
            <a:spLocks noGrp="1" noRot="1" noChangeAspect="1"/>
          </p:cNvSpPr>
          <p:nvPr>
            <p:ph type="sldImg"/>
          </p:nvPr>
        </p:nvSpPr>
        <p:spPr>
          <a:xfrm>
            <a:off x="685800" y="1143000"/>
            <a:ext cx="5486040" cy="3085920"/>
          </a:xfrm>
          <a:prstGeom prst="rect">
            <a:avLst/>
          </a:prstGeom>
          <a:ln w="0">
            <a:noFill/>
          </a:ln>
        </p:spPr>
      </p:sp>
      <p:sp>
        <p:nvSpPr>
          <p:cNvPr id="75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757"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3B10F7D-B147-4CEF-A2A1-7B551B0BCCC9}" type="slidenum">
              <a:rPr lang="en-US" sz="1200" b="0" u="none" strike="noStrike">
                <a:solidFill>
                  <a:schemeClr val="dk1"/>
                </a:solidFill>
                <a:effectLst/>
                <a:uFillTx/>
                <a:latin typeface="+mn-lt"/>
                <a:ea typeface="+mn-ea"/>
              </a:rPr>
              <a:t>34</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Calibri"/>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sp>
        <p:nvSpPr>
          <p:cNvPr id="8" name="Shape 0"/>
          <p:cNvSpPr/>
          <p:nvPr/>
        </p:nvSpPr>
        <p:spPr>
          <a:xfrm>
            <a:off x="0" y="5943600"/>
            <a:ext cx="12188520" cy="914040"/>
          </a:xfrm>
          <a:prstGeom prst="rect">
            <a:avLst/>
          </a:prstGeom>
          <a:solidFill>
            <a:srgbClr val="B85042"/>
          </a:solidFill>
          <a:ln w="12700">
            <a:solidFill>
              <a:srgbClr val="B8504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 name="Text 1"/>
          <p:cNvSpPr/>
          <p:nvPr/>
        </p:nvSpPr>
        <p:spPr>
          <a:xfrm>
            <a:off x="640080" y="1554480"/>
            <a:ext cx="1097244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800" b="1" u="none" strike="noStrike" spc="601">
                <a:solidFill>
                  <a:srgbClr val="B85042"/>
                </a:solidFill>
                <a:effectLst/>
                <a:uFillTx/>
                <a:latin typeface="Calibri"/>
                <a:ea typeface="Calibri"/>
              </a:rPr>
              <a:t>KENYA FOOD SECURITY FORECASTING</a:t>
            </a:r>
            <a:endParaRPr lang="en-US" sz="1800" b="0" u="none" strike="noStrike">
              <a:solidFill>
                <a:srgbClr val="FFFFFF"/>
              </a:solidFill>
              <a:effectLst/>
              <a:uFillTx/>
              <a:latin typeface="Arial"/>
            </a:endParaRPr>
          </a:p>
        </p:txBody>
      </p:sp>
      <p:sp>
        <p:nvSpPr>
          <p:cNvPr id="10" name="Text 2"/>
          <p:cNvSpPr/>
          <p:nvPr/>
        </p:nvSpPr>
        <p:spPr>
          <a:xfrm>
            <a:off x="640080" y="2194560"/>
            <a:ext cx="10972440" cy="1279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4000" b="1" u="none" strike="noStrike">
                <a:solidFill>
                  <a:srgbClr val="FFFFFF"/>
                </a:solidFill>
                <a:effectLst/>
                <a:uFillTx/>
                <a:latin typeface="Calibri"/>
                <a:ea typeface="Calibri"/>
              </a:rPr>
              <a:t>Forecasting Food Security Trends in Kenya Using Historical IPC Data</a:t>
            </a:r>
            <a:endParaRPr lang="en-US" sz="4000" b="0" u="none" strike="noStrike">
              <a:solidFill>
                <a:srgbClr val="FFFFFF"/>
              </a:solidFill>
              <a:effectLst/>
              <a:uFillTx/>
              <a:latin typeface="Arial"/>
            </a:endParaRPr>
          </a:p>
        </p:txBody>
      </p:sp>
      <p:sp>
        <p:nvSpPr>
          <p:cNvPr id="11" name="Text 3"/>
          <p:cNvSpPr/>
          <p:nvPr/>
        </p:nvSpPr>
        <p:spPr>
          <a:xfrm>
            <a:off x="640080" y="3749040"/>
            <a:ext cx="10972440" cy="639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000" b="0" i="1" u="none" strike="noStrike">
                <a:solidFill>
                  <a:srgbClr val="CADCFC"/>
                </a:solidFill>
                <a:effectLst/>
                <a:uFillTx/>
                <a:latin typeface="Calibri"/>
                <a:ea typeface="Calibri"/>
              </a:rPr>
              <a:t>A Comparative Study of Statistical, Machine Learning, and Deep Learning Models</a:t>
            </a:r>
            <a:endParaRPr lang="en-US" sz="2000" b="0" u="none" strike="noStrike">
              <a:solidFill>
                <a:srgbClr val="FFFFFF"/>
              </a:solidFill>
              <a:effectLst/>
              <a:uFillTx/>
              <a:latin typeface="Arial"/>
            </a:endParaRPr>
          </a:p>
        </p:txBody>
      </p:sp>
      <p:sp>
        <p:nvSpPr>
          <p:cNvPr id="12" name="Text 4"/>
          <p:cNvSpPr/>
          <p:nvPr/>
        </p:nvSpPr>
        <p:spPr>
          <a:xfrm>
            <a:off x="640080" y="4663440"/>
            <a:ext cx="109724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0" u="none" strike="noStrike">
                <a:solidFill>
                  <a:srgbClr val="CADCFC"/>
                </a:solidFill>
                <a:effectLst/>
                <a:uFillTx/>
                <a:latin typeface="Calibri"/>
                <a:ea typeface="Calibri"/>
              </a:rPr>
              <a:t>ARIMA  ·  Random Forest  ·  XGBoost  ·  LSTM</a:t>
            </a:r>
            <a:endParaRPr lang="en-US" sz="1600" b="0" u="none" strike="noStrike">
              <a:solidFill>
                <a:srgbClr val="FFFFFF"/>
              </a:solidFill>
              <a:effectLst/>
              <a:uFillTx/>
              <a:latin typeface="Arial"/>
            </a:endParaRPr>
          </a:p>
        </p:txBody>
      </p:sp>
      <p:sp>
        <p:nvSpPr>
          <p:cNvPr id="13" name="Text 5"/>
          <p:cNvSpPr/>
          <p:nvPr/>
        </p:nvSpPr>
        <p:spPr>
          <a:xfrm>
            <a:off x="640080" y="6126480"/>
            <a:ext cx="109724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a:solidFill>
                  <a:srgbClr val="FFFFFF"/>
                </a:solidFill>
                <a:effectLst/>
                <a:uFillTx/>
                <a:latin typeface="Calibri"/>
                <a:ea typeface="Calibri"/>
              </a:rPr>
              <a:t>Results &amp; Findings Presentation</a:t>
            </a:r>
            <a:endParaRPr lang="en-US" sz="1400" b="0" u="none" strike="noStrike">
              <a:solidFill>
                <a:srgbClr val="FFFFFF"/>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14" name="Shape 0"/>
          <p:cNvSpPr/>
          <p:nvPr/>
        </p:nvSpPr>
        <p:spPr>
          <a:xfrm>
            <a:off x="0" y="0"/>
            <a:ext cx="12188520" cy="822600"/>
          </a:xfrm>
          <a:prstGeom prst="rect">
            <a:avLst/>
          </a:prstGeom>
          <a:solidFill>
            <a:srgbClr val="2C3E50"/>
          </a:solidFill>
          <a:ln w="12700">
            <a:solidFill>
              <a:srgbClr val="2C3E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5" name="Text 1"/>
          <p:cNvSpPr/>
          <p:nvPr/>
        </p:nvSpPr>
        <p:spPr>
          <a:xfrm>
            <a:off x="457200" y="13716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spc="400">
                <a:solidFill>
                  <a:srgbClr val="B85042"/>
                </a:solidFill>
                <a:effectLst/>
                <a:uFillTx/>
                <a:latin typeface="Calibri"/>
                <a:ea typeface="Calibri"/>
              </a:rPr>
              <a:t>CONTENTS</a:t>
            </a:r>
            <a:endParaRPr lang="en-US" sz="1200" b="0" u="none" strike="noStrike">
              <a:solidFill>
                <a:srgbClr val="000000"/>
              </a:solidFill>
              <a:effectLst/>
              <a:uFillTx/>
              <a:latin typeface="Arial"/>
            </a:endParaRPr>
          </a:p>
        </p:txBody>
      </p:sp>
      <p:sp>
        <p:nvSpPr>
          <p:cNvPr id="16" name="Text 2"/>
          <p:cNvSpPr/>
          <p:nvPr/>
        </p:nvSpPr>
        <p:spPr>
          <a:xfrm>
            <a:off x="457200" y="347400"/>
            <a:ext cx="109724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FFFFFF"/>
                </a:solidFill>
                <a:effectLst/>
                <a:uFillTx/>
                <a:latin typeface="Calibri"/>
                <a:ea typeface="Calibri"/>
              </a:rPr>
              <a:t>Presentation Agenda</a:t>
            </a:r>
            <a:endParaRPr lang="en-US" sz="2600" b="0" u="none" strike="noStrike">
              <a:solidFill>
                <a:srgbClr val="000000"/>
              </a:solidFill>
              <a:effectLst/>
              <a:uFillTx/>
              <a:latin typeface="Arial"/>
            </a:endParaRPr>
          </a:p>
        </p:txBody>
      </p:sp>
      <p:sp>
        <p:nvSpPr>
          <p:cNvPr id="17" name="Shape 3"/>
          <p:cNvSpPr/>
          <p:nvPr/>
        </p:nvSpPr>
        <p:spPr>
          <a:xfrm>
            <a:off x="457200" y="960120"/>
            <a:ext cx="1097280" cy="360"/>
          </a:xfrm>
          <a:prstGeom prst="line">
            <a:avLst/>
          </a:prstGeom>
          <a:ln w="38100">
            <a:solidFill>
              <a:srgbClr val="B85042"/>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8" name="Text 4"/>
          <p:cNvSpPr/>
          <p:nvPr/>
        </p:nvSpPr>
        <p:spPr>
          <a:xfrm>
            <a:off x="914400" y="1280160"/>
            <a:ext cx="10058040" cy="5028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43080" indent="-343080" defTabSz="914400">
              <a:lnSpc>
                <a:spcPct val="100000"/>
              </a:lnSpc>
              <a:spcAft>
                <a:spcPts val="601"/>
              </a:spcAft>
              <a:buClr>
                <a:srgbClr val="1F2937"/>
              </a:buClr>
              <a:buFont typeface="OpenSymbol"/>
              <a:buChar char="■"/>
            </a:pPr>
            <a:r>
              <a:rPr lang="en-US" sz="1800" b="0" u="none" strike="noStrike">
                <a:solidFill>
                  <a:srgbClr val="1F2937"/>
                </a:solidFill>
                <a:effectLst/>
                <a:uFillTx/>
                <a:latin typeface="Calibri"/>
                <a:ea typeface="Calibri"/>
              </a:rPr>
              <a:t>1. Project Overview &amp; Background</a:t>
            </a:r>
            <a:endParaRPr lang="en-US" sz="1800" b="0" u="none" strike="noStrike">
              <a:solidFill>
                <a:srgbClr val="000000"/>
              </a:solidFill>
              <a:effectLst/>
              <a:uFillTx/>
              <a:latin typeface="Arial"/>
            </a:endParaRPr>
          </a:p>
          <a:p>
            <a:pPr marL="343080" indent="-343080" defTabSz="914400">
              <a:lnSpc>
                <a:spcPct val="100000"/>
              </a:lnSpc>
              <a:spcAft>
                <a:spcPts val="601"/>
              </a:spcAft>
              <a:buClr>
                <a:srgbClr val="1F2937"/>
              </a:buClr>
              <a:buFont typeface="OpenSymbol"/>
              <a:buChar char="■"/>
            </a:pPr>
            <a:r>
              <a:rPr lang="en-US" sz="1800" b="0" u="none" strike="noStrike">
                <a:solidFill>
                  <a:srgbClr val="1F2937"/>
                </a:solidFill>
                <a:effectLst/>
                <a:uFillTx/>
                <a:latin typeface="Calibri"/>
                <a:ea typeface="Calibri"/>
              </a:rPr>
              <a:t>2. IPC Phase Classification Explained</a:t>
            </a:r>
            <a:endParaRPr lang="en-US" sz="1800" b="0" u="none" strike="noStrike">
              <a:solidFill>
                <a:srgbClr val="000000"/>
              </a:solidFill>
              <a:effectLst/>
              <a:uFillTx/>
              <a:latin typeface="Arial"/>
            </a:endParaRPr>
          </a:p>
          <a:p>
            <a:pPr marL="343080" indent="-343080" defTabSz="914400">
              <a:lnSpc>
                <a:spcPct val="100000"/>
              </a:lnSpc>
              <a:spcAft>
                <a:spcPts val="601"/>
              </a:spcAft>
              <a:buClr>
                <a:srgbClr val="1F2937"/>
              </a:buClr>
              <a:buFont typeface="OpenSymbol"/>
              <a:buChar char="■"/>
            </a:pPr>
            <a:r>
              <a:rPr lang="en-US" sz="1800" b="0" u="none" strike="noStrike">
                <a:solidFill>
                  <a:srgbClr val="1F2937"/>
                </a:solidFill>
                <a:effectLst/>
                <a:uFillTx/>
                <a:latin typeface="Calibri"/>
                <a:ea typeface="Calibri"/>
              </a:rPr>
              <a:t>3. Objectives of the Study</a:t>
            </a:r>
            <a:endParaRPr lang="en-US" sz="1800" b="0" u="none" strike="noStrike">
              <a:solidFill>
                <a:srgbClr val="000000"/>
              </a:solidFill>
              <a:effectLst/>
              <a:uFillTx/>
              <a:latin typeface="Arial"/>
            </a:endParaRPr>
          </a:p>
          <a:p>
            <a:pPr marL="343080" indent="-343080" defTabSz="914400">
              <a:lnSpc>
                <a:spcPct val="100000"/>
              </a:lnSpc>
              <a:spcAft>
                <a:spcPts val="601"/>
              </a:spcAft>
              <a:buClr>
                <a:srgbClr val="1F2937"/>
              </a:buClr>
              <a:buFont typeface="OpenSymbol"/>
              <a:buChar char="■"/>
            </a:pPr>
            <a:r>
              <a:rPr lang="en-US" sz="1800" b="0" u="none" strike="noStrike">
                <a:solidFill>
                  <a:srgbClr val="1F2937"/>
                </a:solidFill>
                <a:effectLst/>
                <a:uFillTx/>
                <a:latin typeface="Calibri"/>
                <a:ea typeface="Calibri"/>
              </a:rPr>
              <a:t>4. Dataset Overview</a:t>
            </a:r>
            <a:endParaRPr lang="en-US" sz="1800" b="0" u="none" strike="noStrike">
              <a:solidFill>
                <a:srgbClr val="000000"/>
              </a:solidFill>
              <a:effectLst/>
              <a:uFillTx/>
              <a:latin typeface="Arial"/>
            </a:endParaRPr>
          </a:p>
          <a:p>
            <a:pPr marL="343080" indent="-343080" defTabSz="914400">
              <a:lnSpc>
                <a:spcPct val="100000"/>
              </a:lnSpc>
              <a:spcAft>
                <a:spcPts val="601"/>
              </a:spcAft>
              <a:buClr>
                <a:srgbClr val="1F2937"/>
              </a:buClr>
              <a:buFont typeface="OpenSymbol"/>
              <a:buChar char="■"/>
            </a:pPr>
            <a:r>
              <a:rPr lang="en-US" sz="1800" b="0" u="none" strike="noStrike">
                <a:solidFill>
                  <a:srgbClr val="1F2937"/>
                </a:solidFill>
                <a:effectLst/>
                <a:uFillTx/>
                <a:latin typeface="Calibri"/>
                <a:ea typeface="Calibri"/>
              </a:rPr>
              <a:t>5. Data Cleaning &amp; Preprocessing</a:t>
            </a:r>
            <a:endParaRPr lang="en-US" sz="1800" b="0" u="none" strike="noStrike">
              <a:solidFill>
                <a:srgbClr val="000000"/>
              </a:solidFill>
              <a:effectLst/>
              <a:uFillTx/>
              <a:latin typeface="Arial"/>
            </a:endParaRPr>
          </a:p>
          <a:p>
            <a:pPr marL="343080" indent="-343080" defTabSz="914400">
              <a:lnSpc>
                <a:spcPct val="100000"/>
              </a:lnSpc>
              <a:spcAft>
                <a:spcPts val="601"/>
              </a:spcAft>
              <a:buClr>
                <a:srgbClr val="1F2937"/>
              </a:buClr>
              <a:buFont typeface="OpenSymbol"/>
              <a:buChar char="■"/>
            </a:pPr>
            <a:r>
              <a:rPr lang="en-US" sz="1800" b="0" u="none" strike="noStrike">
                <a:solidFill>
                  <a:srgbClr val="1F2937"/>
                </a:solidFill>
                <a:effectLst/>
                <a:uFillTx/>
                <a:latin typeface="Calibri"/>
                <a:ea typeface="Calibri"/>
              </a:rPr>
              <a:t>6. Exploratory Data Analysis (EDA)</a:t>
            </a:r>
            <a:endParaRPr lang="en-US" sz="1800" b="0" u="none" strike="noStrike">
              <a:solidFill>
                <a:srgbClr val="000000"/>
              </a:solidFill>
              <a:effectLst/>
              <a:uFillTx/>
              <a:latin typeface="Arial"/>
            </a:endParaRPr>
          </a:p>
          <a:p>
            <a:pPr marL="343080" indent="-343080" defTabSz="914400">
              <a:lnSpc>
                <a:spcPct val="100000"/>
              </a:lnSpc>
              <a:spcAft>
                <a:spcPts val="601"/>
              </a:spcAft>
              <a:buClr>
                <a:srgbClr val="1F2937"/>
              </a:buClr>
              <a:buFont typeface="OpenSymbol"/>
              <a:buChar char="■"/>
            </a:pPr>
            <a:r>
              <a:rPr lang="en-US" sz="1800" b="0" u="none" strike="noStrike">
                <a:solidFill>
                  <a:srgbClr val="1F2937"/>
                </a:solidFill>
                <a:effectLst/>
                <a:uFillTx/>
                <a:latin typeface="Calibri"/>
                <a:ea typeface="Calibri"/>
              </a:rPr>
              <a:t>7. Feature Engineering</a:t>
            </a:r>
            <a:endParaRPr lang="en-US" sz="1800" b="0" u="none" strike="noStrike">
              <a:solidFill>
                <a:srgbClr val="000000"/>
              </a:solidFill>
              <a:effectLst/>
              <a:uFillTx/>
              <a:latin typeface="Arial"/>
            </a:endParaRPr>
          </a:p>
          <a:p>
            <a:pPr marL="343080" indent="-343080" defTabSz="914400">
              <a:lnSpc>
                <a:spcPct val="100000"/>
              </a:lnSpc>
              <a:spcAft>
                <a:spcPts val="601"/>
              </a:spcAft>
              <a:buClr>
                <a:srgbClr val="1F2937"/>
              </a:buClr>
              <a:buFont typeface="OpenSymbol"/>
              <a:buChar char="■"/>
            </a:pPr>
            <a:r>
              <a:rPr lang="en-US" sz="1800" b="0" u="none" strike="noStrike">
                <a:solidFill>
                  <a:srgbClr val="1F2937"/>
                </a:solidFill>
                <a:effectLst/>
                <a:uFillTx/>
                <a:latin typeface="Calibri"/>
                <a:ea typeface="Calibri"/>
              </a:rPr>
              <a:t>8. Model Development</a:t>
            </a:r>
            <a:endParaRPr lang="en-US" sz="1800" b="0" u="none" strike="noStrike">
              <a:solidFill>
                <a:srgbClr val="000000"/>
              </a:solidFill>
              <a:effectLst/>
              <a:uFillTx/>
              <a:latin typeface="Arial"/>
            </a:endParaRPr>
          </a:p>
          <a:p>
            <a:pPr marL="343080" indent="-343080" defTabSz="914400">
              <a:lnSpc>
                <a:spcPct val="100000"/>
              </a:lnSpc>
              <a:spcAft>
                <a:spcPts val="601"/>
              </a:spcAft>
              <a:buClr>
                <a:srgbClr val="1F2937"/>
              </a:buClr>
              <a:buFont typeface="OpenSymbol"/>
              <a:buChar char="■"/>
            </a:pPr>
            <a:r>
              <a:rPr lang="en-US" sz="1800" b="0" u="none" strike="noStrike">
                <a:solidFill>
                  <a:srgbClr val="1F2937"/>
                </a:solidFill>
                <a:effectLst/>
                <a:uFillTx/>
                <a:latin typeface="Calibri"/>
                <a:ea typeface="Calibri"/>
              </a:rPr>
              <a:t>9. Model Evaluation &amp; Comparison</a:t>
            </a:r>
            <a:endParaRPr lang="en-US" sz="1800" b="0" u="none" strike="noStrike">
              <a:solidFill>
                <a:srgbClr val="000000"/>
              </a:solidFill>
              <a:effectLst/>
              <a:uFillTx/>
              <a:latin typeface="Arial"/>
            </a:endParaRPr>
          </a:p>
          <a:p>
            <a:pPr marL="343080" indent="-343080" defTabSz="914400">
              <a:lnSpc>
                <a:spcPct val="100000"/>
              </a:lnSpc>
              <a:spcAft>
                <a:spcPts val="601"/>
              </a:spcAft>
              <a:buClr>
                <a:srgbClr val="1F2937"/>
              </a:buClr>
              <a:buFont typeface="OpenSymbol"/>
              <a:buChar char="■"/>
            </a:pPr>
            <a:r>
              <a:rPr lang="en-US" sz="1800" b="0" u="none" strike="noStrike">
                <a:solidFill>
                  <a:srgbClr val="1F2937"/>
                </a:solidFill>
                <a:effectLst/>
                <a:uFillTx/>
                <a:latin typeface="Calibri"/>
                <a:ea typeface="Calibri"/>
              </a:rPr>
              <a:t>10. Feature Importance &amp; Diagnostics</a:t>
            </a:r>
            <a:endParaRPr lang="en-US" sz="1800" b="0" u="none" strike="noStrike">
              <a:solidFill>
                <a:srgbClr val="000000"/>
              </a:solidFill>
              <a:effectLst/>
              <a:uFillTx/>
              <a:latin typeface="Arial"/>
            </a:endParaRPr>
          </a:p>
          <a:p>
            <a:pPr marL="343080" indent="-343080" defTabSz="914400">
              <a:lnSpc>
                <a:spcPct val="100000"/>
              </a:lnSpc>
              <a:spcAft>
                <a:spcPts val="601"/>
              </a:spcAft>
              <a:buClr>
                <a:srgbClr val="1F2937"/>
              </a:buClr>
              <a:buFont typeface="OpenSymbol"/>
              <a:buChar char="■"/>
            </a:pPr>
            <a:r>
              <a:rPr lang="en-US" sz="1800" b="0" u="none" strike="noStrike">
                <a:solidFill>
                  <a:srgbClr val="1F2937"/>
                </a:solidFill>
                <a:effectLst/>
                <a:uFillTx/>
                <a:latin typeface="Calibri"/>
                <a:ea typeface="Calibri"/>
              </a:rPr>
              <a:t>11. Conclusions &amp; Recommendations</a:t>
            </a:r>
            <a:endParaRPr lang="en-US" sz="1800" b="0" u="none" strike="noStrike">
              <a:solidFill>
                <a:srgbClr val="000000"/>
              </a:solidFill>
              <a:effectLst/>
              <a:uFillTx/>
              <a:latin typeface="Arial"/>
            </a:endParaRPr>
          </a:p>
        </p:txBody>
      </p:sp>
      <p:sp>
        <p:nvSpPr>
          <p:cNvPr id="19" name="Text 5"/>
          <p:cNvSpPr/>
          <p:nvPr/>
        </p:nvSpPr>
        <p:spPr>
          <a:xfrm>
            <a:off x="45720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5B6472"/>
                </a:solidFill>
                <a:effectLst/>
                <a:uFillTx/>
                <a:latin typeface="Calibri"/>
                <a:ea typeface="Calibri"/>
              </a:rPr>
              <a:t>Kenya Food Security Forecasting  |  IPC Time-Series Study</a:t>
            </a:r>
            <a:endParaRPr lang="en-US" sz="1000" b="0" u="none" strike="noStrike">
              <a:solidFill>
                <a:srgbClr val="000000"/>
              </a:solidFill>
              <a:effectLst/>
              <a:uFillTx/>
              <a:latin typeface="Arial"/>
            </a:endParaRPr>
          </a:p>
        </p:txBody>
      </p:sp>
      <p:sp>
        <p:nvSpPr>
          <p:cNvPr id="20" name="Text 6"/>
          <p:cNvSpPr/>
          <p:nvPr/>
        </p:nvSpPr>
        <p:spPr>
          <a:xfrm>
            <a:off x="11338560" y="6537960"/>
            <a:ext cx="4568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000" b="0" u="none" strike="noStrike">
                <a:solidFill>
                  <a:srgbClr val="5B6472"/>
                </a:solidFill>
                <a:effectLst/>
                <a:uFillTx/>
                <a:latin typeface="Calibri"/>
                <a:ea typeface="Calibri"/>
              </a:rPr>
              <a:t>1</a:t>
            </a:r>
            <a:endParaRPr lang="en-US" sz="10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1" name="Shape 0"/>
          <p:cNvSpPr/>
          <p:nvPr/>
        </p:nvSpPr>
        <p:spPr>
          <a:xfrm>
            <a:off x="0" y="0"/>
            <a:ext cx="12188520" cy="822600"/>
          </a:xfrm>
          <a:prstGeom prst="rect">
            <a:avLst/>
          </a:prstGeom>
          <a:solidFill>
            <a:srgbClr val="2C3E50"/>
          </a:solidFill>
          <a:ln w="12700">
            <a:solidFill>
              <a:srgbClr val="2C3E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2" name="Text 1"/>
          <p:cNvSpPr/>
          <p:nvPr/>
        </p:nvSpPr>
        <p:spPr>
          <a:xfrm>
            <a:off x="457200" y="13716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spc="400">
                <a:solidFill>
                  <a:srgbClr val="B85042"/>
                </a:solidFill>
                <a:effectLst/>
                <a:uFillTx/>
                <a:latin typeface="Calibri"/>
                <a:ea typeface="Calibri"/>
              </a:rPr>
              <a:t>PROJECT OVERVIEW</a:t>
            </a:r>
            <a:endParaRPr lang="en-US" sz="1200" b="0" u="none" strike="noStrike">
              <a:solidFill>
                <a:srgbClr val="000000"/>
              </a:solidFill>
              <a:effectLst/>
              <a:uFillTx/>
              <a:latin typeface="Arial"/>
            </a:endParaRPr>
          </a:p>
        </p:txBody>
      </p:sp>
      <p:sp>
        <p:nvSpPr>
          <p:cNvPr id="23" name="Text 2"/>
          <p:cNvSpPr/>
          <p:nvPr/>
        </p:nvSpPr>
        <p:spPr>
          <a:xfrm>
            <a:off x="457200" y="347400"/>
            <a:ext cx="109724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FFFFFF"/>
                </a:solidFill>
                <a:effectLst/>
                <a:uFillTx/>
                <a:latin typeface="Calibri"/>
                <a:ea typeface="Calibri"/>
              </a:rPr>
              <a:t>Background</a:t>
            </a:r>
            <a:endParaRPr lang="en-US" sz="2600" b="0" u="none" strike="noStrike">
              <a:solidFill>
                <a:srgbClr val="000000"/>
              </a:solidFill>
              <a:effectLst/>
              <a:uFillTx/>
              <a:latin typeface="Arial"/>
            </a:endParaRPr>
          </a:p>
        </p:txBody>
      </p:sp>
      <p:sp>
        <p:nvSpPr>
          <p:cNvPr id="24" name="Shape 3"/>
          <p:cNvSpPr/>
          <p:nvPr/>
        </p:nvSpPr>
        <p:spPr>
          <a:xfrm>
            <a:off x="457200" y="960120"/>
            <a:ext cx="1097280" cy="360"/>
          </a:xfrm>
          <a:prstGeom prst="line">
            <a:avLst/>
          </a:prstGeom>
          <a:ln w="38100">
            <a:solidFill>
              <a:srgbClr val="B85042"/>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Calibri"/>
            </a:endParaRPr>
          </a:p>
        </p:txBody>
      </p:sp>
      <p:sp>
        <p:nvSpPr>
          <p:cNvPr id="25" name="Shape 4"/>
          <p:cNvSpPr/>
          <p:nvPr/>
        </p:nvSpPr>
        <p:spPr>
          <a:xfrm>
            <a:off x="457200" y="1234440"/>
            <a:ext cx="11246760" cy="5120280"/>
          </a:xfrm>
          <a:prstGeom prst="roundRect">
            <a:avLst>
              <a:gd name="adj" fmla="val 1429"/>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6" name="Text 5"/>
          <p:cNvSpPr/>
          <p:nvPr/>
        </p:nvSpPr>
        <p:spPr>
          <a:xfrm>
            <a:off x="822960" y="1417320"/>
            <a:ext cx="10515240" cy="475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spcAft>
                <a:spcPts val="601"/>
              </a:spcAft>
              <a:tabLst>
                <a:tab pos="0" algn="l"/>
              </a:tabLst>
            </a:pPr>
            <a:r>
              <a:rPr lang="en-US" sz="1800" b="1" u="none" strike="noStrike" dirty="0">
                <a:effectLst/>
                <a:uFillTx/>
                <a:latin typeface="Calibri"/>
              </a:rPr>
              <a:t>Why Food Security Forecasting Matters in Kenya</a:t>
            </a:r>
            <a:endParaRPr lang="en-US" sz="1800" b="0" u="none" strike="noStrike" dirty="0">
              <a:effectLst/>
              <a:uFillTx/>
              <a:latin typeface="Arial"/>
            </a:endParaRPr>
          </a:p>
          <a:p>
            <a:pPr defTabSz="914400">
              <a:lnSpc>
                <a:spcPct val="100000"/>
              </a:lnSpc>
              <a:tabLst>
                <a:tab pos="0" algn="l"/>
              </a:tabLst>
            </a:pPr>
            <a:r>
              <a:rPr lang="en-US" sz="1800" b="1" u="none" strike="noStrike" dirty="0">
                <a:effectLst/>
                <a:uFillTx/>
                <a:latin typeface="Calibri"/>
              </a:rPr>
              <a:t>Food insecurity remains a pressing challenge in Kenya. Droughts, erratic rainfall, conflict, and economic shocks routinely hit household food security — especially in the Arid and Semi-Arid Lands (ASALs).</a:t>
            </a:r>
            <a:endParaRPr lang="en-US" sz="1800" b="0" u="none" strike="noStrike" dirty="0">
              <a:effectLst/>
              <a:uFillTx/>
              <a:latin typeface="Arial"/>
            </a:endParaRPr>
          </a:p>
          <a:p>
            <a:pPr defTabSz="914400">
              <a:lnSpc>
                <a:spcPct val="100000"/>
              </a:lnSpc>
              <a:tabLst>
                <a:tab pos="0" algn="l"/>
              </a:tabLst>
            </a:pPr>
            <a:endParaRPr lang="en-US" sz="1800" b="0" u="none" strike="noStrike" dirty="0">
              <a:effectLst/>
              <a:uFillTx/>
              <a:latin typeface="Arial"/>
            </a:endParaRPr>
          </a:p>
          <a:p>
            <a:pPr defTabSz="914400">
              <a:lnSpc>
                <a:spcPct val="100000"/>
              </a:lnSpc>
              <a:tabLst>
                <a:tab pos="0" algn="l"/>
              </a:tabLst>
            </a:pPr>
            <a:r>
              <a:rPr lang="en-US" sz="1800" b="1" u="none" strike="noStrike" dirty="0">
                <a:effectLst/>
                <a:uFillTx/>
                <a:latin typeface="Calibri"/>
              </a:rPr>
              <a:t>Timely forecasting lets governments and humanitarian actors intervene early, allocate resources efficiently, and reduce crisis impact.</a:t>
            </a:r>
            <a:endParaRPr lang="en-US" sz="1800" b="0" u="none" strike="noStrike" dirty="0">
              <a:effectLst/>
              <a:uFillTx/>
              <a:latin typeface="Arial"/>
            </a:endParaRPr>
          </a:p>
          <a:p>
            <a:pPr defTabSz="914400">
              <a:lnSpc>
                <a:spcPct val="100000"/>
              </a:lnSpc>
              <a:tabLst>
                <a:tab pos="0" algn="l"/>
              </a:tabLst>
            </a:pPr>
            <a:endParaRPr lang="en-US" sz="1800" b="0" u="none" strike="noStrike" dirty="0">
              <a:effectLst/>
              <a:uFillTx/>
              <a:latin typeface="Arial"/>
            </a:endParaRPr>
          </a:p>
          <a:p>
            <a:pPr defTabSz="914400">
              <a:lnSpc>
                <a:spcPct val="100000"/>
              </a:lnSpc>
              <a:tabLst>
                <a:tab pos="0" algn="l"/>
              </a:tabLst>
            </a:pPr>
            <a:r>
              <a:rPr lang="en-US" sz="1800" b="1" u="none" strike="noStrike" dirty="0">
                <a:effectLst/>
                <a:uFillTx/>
                <a:latin typeface="Calibri"/>
              </a:rPr>
              <a:t>The Role of AI &amp; Statistical Modeling</a:t>
            </a:r>
            <a:endParaRPr lang="en-US" sz="1800" b="0" u="none" strike="noStrike" dirty="0">
              <a:effectLst/>
              <a:uFillTx/>
              <a:latin typeface="Arial"/>
            </a:endParaRPr>
          </a:p>
          <a:p>
            <a:pPr defTabSz="914400">
              <a:lnSpc>
                <a:spcPct val="100000"/>
              </a:lnSpc>
              <a:tabLst>
                <a:tab pos="0" algn="l"/>
              </a:tabLst>
            </a:pPr>
            <a:r>
              <a:rPr lang="en-US" sz="1800" b="1" u="none" strike="noStrike" dirty="0">
                <a:effectLst/>
                <a:uFillTx/>
                <a:latin typeface="Calibri"/>
              </a:rPr>
              <a:t>• ARIMA — classical statistical benchmark, interpretable</a:t>
            </a:r>
            <a:endParaRPr lang="en-US" sz="1800" b="0" u="none" strike="noStrike" dirty="0">
              <a:effectLst/>
              <a:uFillTx/>
              <a:latin typeface="Arial"/>
            </a:endParaRPr>
          </a:p>
          <a:p>
            <a:pPr defTabSz="914400">
              <a:lnSpc>
                <a:spcPct val="100000"/>
              </a:lnSpc>
              <a:tabLst>
                <a:tab pos="0" algn="l"/>
              </a:tabLst>
            </a:pPr>
            <a:r>
              <a:rPr lang="en-US" sz="1800" b="1" u="none" strike="noStrike" dirty="0">
                <a:effectLst/>
                <a:uFillTx/>
                <a:latin typeface="Calibri"/>
              </a:rPr>
              <a:t>• Random Forest &amp; </a:t>
            </a:r>
            <a:r>
              <a:rPr lang="en-US" sz="1800" b="1" u="none" strike="noStrike" dirty="0" err="1">
                <a:effectLst/>
                <a:uFillTx/>
                <a:latin typeface="Calibri"/>
              </a:rPr>
              <a:t>XGBoost</a:t>
            </a:r>
            <a:r>
              <a:rPr lang="en-US" sz="1800" b="1" u="none" strike="noStrike" dirty="0">
                <a:effectLst/>
                <a:uFillTx/>
                <a:latin typeface="Calibri"/>
              </a:rPr>
              <a:t> — nonlinear structured patterns</a:t>
            </a:r>
            <a:endParaRPr lang="en-US" sz="1800" b="0" u="none" strike="noStrike" dirty="0">
              <a:effectLst/>
              <a:uFillTx/>
              <a:latin typeface="Arial"/>
            </a:endParaRPr>
          </a:p>
          <a:p>
            <a:pPr defTabSz="914400">
              <a:lnSpc>
                <a:spcPct val="100000"/>
              </a:lnSpc>
              <a:tabLst>
                <a:tab pos="0" algn="l"/>
              </a:tabLst>
            </a:pPr>
            <a:r>
              <a:rPr lang="en-US" sz="1800" b="1" u="none" strike="noStrike" dirty="0">
                <a:effectLst/>
                <a:uFillTx/>
                <a:latin typeface="Calibri"/>
              </a:rPr>
              <a:t>• LSTM — deep learning for long-term sequential dependencies</a:t>
            </a:r>
            <a:endParaRPr lang="en-US" sz="1800" b="0" u="none" strike="noStrike" dirty="0">
              <a:effectLst/>
              <a:uFillTx/>
              <a:latin typeface="Arial"/>
            </a:endParaRPr>
          </a:p>
          <a:p>
            <a:pPr defTabSz="914400">
              <a:lnSpc>
                <a:spcPct val="100000"/>
              </a:lnSpc>
              <a:tabLst>
                <a:tab pos="0" algn="l"/>
              </a:tabLst>
            </a:pPr>
            <a:endParaRPr lang="en-US" sz="1800" b="0" u="none" strike="noStrike" dirty="0">
              <a:effectLst/>
              <a:uFillTx/>
              <a:latin typeface="Arial"/>
            </a:endParaRPr>
          </a:p>
          <a:p>
            <a:pPr defTabSz="914400">
              <a:lnSpc>
                <a:spcPct val="100000"/>
              </a:lnSpc>
              <a:tabLst>
                <a:tab pos="0" algn="l"/>
              </a:tabLst>
            </a:pPr>
            <a:r>
              <a:rPr lang="en-US" sz="1800" b="1" u="none" strike="noStrike" dirty="0">
                <a:effectLst/>
                <a:uFillTx/>
                <a:latin typeface="Calibri"/>
              </a:rPr>
              <a:t>This study compares these approaches on historical IPC data to forecast future food security conditions in Kenya.</a:t>
            </a:r>
            <a:endParaRPr lang="en-US" sz="1800" b="0" u="none" strike="noStrike" dirty="0">
              <a:effectLst/>
              <a:uFillTx/>
              <a:latin typeface="Arial"/>
            </a:endParaRPr>
          </a:p>
        </p:txBody>
      </p:sp>
      <p:sp>
        <p:nvSpPr>
          <p:cNvPr id="27" name="Text 6"/>
          <p:cNvSpPr/>
          <p:nvPr/>
        </p:nvSpPr>
        <p:spPr>
          <a:xfrm>
            <a:off x="45720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5B6472"/>
                </a:solidFill>
                <a:effectLst/>
                <a:uFillTx/>
                <a:latin typeface="Calibri"/>
                <a:ea typeface="Calibri"/>
              </a:rPr>
              <a:t>Kenya Food Security Forecasting  |  IPC Time-Series Study</a:t>
            </a:r>
            <a:endParaRPr lang="en-US" sz="1000" b="0" u="none" strike="noStrike">
              <a:solidFill>
                <a:srgbClr val="000000"/>
              </a:solidFill>
              <a:effectLst/>
              <a:uFillTx/>
              <a:latin typeface="Arial"/>
            </a:endParaRPr>
          </a:p>
        </p:txBody>
      </p:sp>
      <p:sp>
        <p:nvSpPr>
          <p:cNvPr id="28" name="Text 7"/>
          <p:cNvSpPr/>
          <p:nvPr/>
        </p:nvSpPr>
        <p:spPr>
          <a:xfrm>
            <a:off x="11338560" y="6537960"/>
            <a:ext cx="4568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000" b="0" u="none" strike="noStrike">
                <a:solidFill>
                  <a:srgbClr val="5B6472"/>
                </a:solidFill>
                <a:effectLst/>
                <a:uFillTx/>
                <a:latin typeface="Calibri"/>
                <a:ea typeface="Calibri"/>
              </a:rPr>
              <a:t>2</a:t>
            </a:r>
            <a:endParaRPr lang="en-US" sz="10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9" name="Shape 0"/>
          <p:cNvSpPr/>
          <p:nvPr/>
        </p:nvSpPr>
        <p:spPr>
          <a:xfrm>
            <a:off x="0" y="0"/>
            <a:ext cx="12188520" cy="822600"/>
          </a:xfrm>
          <a:prstGeom prst="rect">
            <a:avLst/>
          </a:prstGeom>
          <a:solidFill>
            <a:srgbClr val="2C3E50"/>
          </a:solidFill>
          <a:ln w="12700">
            <a:solidFill>
              <a:srgbClr val="2C3E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0" name="Text 1"/>
          <p:cNvSpPr/>
          <p:nvPr/>
        </p:nvSpPr>
        <p:spPr>
          <a:xfrm>
            <a:off x="457200" y="13716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spc="400">
                <a:solidFill>
                  <a:srgbClr val="B85042"/>
                </a:solidFill>
                <a:effectLst/>
                <a:uFillTx/>
                <a:latin typeface="Calibri"/>
                <a:ea typeface="Calibri"/>
              </a:rPr>
              <a:t>CLASSIFICATION FRAMEWORK</a:t>
            </a:r>
            <a:endParaRPr lang="en-US" sz="1200" b="0" u="none" strike="noStrike">
              <a:solidFill>
                <a:srgbClr val="000000"/>
              </a:solidFill>
              <a:effectLst/>
              <a:uFillTx/>
              <a:latin typeface="Arial"/>
            </a:endParaRPr>
          </a:p>
        </p:txBody>
      </p:sp>
      <p:sp>
        <p:nvSpPr>
          <p:cNvPr id="31" name="Text 2"/>
          <p:cNvSpPr/>
          <p:nvPr/>
        </p:nvSpPr>
        <p:spPr>
          <a:xfrm>
            <a:off x="457200" y="347400"/>
            <a:ext cx="109724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FFFFFF"/>
                </a:solidFill>
                <a:effectLst/>
                <a:uFillTx/>
                <a:latin typeface="Calibri"/>
                <a:ea typeface="Calibri"/>
              </a:rPr>
              <a:t>Integrated Food Security Phase Classification (IPC)</a:t>
            </a:r>
            <a:endParaRPr lang="en-US" sz="2600" b="0" u="none" strike="noStrike">
              <a:solidFill>
                <a:srgbClr val="000000"/>
              </a:solidFill>
              <a:effectLst/>
              <a:uFillTx/>
              <a:latin typeface="Arial"/>
            </a:endParaRPr>
          </a:p>
        </p:txBody>
      </p:sp>
      <p:sp>
        <p:nvSpPr>
          <p:cNvPr id="32" name="Shape 3"/>
          <p:cNvSpPr/>
          <p:nvPr/>
        </p:nvSpPr>
        <p:spPr>
          <a:xfrm>
            <a:off x="457200" y="960120"/>
            <a:ext cx="1097280" cy="360"/>
          </a:xfrm>
          <a:prstGeom prst="line">
            <a:avLst/>
          </a:prstGeom>
          <a:ln w="38100">
            <a:solidFill>
              <a:srgbClr val="B85042"/>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3" name="Text 4"/>
          <p:cNvSpPr/>
          <p:nvPr/>
        </p:nvSpPr>
        <p:spPr>
          <a:xfrm>
            <a:off x="457200" y="1188720"/>
            <a:ext cx="11246760" cy="82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00" b="0" i="1" u="none" strike="noStrike">
                <a:solidFill>
                  <a:srgbClr val="1F2937"/>
                </a:solidFill>
                <a:effectLst/>
                <a:uFillTx/>
                <a:latin typeface="Calibri"/>
                <a:ea typeface="Calibri"/>
              </a:rPr>
              <a:t>The IPC is a global initiative used to determine the severity and magnitude of food insecurity and malnutrition. It does not rely on a single equation — analysts reach a consolidated technical consensus using data on food consumption, livelihood changes, nutritional status, and mortality.</a:t>
            </a:r>
            <a:endParaRPr lang="en-US" sz="1300" b="0" u="none" strike="noStrike">
              <a:solidFill>
                <a:srgbClr val="000000"/>
              </a:solidFill>
              <a:effectLst/>
              <a:uFillTx/>
              <a:latin typeface="Arial"/>
            </a:endParaRPr>
          </a:p>
        </p:txBody>
      </p:sp>
      <p:sp>
        <p:nvSpPr>
          <p:cNvPr id="34" name="Shape 5"/>
          <p:cNvSpPr/>
          <p:nvPr/>
        </p:nvSpPr>
        <p:spPr>
          <a:xfrm>
            <a:off x="457200" y="2148840"/>
            <a:ext cx="1051200" cy="685440"/>
          </a:xfrm>
          <a:prstGeom prst="roundRect">
            <a:avLst>
              <a:gd name="adj" fmla="val 10667"/>
            </a:avLst>
          </a:prstGeom>
          <a:solidFill>
            <a:srgbClr val="2E7D32"/>
          </a:solidFill>
          <a:ln w="12700">
            <a:solidFill>
              <a:srgbClr val="2E7D3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5" name="Text 6"/>
          <p:cNvSpPr/>
          <p:nvPr/>
        </p:nvSpPr>
        <p:spPr>
          <a:xfrm>
            <a:off x="457200" y="2148840"/>
            <a:ext cx="1051200" cy="685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300" b="1" u="none" strike="noStrike" spc="99">
                <a:solidFill>
                  <a:srgbClr val="FFFFFF"/>
                </a:solidFill>
                <a:effectLst/>
                <a:uFillTx/>
                <a:latin typeface="Calibri"/>
                <a:ea typeface="Calibri"/>
              </a:rPr>
              <a:t>PHASE 1</a:t>
            </a:r>
            <a:endParaRPr lang="en-US" sz="1300" b="0" u="none" strike="noStrike">
              <a:solidFill>
                <a:srgbClr val="000000"/>
              </a:solidFill>
              <a:effectLst/>
              <a:uFillTx/>
              <a:latin typeface="Arial"/>
            </a:endParaRPr>
          </a:p>
        </p:txBody>
      </p:sp>
      <p:sp>
        <p:nvSpPr>
          <p:cNvPr id="36" name="Text 7"/>
          <p:cNvSpPr/>
          <p:nvPr/>
        </p:nvSpPr>
        <p:spPr>
          <a:xfrm>
            <a:off x="1645920" y="2167200"/>
            <a:ext cx="310860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500" b="1" u="none" strike="noStrike">
                <a:solidFill>
                  <a:srgbClr val="2E7D32"/>
                </a:solidFill>
                <a:effectLst/>
                <a:uFillTx/>
                <a:latin typeface="Calibri"/>
                <a:ea typeface="Calibri"/>
              </a:rPr>
              <a:t>None / Minimal</a:t>
            </a:r>
            <a:endParaRPr lang="en-US" sz="1500" b="0" u="none" strike="noStrike">
              <a:solidFill>
                <a:srgbClr val="000000"/>
              </a:solidFill>
              <a:effectLst/>
              <a:uFillTx/>
              <a:latin typeface="Arial"/>
            </a:endParaRPr>
          </a:p>
        </p:txBody>
      </p:sp>
      <p:sp>
        <p:nvSpPr>
          <p:cNvPr id="37" name="Text 8"/>
          <p:cNvSpPr/>
          <p:nvPr/>
        </p:nvSpPr>
        <p:spPr>
          <a:xfrm>
            <a:off x="1645920" y="2496240"/>
            <a:ext cx="100580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0" u="none" strike="noStrike">
                <a:solidFill>
                  <a:srgbClr val="1F2937"/>
                </a:solidFill>
                <a:effectLst/>
                <a:uFillTx/>
                <a:latin typeface="Calibri"/>
                <a:ea typeface="Calibri"/>
              </a:rPr>
              <a:t>Households can meet essential food and non-food needs without engaging in atypical or unsustainable strategies.</a:t>
            </a:r>
            <a:endParaRPr lang="en-US" sz="1100" b="0" u="none" strike="noStrike">
              <a:solidFill>
                <a:srgbClr val="000000"/>
              </a:solidFill>
              <a:effectLst/>
              <a:uFillTx/>
              <a:latin typeface="Arial"/>
            </a:endParaRPr>
          </a:p>
        </p:txBody>
      </p:sp>
      <p:sp>
        <p:nvSpPr>
          <p:cNvPr id="38" name="Shape 9"/>
          <p:cNvSpPr/>
          <p:nvPr/>
        </p:nvSpPr>
        <p:spPr>
          <a:xfrm>
            <a:off x="457200" y="2953440"/>
            <a:ext cx="1051200" cy="685440"/>
          </a:xfrm>
          <a:prstGeom prst="roundRect">
            <a:avLst>
              <a:gd name="adj" fmla="val 10667"/>
            </a:avLst>
          </a:prstGeom>
          <a:solidFill>
            <a:srgbClr val="FFC107"/>
          </a:solidFill>
          <a:ln w="12700">
            <a:solidFill>
              <a:srgbClr val="FFC10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 name="Text 10"/>
          <p:cNvSpPr/>
          <p:nvPr/>
        </p:nvSpPr>
        <p:spPr>
          <a:xfrm>
            <a:off x="457200" y="2953440"/>
            <a:ext cx="1051200" cy="685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300" b="1" u="none" strike="noStrike" spc="99">
                <a:solidFill>
                  <a:srgbClr val="FFFFFF"/>
                </a:solidFill>
                <a:effectLst/>
                <a:uFillTx/>
                <a:latin typeface="Calibri"/>
                <a:ea typeface="Calibri"/>
              </a:rPr>
              <a:t>PHASE 2</a:t>
            </a:r>
            <a:endParaRPr lang="en-US" sz="1300" b="0" u="none" strike="noStrike">
              <a:solidFill>
                <a:srgbClr val="000000"/>
              </a:solidFill>
              <a:effectLst/>
              <a:uFillTx/>
              <a:latin typeface="Arial"/>
            </a:endParaRPr>
          </a:p>
        </p:txBody>
      </p:sp>
      <p:sp>
        <p:nvSpPr>
          <p:cNvPr id="40" name="Text 11"/>
          <p:cNvSpPr/>
          <p:nvPr/>
        </p:nvSpPr>
        <p:spPr>
          <a:xfrm>
            <a:off x="1645920" y="2971800"/>
            <a:ext cx="310860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500" b="1" u="none" strike="noStrike">
                <a:solidFill>
                  <a:srgbClr val="FFC107"/>
                </a:solidFill>
                <a:effectLst/>
                <a:uFillTx/>
                <a:latin typeface="Calibri"/>
                <a:ea typeface="Calibri"/>
              </a:rPr>
              <a:t>Stressed</a:t>
            </a:r>
            <a:endParaRPr lang="en-US" sz="1500" b="0" u="none" strike="noStrike">
              <a:solidFill>
                <a:srgbClr val="000000"/>
              </a:solidFill>
              <a:effectLst/>
              <a:uFillTx/>
              <a:latin typeface="Arial"/>
            </a:endParaRPr>
          </a:p>
        </p:txBody>
      </p:sp>
      <p:sp>
        <p:nvSpPr>
          <p:cNvPr id="41" name="Text 12"/>
          <p:cNvSpPr/>
          <p:nvPr/>
        </p:nvSpPr>
        <p:spPr>
          <a:xfrm>
            <a:off x="1645920" y="3300840"/>
            <a:ext cx="100580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0" u="none" strike="noStrike">
                <a:solidFill>
                  <a:srgbClr val="1F2937"/>
                </a:solidFill>
                <a:effectLst/>
                <a:uFillTx/>
                <a:latin typeface="Calibri"/>
                <a:ea typeface="Calibri"/>
              </a:rPr>
              <a:t>Households have minimally adequate food but cannot afford essential non-food expenditures without stress-coping strategies.</a:t>
            </a:r>
            <a:endParaRPr lang="en-US" sz="1100" b="0" u="none" strike="noStrike">
              <a:solidFill>
                <a:srgbClr val="000000"/>
              </a:solidFill>
              <a:effectLst/>
              <a:uFillTx/>
              <a:latin typeface="Arial"/>
            </a:endParaRPr>
          </a:p>
        </p:txBody>
      </p:sp>
      <p:sp>
        <p:nvSpPr>
          <p:cNvPr id="42" name="Shape 13"/>
          <p:cNvSpPr/>
          <p:nvPr/>
        </p:nvSpPr>
        <p:spPr>
          <a:xfrm>
            <a:off x="457200" y="3758040"/>
            <a:ext cx="1051200" cy="685440"/>
          </a:xfrm>
          <a:prstGeom prst="roundRect">
            <a:avLst>
              <a:gd name="adj" fmla="val 10667"/>
            </a:avLst>
          </a:prstGeom>
          <a:solidFill>
            <a:srgbClr val="FB8C00"/>
          </a:solidFill>
          <a:ln w="12700">
            <a:solidFill>
              <a:srgbClr val="FB8C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3" name="Text 14"/>
          <p:cNvSpPr/>
          <p:nvPr/>
        </p:nvSpPr>
        <p:spPr>
          <a:xfrm>
            <a:off x="457200" y="3758040"/>
            <a:ext cx="1051200" cy="685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300" b="1" u="none" strike="noStrike" spc="99">
                <a:solidFill>
                  <a:srgbClr val="FFFFFF"/>
                </a:solidFill>
                <a:effectLst/>
                <a:uFillTx/>
                <a:latin typeface="Calibri"/>
                <a:ea typeface="Calibri"/>
              </a:rPr>
              <a:t>PHASE 3</a:t>
            </a:r>
            <a:endParaRPr lang="en-US" sz="1300" b="0" u="none" strike="noStrike">
              <a:solidFill>
                <a:srgbClr val="000000"/>
              </a:solidFill>
              <a:effectLst/>
              <a:uFillTx/>
              <a:latin typeface="Arial"/>
            </a:endParaRPr>
          </a:p>
        </p:txBody>
      </p:sp>
      <p:sp>
        <p:nvSpPr>
          <p:cNvPr id="44" name="Text 15"/>
          <p:cNvSpPr/>
          <p:nvPr/>
        </p:nvSpPr>
        <p:spPr>
          <a:xfrm>
            <a:off x="1645920" y="3776400"/>
            <a:ext cx="310860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500" b="1" u="none" strike="noStrike">
                <a:solidFill>
                  <a:srgbClr val="FB8C00"/>
                </a:solidFill>
                <a:effectLst/>
                <a:uFillTx/>
                <a:latin typeface="Calibri"/>
                <a:ea typeface="Calibri"/>
              </a:rPr>
              <a:t>Crisis</a:t>
            </a:r>
            <a:endParaRPr lang="en-US" sz="1500" b="0" u="none" strike="noStrike">
              <a:solidFill>
                <a:srgbClr val="000000"/>
              </a:solidFill>
              <a:effectLst/>
              <a:uFillTx/>
              <a:latin typeface="Arial"/>
            </a:endParaRPr>
          </a:p>
        </p:txBody>
      </p:sp>
      <p:sp>
        <p:nvSpPr>
          <p:cNvPr id="45" name="Text 16"/>
          <p:cNvSpPr/>
          <p:nvPr/>
        </p:nvSpPr>
        <p:spPr>
          <a:xfrm>
            <a:off x="1645920" y="4105800"/>
            <a:ext cx="100580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0" u="none" strike="noStrike">
                <a:solidFill>
                  <a:srgbClr val="1F2937"/>
                </a:solidFill>
                <a:effectLst/>
                <a:uFillTx/>
                <a:latin typeface="Calibri"/>
                <a:ea typeface="Calibri"/>
              </a:rPr>
              <a:t>Households have food consumption gaps with high acute malnutrition, or are only marginally meeting food needs by depleting essential assets.</a:t>
            </a:r>
            <a:endParaRPr lang="en-US" sz="1100" b="0" u="none" strike="noStrike">
              <a:solidFill>
                <a:srgbClr val="000000"/>
              </a:solidFill>
              <a:effectLst/>
              <a:uFillTx/>
              <a:latin typeface="Arial"/>
            </a:endParaRPr>
          </a:p>
        </p:txBody>
      </p:sp>
      <p:sp>
        <p:nvSpPr>
          <p:cNvPr id="46" name="Shape 17"/>
          <p:cNvSpPr/>
          <p:nvPr/>
        </p:nvSpPr>
        <p:spPr>
          <a:xfrm>
            <a:off x="457200" y="4563000"/>
            <a:ext cx="1051200" cy="685440"/>
          </a:xfrm>
          <a:prstGeom prst="roundRect">
            <a:avLst>
              <a:gd name="adj" fmla="val 10667"/>
            </a:avLst>
          </a:prstGeom>
          <a:solidFill>
            <a:srgbClr val="D32F2F"/>
          </a:solidFill>
          <a:ln w="12700">
            <a:solidFill>
              <a:srgbClr val="D32F2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7" name="Text 18"/>
          <p:cNvSpPr/>
          <p:nvPr/>
        </p:nvSpPr>
        <p:spPr>
          <a:xfrm>
            <a:off x="457200" y="4563000"/>
            <a:ext cx="1051200" cy="685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300" b="1" u="none" strike="noStrike" spc="99">
                <a:solidFill>
                  <a:srgbClr val="FFFFFF"/>
                </a:solidFill>
                <a:effectLst/>
                <a:uFillTx/>
                <a:latin typeface="Calibri"/>
                <a:ea typeface="Calibri"/>
              </a:rPr>
              <a:t>PHASE 4</a:t>
            </a:r>
            <a:endParaRPr lang="en-US" sz="1300" b="0" u="none" strike="noStrike">
              <a:solidFill>
                <a:srgbClr val="000000"/>
              </a:solidFill>
              <a:effectLst/>
              <a:uFillTx/>
              <a:latin typeface="Arial"/>
            </a:endParaRPr>
          </a:p>
        </p:txBody>
      </p:sp>
      <p:sp>
        <p:nvSpPr>
          <p:cNvPr id="48" name="Text 19"/>
          <p:cNvSpPr/>
          <p:nvPr/>
        </p:nvSpPr>
        <p:spPr>
          <a:xfrm>
            <a:off x="1645920" y="4581000"/>
            <a:ext cx="310860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500" b="1" u="none" strike="noStrike">
                <a:solidFill>
                  <a:srgbClr val="D32F2F"/>
                </a:solidFill>
                <a:effectLst/>
                <a:uFillTx/>
                <a:latin typeface="Calibri"/>
                <a:ea typeface="Calibri"/>
              </a:rPr>
              <a:t>Emergency</a:t>
            </a:r>
            <a:endParaRPr lang="en-US" sz="1500" b="0" u="none" strike="noStrike">
              <a:solidFill>
                <a:srgbClr val="000000"/>
              </a:solidFill>
              <a:effectLst/>
              <a:uFillTx/>
              <a:latin typeface="Arial"/>
            </a:endParaRPr>
          </a:p>
        </p:txBody>
      </p:sp>
      <p:sp>
        <p:nvSpPr>
          <p:cNvPr id="49" name="Text 20"/>
          <p:cNvSpPr/>
          <p:nvPr/>
        </p:nvSpPr>
        <p:spPr>
          <a:xfrm>
            <a:off x="1645920" y="4910400"/>
            <a:ext cx="100580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0" u="none" strike="noStrike">
                <a:solidFill>
                  <a:srgbClr val="1F2937"/>
                </a:solidFill>
                <a:effectLst/>
                <a:uFillTx/>
                <a:latin typeface="Calibri"/>
                <a:ea typeface="Calibri"/>
              </a:rPr>
              <a:t>Households have large food consumption gaps resulting in very high acute malnutrition and excess mortality, or extreme loss of livelihood assets.</a:t>
            </a:r>
            <a:endParaRPr lang="en-US" sz="1100" b="0" u="none" strike="noStrike">
              <a:solidFill>
                <a:srgbClr val="000000"/>
              </a:solidFill>
              <a:effectLst/>
              <a:uFillTx/>
              <a:latin typeface="Arial"/>
            </a:endParaRPr>
          </a:p>
        </p:txBody>
      </p:sp>
      <p:sp>
        <p:nvSpPr>
          <p:cNvPr id="50" name="Shape 21"/>
          <p:cNvSpPr/>
          <p:nvPr/>
        </p:nvSpPr>
        <p:spPr>
          <a:xfrm>
            <a:off x="457200" y="5367600"/>
            <a:ext cx="1051200" cy="685440"/>
          </a:xfrm>
          <a:prstGeom prst="roundRect">
            <a:avLst>
              <a:gd name="adj" fmla="val 10667"/>
            </a:avLst>
          </a:prstGeom>
          <a:solidFill>
            <a:srgbClr val="6A1B1A"/>
          </a:solidFill>
          <a:ln w="12700">
            <a:solidFill>
              <a:srgbClr val="6A1B1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1" name="Text 22"/>
          <p:cNvSpPr/>
          <p:nvPr/>
        </p:nvSpPr>
        <p:spPr>
          <a:xfrm>
            <a:off x="457200" y="5367600"/>
            <a:ext cx="1051200" cy="685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300" b="1" u="none" strike="noStrike" spc="99">
                <a:solidFill>
                  <a:srgbClr val="FFFFFF"/>
                </a:solidFill>
                <a:effectLst/>
                <a:uFillTx/>
                <a:latin typeface="Calibri"/>
                <a:ea typeface="Calibri"/>
              </a:rPr>
              <a:t>PHASE 5</a:t>
            </a:r>
            <a:endParaRPr lang="en-US" sz="1300" b="0" u="none" strike="noStrike">
              <a:solidFill>
                <a:srgbClr val="000000"/>
              </a:solidFill>
              <a:effectLst/>
              <a:uFillTx/>
              <a:latin typeface="Arial"/>
            </a:endParaRPr>
          </a:p>
        </p:txBody>
      </p:sp>
      <p:sp>
        <p:nvSpPr>
          <p:cNvPr id="52" name="Text 23"/>
          <p:cNvSpPr/>
          <p:nvPr/>
        </p:nvSpPr>
        <p:spPr>
          <a:xfrm>
            <a:off x="1645920" y="5385960"/>
            <a:ext cx="310860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500" b="1" u="none" strike="noStrike">
                <a:solidFill>
                  <a:srgbClr val="6A1B1A"/>
                </a:solidFill>
                <a:effectLst/>
                <a:uFillTx/>
                <a:latin typeface="Calibri"/>
                <a:ea typeface="Calibri"/>
              </a:rPr>
              <a:t>Catastrophe / Famine</a:t>
            </a:r>
            <a:endParaRPr lang="en-US" sz="1500" b="0" u="none" strike="noStrike">
              <a:solidFill>
                <a:srgbClr val="000000"/>
              </a:solidFill>
              <a:effectLst/>
              <a:uFillTx/>
              <a:latin typeface="Arial"/>
            </a:endParaRPr>
          </a:p>
        </p:txBody>
      </p:sp>
      <p:sp>
        <p:nvSpPr>
          <p:cNvPr id="53" name="Text 24"/>
          <p:cNvSpPr/>
          <p:nvPr/>
        </p:nvSpPr>
        <p:spPr>
          <a:xfrm>
            <a:off x="1645920" y="5715000"/>
            <a:ext cx="100580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0" u="none" strike="noStrike">
                <a:solidFill>
                  <a:srgbClr val="1F2937"/>
                </a:solidFill>
                <a:effectLst/>
                <a:uFillTx/>
                <a:latin typeface="Calibri"/>
                <a:ea typeface="Calibri"/>
              </a:rPr>
              <a:t>Households have an extreme lack of food and/or other basic needs even with full humanitarian assistance — starvation, death, and destitution are evident.</a:t>
            </a:r>
            <a:endParaRPr lang="en-US" sz="1100" b="0" u="none" strike="noStrike">
              <a:solidFill>
                <a:srgbClr val="000000"/>
              </a:solidFill>
              <a:effectLst/>
              <a:uFillTx/>
              <a:latin typeface="Arial"/>
            </a:endParaRPr>
          </a:p>
        </p:txBody>
      </p:sp>
      <p:sp>
        <p:nvSpPr>
          <p:cNvPr id="54" name="Text 25"/>
          <p:cNvSpPr/>
          <p:nvPr/>
        </p:nvSpPr>
        <p:spPr>
          <a:xfrm>
            <a:off x="45720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5B6472"/>
                </a:solidFill>
                <a:effectLst/>
                <a:uFillTx/>
                <a:latin typeface="Calibri"/>
                <a:ea typeface="Calibri"/>
              </a:rPr>
              <a:t>Kenya Food Security Forecasting  |  IPC Time-Series Study</a:t>
            </a:r>
            <a:endParaRPr lang="en-US" sz="1000" b="0" u="none" strike="noStrike">
              <a:solidFill>
                <a:srgbClr val="000000"/>
              </a:solidFill>
              <a:effectLst/>
              <a:uFillTx/>
              <a:latin typeface="Arial"/>
            </a:endParaRPr>
          </a:p>
        </p:txBody>
      </p:sp>
      <p:sp>
        <p:nvSpPr>
          <p:cNvPr id="55" name="Text 26"/>
          <p:cNvSpPr/>
          <p:nvPr/>
        </p:nvSpPr>
        <p:spPr>
          <a:xfrm>
            <a:off x="11338560" y="6537960"/>
            <a:ext cx="4568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000" b="0" u="none" strike="noStrike">
                <a:solidFill>
                  <a:srgbClr val="5B6472"/>
                </a:solidFill>
                <a:effectLst/>
                <a:uFillTx/>
                <a:latin typeface="Calibri"/>
                <a:ea typeface="Calibri"/>
              </a:rPr>
              <a:t>3</a:t>
            </a:r>
            <a:endParaRPr lang="en-US" sz="100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56" name="Shape 0"/>
          <p:cNvSpPr/>
          <p:nvPr/>
        </p:nvSpPr>
        <p:spPr>
          <a:xfrm>
            <a:off x="0" y="0"/>
            <a:ext cx="12188520" cy="822600"/>
          </a:xfrm>
          <a:prstGeom prst="rect">
            <a:avLst/>
          </a:prstGeom>
          <a:solidFill>
            <a:srgbClr val="2C3E50"/>
          </a:solidFill>
          <a:ln w="12700">
            <a:solidFill>
              <a:srgbClr val="2C3E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7" name="Text 1"/>
          <p:cNvSpPr/>
          <p:nvPr/>
        </p:nvSpPr>
        <p:spPr>
          <a:xfrm>
            <a:off x="457200" y="13716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spc="400">
                <a:solidFill>
                  <a:srgbClr val="B85042"/>
                </a:solidFill>
                <a:effectLst/>
                <a:uFillTx/>
                <a:latin typeface="Calibri"/>
                <a:ea typeface="Calibri"/>
              </a:rPr>
              <a:t>GOALS</a:t>
            </a:r>
            <a:endParaRPr lang="en-US" sz="1200" b="0" u="none" strike="noStrike">
              <a:solidFill>
                <a:srgbClr val="000000"/>
              </a:solidFill>
              <a:effectLst/>
              <a:uFillTx/>
              <a:latin typeface="Arial"/>
            </a:endParaRPr>
          </a:p>
        </p:txBody>
      </p:sp>
      <p:sp>
        <p:nvSpPr>
          <p:cNvPr id="58" name="Text 2"/>
          <p:cNvSpPr/>
          <p:nvPr/>
        </p:nvSpPr>
        <p:spPr>
          <a:xfrm>
            <a:off x="457200" y="347400"/>
            <a:ext cx="109724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FFFFFF"/>
                </a:solidFill>
                <a:effectLst/>
                <a:uFillTx/>
                <a:latin typeface="Calibri"/>
                <a:ea typeface="Calibri"/>
              </a:rPr>
              <a:t>Aim &amp; Objectives of the Study</a:t>
            </a:r>
            <a:endParaRPr lang="en-US" sz="2600" b="0" u="none" strike="noStrike">
              <a:solidFill>
                <a:srgbClr val="000000"/>
              </a:solidFill>
              <a:effectLst/>
              <a:uFillTx/>
              <a:latin typeface="Arial"/>
            </a:endParaRPr>
          </a:p>
        </p:txBody>
      </p:sp>
      <p:sp>
        <p:nvSpPr>
          <p:cNvPr id="59" name="Shape 3"/>
          <p:cNvSpPr/>
          <p:nvPr/>
        </p:nvSpPr>
        <p:spPr>
          <a:xfrm>
            <a:off x="457200" y="960120"/>
            <a:ext cx="1097280" cy="360"/>
          </a:xfrm>
          <a:prstGeom prst="line">
            <a:avLst/>
          </a:prstGeom>
          <a:ln w="38100">
            <a:solidFill>
              <a:srgbClr val="B85042"/>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Calibri"/>
            </a:endParaRPr>
          </a:p>
        </p:txBody>
      </p:sp>
      <p:sp>
        <p:nvSpPr>
          <p:cNvPr id="60" name="Shape 4"/>
          <p:cNvSpPr/>
          <p:nvPr/>
        </p:nvSpPr>
        <p:spPr>
          <a:xfrm>
            <a:off x="457200" y="1234440"/>
            <a:ext cx="5486040" cy="5120280"/>
          </a:xfrm>
          <a:prstGeom prst="roundRect">
            <a:avLst>
              <a:gd name="adj" fmla="val 1429"/>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1" name="Shape 5"/>
          <p:cNvSpPr/>
          <p:nvPr/>
        </p:nvSpPr>
        <p:spPr>
          <a:xfrm>
            <a:off x="6263640" y="1234440"/>
            <a:ext cx="5440320" cy="5120280"/>
          </a:xfrm>
          <a:prstGeom prst="roundRect">
            <a:avLst>
              <a:gd name="adj" fmla="val 1429"/>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2" name="Text 6"/>
          <p:cNvSpPr/>
          <p:nvPr/>
        </p:nvSpPr>
        <p:spPr>
          <a:xfrm>
            <a:off x="640080" y="1371600"/>
            <a:ext cx="51202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spc="400">
                <a:solidFill>
                  <a:srgbClr val="B85042"/>
                </a:solidFill>
                <a:effectLst/>
                <a:uFillTx/>
                <a:latin typeface="Calibri"/>
                <a:ea typeface="Calibri"/>
              </a:rPr>
              <a:t>AIM</a:t>
            </a:r>
            <a:endParaRPr lang="en-US" sz="1400" b="0" u="none" strike="noStrike">
              <a:solidFill>
                <a:srgbClr val="000000"/>
              </a:solidFill>
              <a:effectLst/>
              <a:uFillTx/>
              <a:latin typeface="Arial"/>
            </a:endParaRPr>
          </a:p>
        </p:txBody>
      </p:sp>
      <p:sp>
        <p:nvSpPr>
          <p:cNvPr id="63" name="Text 7"/>
          <p:cNvSpPr/>
          <p:nvPr/>
        </p:nvSpPr>
        <p:spPr>
          <a:xfrm>
            <a:off x="640080" y="1783080"/>
            <a:ext cx="5120280" cy="2285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0" u="none" strike="noStrike" dirty="0">
                <a:solidFill>
                  <a:srgbClr val="1F2937"/>
                </a:solidFill>
                <a:effectLst/>
                <a:uFillTx/>
                <a:latin typeface="Calibri"/>
                <a:ea typeface="Calibri"/>
              </a:rPr>
              <a:t>To develop and evaluate statistical, machine learning, and deep learning models for forecasting future food security conditions in Kenya using historical IPC data.</a:t>
            </a:r>
            <a:endParaRPr lang="en-US" sz="1600" b="0" u="none" strike="noStrike" dirty="0">
              <a:solidFill>
                <a:srgbClr val="000000"/>
              </a:solidFill>
              <a:effectLst/>
              <a:uFillTx/>
              <a:latin typeface="Arial"/>
            </a:endParaRPr>
          </a:p>
        </p:txBody>
      </p:sp>
      <p:sp>
        <p:nvSpPr>
          <p:cNvPr id="64" name="Text 8"/>
          <p:cNvSpPr/>
          <p:nvPr/>
        </p:nvSpPr>
        <p:spPr>
          <a:xfrm>
            <a:off x="640080" y="3931920"/>
            <a:ext cx="51202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spc="400">
                <a:solidFill>
                  <a:srgbClr val="B85042"/>
                </a:solidFill>
                <a:effectLst/>
                <a:uFillTx/>
                <a:latin typeface="Calibri"/>
                <a:ea typeface="Calibri"/>
              </a:rPr>
              <a:t>PROBLEM STATEMENT</a:t>
            </a:r>
            <a:endParaRPr lang="en-US" sz="1400" b="0" u="none" strike="noStrike">
              <a:solidFill>
                <a:srgbClr val="000000"/>
              </a:solidFill>
              <a:effectLst/>
              <a:uFillTx/>
              <a:latin typeface="Arial"/>
            </a:endParaRPr>
          </a:p>
        </p:txBody>
      </p:sp>
      <p:sp>
        <p:nvSpPr>
          <p:cNvPr id="65" name="Text 9"/>
          <p:cNvSpPr/>
          <p:nvPr/>
        </p:nvSpPr>
        <p:spPr>
          <a:xfrm>
            <a:off x="640080" y="4251960"/>
            <a:ext cx="5120280" cy="201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0" u="none" strike="noStrike" dirty="0">
                <a:solidFill>
                  <a:srgbClr val="1F2937"/>
                </a:solidFill>
                <a:effectLst/>
                <a:uFillTx/>
                <a:latin typeface="Calibri"/>
              </a:rPr>
              <a:t>Traditional food-security assessments are largely descriptive — they report on current or past conditions but offer limited predictive capability. This study uses the IPC time-series alone to forecast future conditions.</a:t>
            </a:r>
            <a:endParaRPr lang="en-US" sz="1600" b="0" u="none" strike="noStrike" dirty="0">
              <a:solidFill>
                <a:srgbClr val="000000"/>
              </a:solidFill>
              <a:effectLst/>
              <a:uFillTx/>
              <a:latin typeface="Arial"/>
            </a:endParaRPr>
          </a:p>
        </p:txBody>
      </p:sp>
      <p:sp>
        <p:nvSpPr>
          <p:cNvPr id="66" name="Text 10"/>
          <p:cNvSpPr/>
          <p:nvPr/>
        </p:nvSpPr>
        <p:spPr>
          <a:xfrm>
            <a:off x="6446520" y="1371600"/>
            <a:ext cx="51202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spc="400">
                <a:solidFill>
                  <a:srgbClr val="B85042"/>
                </a:solidFill>
                <a:effectLst/>
                <a:uFillTx/>
                <a:latin typeface="Calibri"/>
                <a:ea typeface="Calibri"/>
              </a:rPr>
              <a:t>OBJECTIVES</a:t>
            </a:r>
            <a:endParaRPr lang="en-US" sz="1400" b="0" u="none" strike="noStrike">
              <a:solidFill>
                <a:srgbClr val="000000"/>
              </a:solidFill>
              <a:effectLst/>
              <a:uFillTx/>
              <a:latin typeface="Arial"/>
            </a:endParaRPr>
          </a:p>
        </p:txBody>
      </p:sp>
      <p:sp>
        <p:nvSpPr>
          <p:cNvPr id="67" name="Text 11"/>
          <p:cNvSpPr/>
          <p:nvPr/>
        </p:nvSpPr>
        <p:spPr>
          <a:xfrm>
            <a:off x="6446520" y="1783080"/>
            <a:ext cx="5120280" cy="4480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43080" indent="-343080" defTabSz="914400">
              <a:lnSpc>
                <a:spcPct val="100000"/>
              </a:lnSpc>
              <a:spcAft>
                <a:spcPts val="601"/>
              </a:spcAft>
              <a:buClr>
                <a:srgbClr val="1F2937"/>
              </a:buClr>
              <a:buFont typeface="Wingdings" panose="05000000000000000000" pitchFamily="2" charset="2"/>
              <a:buChar char="§"/>
            </a:pPr>
            <a:r>
              <a:rPr lang="en-US" sz="1600" b="0" u="none" strike="noStrike" dirty="0">
                <a:solidFill>
                  <a:srgbClr val="1F2937"/>
                </a:solidFill>
                <a:effectLst/>
                <a:uFillTx/>
                <a:latin typeface="Calibri"/>
              </a:rPr>
              <a:t>Examine historical food-security trends in Kenya using IPC data.</a:t>
            </a:r>
            <a:endParaRPr lang="en-US" sz="1600" b="0" u="none" strike="noStrike" dirty="0">
              <a:solidFill>
                <a:srgbClr val="000000"/>
              </a:solidFill>
              <a:effectLst/>
              <a:uFillTx/>
              <a:latin typeface="Arial"/>
            </a:endParaRPr>
          </a:p>
          <a:p>
            <a:pPr marL="285750" indent="-285750" defTabSz="914400">
              <a:lnSpc>
                <a:spcPct val="100000"/>
              </a:lnSpc>
              <a:buFont typeface="Wingdings" panose="05000000000000000000" pitchFamily="2" charset="2"/>
              <a:buChar char="§"/>
            </a:pPr>
            <a:r>
              <a:rPr lang="en-US" sz="1600" b="0" u="none" strike="noStrike" dirty="0">
                <a:solidFill>
                  <a:srgbClr val="1F2937"/>
                </a:solidFill>
                <a:effectLst/>
                <a:uFillTx/>
                <a:latin typeface="Calibri"/>
              </a:rPr>
              <a:t>Perform EDA to understand temporal and spatial patterns.</a:t>
            </a:r>
            <a:endParaRPr lang="en-US" sz="1600" b="0" u="none" strike="noStrike" dirty="0">
              <a:solidFill>
                <a:srgbClr val="000000"/>
              </a:solidFill>
              <a:effectLst/>
              <a:uFillTx/>
              <a:latin typeface="Arial"/>
            </a:endParaRPr>
          </a:p>
          <a:p>
            <a:pPr marL="285750" indent="-285750" defTabSz="914400">
              <a:lnSpc>
                <a:spcPct val="100000"/>
              </a:lnSpc>
              <a:buFont typeface="Wingdings" panose="05000000000000000000" pitchFamily="2" charset="2"/>
              <a:buChar char="§"/>
            </a:pPr>
            <a:r>
              <a:rPr lang="en-US" sz="1600" b="0" u="none" strike="noStrike" dirty="0">
                <a:solidFill>
                  <a:srgbClr val="1F2937"/>
                </a:solidFill>
                <a:effectLst/>
                <a:uFillTx/>
                <a:latin typeface="Calibri"/>
              </a:rPr>
              <a:t>Preprocess and prepare the IPC dataset for time-series forecasting.</a:t>
            </a:r>
            <a:endParaRPr lang="en-US" sz="1600" b="0" u="none" strike="noStrike" dirty="0">
              <a:solidFill>
                <a:srgbClr val="000000"/>
              </a:solidFill>
              <a:effectLst/>
              <a:uFillTx/>
              <a:latin typeface="Arial"/>
            </a:endParaRPr>
          </a:p>
          <a:p>
            <a:pPr marL="285750" indent="-285750" defTabSz="914400">
              <a:lnSpc>
                <a:spcPct val="100000"/>
              </a:lnSpc>
              <a:buFont typeface="Wingdings" panose="05000000000000000000" pitchFamily="2" charset="2"/>
              <a:buChar char="§"/>
            </a:pPr>
            <a:r>
              <a:rPr lang="en-US" sz="1600" b="0" u="none" strike="noStrike" dirty="0">
                <a:solidFill>
                  <a:srgbClr val="1F2937"/>
                </a:solidFill>
                <a:effectLst/>
                <a:uFillTx/>
                <a:latin typeface="Calibri"/>
              </a:rPr>
              <a:t>Develop statistical, ML, and deep learning forecasting models.</a:t>
            </a:r>
            <a:endParaRPr lang="en-US" sz="1600" b="0" u="none" strike="noStrike" dirty="0">
              <a:solidFill>
                <a:srgbClr val="000000"/>
              </a:solidFill>
              <a:effectLst/>
              <a:uFillTx/>
              <a:latin typeface="Arial"/>
            </a:endParaRPr>
          </a:p>
          <a:p>
            <a:pPr marL="285750" indent="-285750" defTabSz="914400">
              <a:lnSpc>
                <a:spcPct val="100000"/>
              </a:lnSpc>
              <a:buFont typeface="Wingdings" panose="05000000000000000000" pitchFamily="2" charset="2"/>
              <a:buChar char="§"/>
            </a:pPr>
            <a:r>
              <a:rPr lang="en-US" sz="1600" b="0" u="none" strike="noStrike" dirty="0">
                <a:solidFill>
                  <a:srgbClr val="1F2937"/>
                </a:solidFill>
                <a:effectLst/>
                <a:uFillTx/>
                <a:latin typeface="Calibri"/>
              </a:rPr>
              <a:t>Compare ARIMA, Random Forest, </a:t>
            </a:r>
            <a:r>
              <a:rPr lang="en-US" sz="1600" b="0" u="none" strike="noStrike" dirty="0" err="1">
                <a:solidFill>
                  <a:srgbClr val="1F2937"/>
                </a:solidFill>
                <a:effectLst/>
                <a:uFillTx/>
                <a:latin typeface="Calibri"/>
              </a:rPr>
              <a:t>XGBoost</a:t>
            </a:r>
            <a:r>
              <a:rPr lang="en-US" sz="1600" b="0" u="none" strike="noStrike" dirty="0">
                <a:solidFill>
                  <a:srgbClr val="1F2937"/>
                </a:solidFill>
                <a:effectLst/>
                <a:uFillTx/>
                <a:latin typeface="Calibri"/>
              </a:rPr>
              <a:t>, and LSTM performance.</a:t>
            </a:r>
            <a:endParaRPr lang="en-US" sz="1600" b="0" u="none" strike="noStrike" dirty="0">
              <a:solidFill>
                <a:srgbClr val="000000"/>
              </a:solidFill>
              <a:effectLst/>
              <a:uFillTx/>
              <a:latin typeface="Arial"/>
            </a:endParaRPr>
          </a:p>
          <a:p>
            <a:pPr marL="285750" indent="-285750" defTabSz="914400">
              <a:lnSpc>
                <a:spcPct val="100000"/>
              </a:lnSpc>
              <a:buFont typeface="Wingdings" panose="05000000000000000000" pitchFamily="2" charset="2"/>
              <a:buChar char="§"/>
            </a:pPr>
            <a:r>
              <a:rPr lang="en-US" sz="1600" b="0" u="none" strike="noStrike" dirty="0">
                <a:solidFill>
                  <a:srgbClr val="1F2937"/>
                </a:solidFill>
                <a:effectLst/>
                <a:uFillTx/>
                <a:latin typeface="Calibri"/>
              </a:rPr>
              <a:t>Identify the most accurate model for future food-security prediction</a:t>
            </a:r>
            <a:r>
              <a:rPr lang="en-US" sz="1200" b="0" u="none" strike="noStrike" dirty="0">
                <a:solidFill>
                  <a:srgbClr val="1F2937"/>
                </a:solidFill>
                <a:effectLst/>
                <a:uFillTx/>
                <a:latin typeface="Calibri"/>
              </a:rPr>
              <a:t>.</a:t>
            </a:r>
            <a:endParaRPr lang="en-US" sz="1200" b="0" u="none" strike="noStrike" dirty="0">
              <a:solidFill>
                <a:srgbClr val="000000"/>
              </a:solidFill>
              <a:effectLst/>
              <a:uFillTx/>
              <a:latin typeface="Arial"/>
            </a:endParaRPr>
          </a:p>
        </p:txBody>
      </p:sp>
      <p:sp>
        <p:nvSpPr>
          <p:cNvPr id="68" name="Text 12"/>
          <p:cNvSpPr/>
          <p:nvPr/>
        </p:nvSpPr>
        <p:spPr>
          <a:xfrm>
            <a:off x="45720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5B6472"/>
                </a:solidFill>
                <a:effectLst/>
                <a:uFillTx/>
                <a:latin typeface="Calibri"/>
                <a:ea typeface="Calibri"/>
              </a:rPr>
              <a:t>Kenya Food Security Forecasting  |  IPC Time-Series Study</a:t>
            </a:r>
            <a:endParaRPr lang="en-US" sz="1000" b="0" u="none" strike="noStrike">
              <a:solidFill>
                <a:srgbClr val="000000"/>
              </a:solidFill>
              <a:effectLst/>
              <a:uFillTx/>
              <a:latin typeface="Arial"/>
            </a:endParaRPr>
          </a:p>
        </p:txBody>
      </p:sp>
      <p:sp>
        <p:nvSpPr>
          <p:cNvPr id="69" name="Text 13"/>
          <p:cNvSpPr/>
          <p:nvPr/>
        </p:nvSpPr>
        <p:spPr>
          <a:xfrm>
            <a:off x="11338560" y="6537960"/>
            <a:ext cx="4568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000" b="0" u="none" strike="noStrike">
                <a:solidFill>
                  <a:srgbClr val="5B6472"/>
                </a:solidFill>
                <a:effectLst/>
                <a:uFillTx/>
                <a:latin typeface="Calibri"/>
                <a:ea typeface="Calibri"/>
              </a:rPr>
              <a:t>4</a:t>
            </a:r>
            <a:endParaRPr lang="en-US" sz="100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70" name="Shape 0"/>
          <p:cNvSpPr/>
          <p:nvPr/>
        </p:nvSpPr>
        <p:spPr>
          <a:xfrm>
            <a:off x="0" y="0"/>
            <a:ext cx="12188520" cy="822600"/>
          </a:xfrm>
          <a:prstGeom prst="rect">
            <a:avLst/>
          </a:prstGeom>
          <a:solidFill>
            <a:srgbClr val="2C3E50"/>
          </a:solidFill>
          <a:ln w="12700">
            <a:solidFill>
              <a:srgbClr val="2C3E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1" name="Text 1"/>
          <p:cNvSpPr/>
          <p:nvPr/>
        </p:nvSpPr>
        <p:spPr>
          <a:xfrm>
            <a:off x="457200" y="13716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spc="400">
                <a:solidFill>
                  <a:srgbClr val="B85042"/>
                </a:solidFill>
                <a:effectLst/>
                <a:uFillTx/>
                <a:latin typeface="Calibri"/>
                <a:ea typeface="Calibri"/>
              </a:rPr>
              <a:t>DATA SOURCE</a:t>
            </a:r>
            <a:endParaRPr lang="en-US" sz="1200" b="0" u="none" strike="noStrike">
              <a:solidFill>
                <a:srgbClr val="000000"/>
              </a:solidFill>
              <a:effectLst/>
              <a:uFillTx/>
              <a:latin typeface="Arial"/>
            </a:endParaRPr>
          </a:p>
        </p:txBody>
      </p:sp>
      <p:sp>
        <p:nvSpPr>
          <p:cNvPr id="72" name="Text 2"/>
          <p:cNvSpPr/>
          <p:nvPr/>
        </p:nvSpPr>
        <p:spPr>
          <a:xfrm>
            <a:off x="457200" y="347400"/>
            <a:ext cx="109724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FFFFFF"/>
                </a:solidFill>
                <a:effectLst/>
                <a:uFillTx/>
                <a:latin typeface="Calibri"/>
                <a:ea typeface="Calibri"/>
              </a:rPr>
              <a:t>Dataset Overview</a:t>
            </a:r>
            <a:endParaRPr lang="en-US" sz="2600" b="0" u="none" strike="noStrike">
              <a:solidFill>
                <a:srgbClr val="000000"/>
              </a:solidFill>
              <a:effectLst/>
              <a:uFillTx/>
              <a:latin typeface="Arial"/>
            </a:endParaRPr>
          </a:p>
        </p:txBody>
      </p:sp>
      <p:sp>
        <p:nvSpPr>
          <p:cNvPr id="73" name="Shape 3"/>
          <p:cNvSpPr/>
          <p:nvPr/>
        </p:nvSpPr>
        <p:spPr>
          <a:xfrm>
            <a:off x="457200" y="960120"/>
            <a:ext cx="1097280" cy="360"/>
          </a:xfrm>
          <a:prstGeom prst="line">
            <a:avLst/>
          </a:prstGeom>
          <a:ln w="38100">
            <a:solidFill>
              <a:srgbClr val="B85042"/>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74" name="Shape 4"/>
          <p:cNvSpPr/>
          <p:nvPr/>
        </p:nvSpPr>
        <p:spPr>
          <a:xfrm>
            <a:off x="457200" y="1234440"/>
            <a:ext cx="11246760" cy="1188360"/>
          </a:xfrm>
          <a:prstGeom prst="roundRect">
            <a:avLst>
              <a:gd name="adj" fmla="val 6154"/>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5" name="Text 5"/>
          <p:cNvSpPr/>
          <p:nvPr/>
        </p:nvSpPr>
        <p:spPr>
          <a:xfrm>
            <a:off x="685800" y="1371600"/>
            <a:ext cx="10789560" cy="959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sz="1600" b="1" u="none" strike="noStrike">
                <a:solidFill>
                  <a:srgbClr val="B85042"/>
                </a:solidFill>
                <a:effectLst/>
                <a:uFillTx/>
                <a:latin typeface="Calibri"/>
                <a:ea typeface="Calibri"/>
              </a:rPr>
              <a:t>Kenya Current Situation FEWS NET IPC Classification</a:t>
            </a:r>
            <a:endParaRPr lang="en-US" sz="160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1F2937"/>
                </a:solidFill>
                <a:effectLst/>
                <a:uFillTx/>
                <a:latin typeface="Calibri"/>
                <a:ea typeface="Calibri"/>
              </a:rPr>
              <a:t>Published by the Famine Early Warning Systems Network (FEWS NET) via the Humanitarian Data Exchange (HDX). Contains historical IPC-compatible food-security assessments for Kenya spanning ~15 years.</a:t>
            </a:r>
            <a:endParaRPr lang="en-US" sz="1200" b="0" u="none" strike="noStrike">
              <a:solidFill>
                <a:srgbClr val="000000"/>
              </a:solidFill>
              <a:effectLst/>
              <a:uFillTx/>
              <a:latin typeface="Arial"/>
            </a:endParaRPr>
          </a:p>
        </p:txBody>
      </p:sp>
      <p:sp>
        <p:nvSpPr>
          <p:cNvPr id="76" name="Shape 6"/>
          <p:cNvSpPr/>
          <p:nvPr/>
        </p:nvSpPr>
        <p:spPr>
          <a:xfrm>
            <a:off x="457200" y="2606040"/>
            <a:ext cx="2697120" cy="1462680"/>
          </a:xfrm>
          <a:prstGeom prst="roundRect">
            <a:avLst>
              <a:gd name="adj" fmla="val 5000"/>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7" name="Text 7"/>
          <p:cNvSpPr/>
          <p:nvPr/>
        </p:nvSpPr>
        <p:spPr>
          <a:xfrm>
            <a:off x="457200" y="2697480"/>
            <a:ext cx="2697120" cy="776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3200" b="1" u="none" strike="noStrike">
                <a:solidFill>
                  <a:srgbClr val="B85042"/>
                </a:solidFill>
                <a:effectLst/>
                <a:uFillTx/>
                <a:latin typeface="Calibri"/>
                <a:ea typeface="Calibri"/>
              </a:rPr>
              <a:t>27,694</a:t>
            </a:r>
            <a:endParaRPr lang="en-US" sz="3200" b="0" u="none" strike="noStrike">
              <a:solidFill>
                <a:srgbClr val="000000"/>
              </a:solidFill>
              <a:effectLst/>
              <a:uFillTx/>
              <a:latin typeface="Arial"/>
            </a:endParaRPr>
          </a:p>
        </p:txBody>
      </p:sp>
      <p:sp>
        <p:nvSpPr>
          <p:cNvPr id="78" name="Text 8"/>
          <p:cNvSpPr/>
          <p:nvPr/>
        </p:nvSpPr>
        <p:spPr>
          <a:xfrm>
            <a:off x="457200" y="3520440"/>
            <a:ext cx="269712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0" u="none" strike="noStrike">
                <a:solidFill>
                  <a:srgbClr val="5B6472"/>
                </a:solidFill>
                <a:effectLst/>
                <a:uFillTx/>
                <a:latin typeface="Calibri"/>
                <a:ea typeface="Calibri"/>
              </a:rPr>
              <a:t>Observations (rows)</a:t>
            </a:r>
            <a:endParaRPr lang="en-US" sz="1200" b="0" u="none" strike="noStrike">
              <a:solidFill>
                <a:srgbClr val="000000"/>
              </a:solidFill>
              <a:effectLst/>
              <a:uFillTx/>
              <a:latin typeface="Arial"/>
            </a:endParaRPr>
          </a:p>
        </p:txBody>
      </p:sp>
      <p:sp>
        <p:nvSpPr>
          <p:cNvPr id="79" name="Shape 9"/>
          <p:cNvSpPr/>
          <p:nvPr/>
        </p:nvSpPr>
        <p:spPr>
          <a:xfrm>
            <a:off x="3319200" y="2606040"/>
            <a:ext cx="2697120" cy="1462680"/>
          </a:xfrm>
          <a:prstGeom prst="roundRect">
            <a:avLst>
              <a:gd name="adj" fmla="val 5000"/>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0" name="Text 10"/>
          <p:cNvSpPr/>
          <p:nvPr/>
        </p:nvSpPr>
        <p:spPr>
          <a:xfrm>
            <a:off x="3319200" y="2697480"/>
            <a:ext cx="2697120" cy="776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3200" b="1" u="none" strike="noStrike">
                <a:solidFill>
                  <a:srgbClr val="B85042"/>
                </a:solidFill>
                <a:effectLst/>
                <a:uFillTx/>
                <a:latin typeface="Calibri"/>
                <a:ea typeface="Calibri"/>
              </a:rPr>
              <a:t>42</a:t>
            </a:r>
            <a:endParaRPr lang="en-US" sz="3200" b="0" u="none" strike="noStrike">
              <a:solidFill>
                <a:srgbClr val="000000"/>
              </a:solidFill>
              <a:effectLst/>
              <a:uFillTx/>
              <a:latin typeface="Arial"/>
            </a:endParaRPr>
          </a:p>
        </p:txBody>
      </p:sp>
      <p:sp>
        <p:nvSpPr>
          <p:cNvPr id="81" name="Text 11"/>
          <p:cNvSpPr/>
          <p:nvPr/>
        </p:nvSpPr>
        <p:spPr>
          <a:xfrm>
            <a:off x="3319200" y="3520440"/>
            <a:ext cx="269712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0" u="none" strike="noStrike">
                <a:solidFill>
                  <a:srgbClr val="5B6472"/>
                </a:solidFill>
                <a:effectLst/>
                <a:uFillTx/>
                <a:latin typeface="Calibri"/>
                <a:ea typeface="Calibri"/>
              </a:rPr>
              <a:t>Variables (columns)</a:t>
            </a:r>
            <a:endParaRPr lang="en-US" sz="1200" b="0" u="none" strike="noStrike">
              <a:solidFill>
                <a:srgbClr val="000000"/>
              </a:solidFill>
              <a:effectLst/>
              <a:uFillTx/>
              <a:latin typeface="Arial"/>
            </a:endParaRPr>
          </a:p>
        </p:txBody>
      </p:sp>
      <p:sp>
        <p:nvSpPr>
          <p:cNvPr id="82" name="Shape 12"/>
          <p:cNvSpPr/>
          <p:nvPr/>
        </p:nvSpPr>
        <p:spPr>
          <a:xfrm>
            <a:off x="6181200" y="2606040"/>
            <a:ext cx="2697120" cy="1462680"/>
          </a:xfrm>
          <a:prstGeom prst="roundRect">
            <a:avLst>
              <a:gd name="adj" fmla="val 5000"/>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3" name="Text 13"/>
          <p:cNvSpPr/>
          <p:nvPr/>
        </p:nvSpPr>
        <p:spPr>
          <a:xfrm>
            <a:off x="6181200" y="2697480"/>
            <a:ext cx="2697120" cy="776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3200" b="1" u="none" strike="noStrike">
                <a:solidFill>
                  <a:srgbClr val="B85042"/>
                </a:solidFill>
                <a:effectLst/>
                <a:uFillTx/>
                <a:latin typeface="Calibri"/>
                <a:ea typeface="Calibri"/>
              </a:rPr>
              <a:t>2011–2026</a:t>
            </a:r>
            <a:endParaRPr lang="en-US" sz="3200" b="0" u="none" strike="noStrike">
              <a:solidFill>
                <a:srgbClr val="000000"/>
              </a:solidFill>
              <a:effectLst/>
              <a:uFillTx/>
              <a:latin typeface="Arial"/>
            </a:endParaRPr>
          </a:p>
        </p:txBody>
      </p:sp>
      <p:sp>
        <p:nvSpPr>
          <p:cNvPr id="84" name="Text 14"/>
          <p:cNvSpPr/>
          <p:nvPr/>
        </p:nvSpPr>
        <p:spPr>
          <a:xfrm>
            <a:off x="6181200" y="3520440"/>
            <a:ext cx="269712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0" u="none" strike="noStrike">
                <a:solidFill>
                  <a:srgbClr val="5B6472"/>
                </a:solidFill>
                <a:effectLst/>
                <a:uFillTx/>
                <a:latin typeface="Calibri"/>
                <a:ea typeface="Calibri"/>
              </a:rPr>
              <a:t>Time Coverage</a:t>
            </a:r>
            <a:endParaRPr lang="en-US" sz="1200" b="0" u="none" strike="noStrike">
              <a:solidFill>
                <a:srgbClr val="000000"/>
              </a:solidFill>
              <a:effectLst/>
              <a:uFillTx/>
              <a:latin typeface="Arial"/>
            </a:endParaRPr>
          </a:p>
        </p:txBody>
      </p:sp>
      <p:sp>
        <p:nvSpPr>
          <p:cNvPr id="85" name="Shape 15"/>
          <p:cNvSpPr/>
          <p:nvPr/>
        </p:nvSpPr>
        <p:spPr>
          <a:xfrm>
            <a:off x="9043560" y="2606040"/>
            <a:ext cx="2697120" cy="1462680"/>
          </a:xfrm>
          <a:prstGeom prst="roundRect">
            <a:avLst>
              <a:gd name="adj" fmla="val 5000"/>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6" name="Text 16"/>
          <p:cNvSpPr/>
          <p:nvPr/>
        </p:nvSpPr>
        <p:spPr>
          <a:xfrm>
            <a:off x="9043560" y="2697480"/>
            <a:ext cx="2697120" cy="776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3200" b="1" u="none" strike="noStrike">
                <a:solidFill>
                  <a:srgbClr val="B85042"/>
                </a:solidFill>
                <a:effectLst/>
                <a:uFillTx/>
                <a:latin typeface="Calibri"/>
                <a:ea typeface="Calibri"/>
              </a:rPr>
              <a:t>593</a:t>
            </a:r>
            <a:endParaRPr lang="en-US" sz="3200" b="0" u="none" strike="noStrike">
              <a:solidFill>
                <a:srgbClr val="000000"/>
              </a:solidFill>
              <a:effectLst/>
              <a:uFillTx/>
              <a:latin typeface="Arial"/>
            </a:endParaRPr>
          </a:p>
        </p:txBody>
      </p:sp>
      <p:sp>
        <p:nvSpPr>
          <p:cNvPr id="87" name="Text 17"/>
          <p:cNvSpPr/>
          <p:nvPr/>
        </p:nvSpPr>
        <p:spPr>
          <a:xfrm>
            <a:off x="9043560" y="3520440"/>
            <a:ext cx="269712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0" u="none" strike="noStrike">
                <a:solidFill>
                  <a:srgbClr val="5B6472"/>
                </a:solidFill>
                <a:effectLst/>
                <a:uFillTx/>
                <a:latin typeface="Calibri"/>
                <a:ea typeface="Calibri"/>
              </a:rPr>
              <a:t>Unique Geographic Units</a:t>
            </a:r>
            <a:endParaRPr lang="en-US" sz="1200" b="0" u="none" strike="noStrike">
              <a:solidFill>
                <a:srgbClr val="000000"/>
              </a:solidFill>
              <a:effectLst/>
              <a:uFillTx/>
              <a:latin typeface="Arial"/>
            </a:endParaRPr>
          </a:p>
        </p:txBody>
      </p:sp>
      <p:sp>
        <p:nvSpPr>
          <p:cNvPr id="88" name="Shape 18"/>
          <p:cNvSpPr/>
          <p:nvPr/>
        </p:nvSpPr>
        <p:spPr>
          <a:xfrm>
            <a:off x="457200" y="4251960"/>
            <a:ext cx="5531760" cy="2102760"/>
          </a:xfrm>
          <a:prstGeom prst="roundRect">
            <a:avLst>
              <a:gd name="adj" fmla="val 3478"/>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9" name="Text 19"/>
          <p:cNvSpPr/>
          <p:nvPr/>
        </p:nvSpPr>
        <p:spPr>
          <a:xfrm>
            <a:off x="640080" y="4389120"/>
            <a:ext cx="521172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a:solidFill>
                  <a:srgbClr val="4A7C59"/>
                </a:solidFill>
                <a:effectLst/>
                <a:uFillTx/>
                <a:latin typeface="Calibri"/>
                <a:ea typeface="Calibri"/>
              </a:rPr>
              <a:t>Geographic Unit Types</a:t>
            </a:r>
            <a:endParaRPr lang="en-US" sz="1400" b="0" u="none" strike="noStrike">
              <a:solidFill>
                <a:srgbClr val="000000"/>
              </a:solidFill>
              <a:effectLst/>
              <a:uFillTx/>
              <a:latin typeface="Arial"/>
            </a:endParaRPr>
          </a:p>
        </p:txBody>
      </p:sp>
      <p:sp>
        <p:nvSpPr>
          <p:cNvPr id="90" name="Text 20"/>
          <p:cNvSpPr/>
          <p:nvPr/>
        </p:nvSpPr>
        <p:spPr>
          <a:xfrm>
            <a:off x="640080" y="4800600"/>
            <a:ext cx="5211720" cy="1462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43080" indent="-343080" defTabSz="914400">
              <a:lnSpc>
                <a:spcPct val="100000"/>
              </a:lnSpc>
              <a:spcAft>
                <a:spcPts val="601"/>
              </a:spcAft>
              <a:buClr>
                <a:srgbClr val="1F2937"/>
              </a:buClr>
              <a:buFont typeface="OpenSymbol"/>
              <a:buChar char="■"/>
            </a:pPr>
            <a:r>
              <a:rPr lang="en-US" sz="1200" b="0" u="none" strike="noStrike">
                <a:solidFill>
                  <a:srgbClr val="1F2937"/>
                </a:solidFill>
                <a:effectLst/>
                <a:uFillTx/>
                <a:latin typeface="Calibri"/>
                <a:ea typeface="Calibri"/>
              </a:rPr>
              <a:t>Administrative units</a:t>
            </a:r>
            <a:endParaRPr lang="en-US" sz="1200" b="0" u="none" strike="noStrike">
              <a:solidFill>
                <a:srgbClr val="000000"/>
              </a:solidFill>
              <a:effectLst/>
              <a:uFillTx/>
              <a:latin typeface="Arial"/>
            </a:endParaRPr>
          </a:p>
          <a:p>
            <a:pPr marL="343080" indent="-343080" defTabSz="914400">
              <a:lnSpc>
                <a:spcPct val="100000"/>
              </a:lnSpc>
              <a:spcAft>
                <a:spcPts val="601"/>
              </a:spcAft>
              <a:buClr>
                <a:srgbClr val="1F2937"/>
              </a:buClr>
              <a:buFont typeface="OpenSymbol"/>
              <a:buChar char="■"/>
            </a:pPr>
            <a:r>
              <a:rPr lang="en-US" sz="1200" b="0" u="none" strike="noStrike">
                <a:solidFill>
                  <a:srgbClr val="1F2937"/>
                </a:solidFill>
                <a:effectLst/>
                <a:uFillTx/>
                <a:latin typeface="Calibri"/>
                <a:ea typeface="Calibri"/>
              </a:rPr>
              <a:t>Administrative livelihood zones</a:t>
            </a:r>
            <a:endParaRPr lang="en-US" sz="1200" b="0" u="none" strike="noStrike">
              <a:solidFill>
                <a:srgbClr val="000000"/>
              </a:solidFill>
              <a:effectLst/>
              <a:uFillTx/>
              <a:latin typeface="Arial"/>
            </a:endParaRPr>
          </a:p>
          <a:p>
            <a:pPr marL="343080" indent="-343080" defTabSz="914400">
              <a:lnSpc>
                <a:spcPct val="100000"/>
              </a:lnSpc>
              <a:spcAft>
                <a:spcPts val="601"/>
              </a:spcAft>
              <a:buClr>
                <a:srgbClr val="1F2937"/>
              </a:buClr>
              <a:buFont typeface="OpenSymbol"/>
              <a:buChar char="■"/>
            </a:pPr>
            <a:r>
              <a:rPr lang="en-US" sz="1200" b="0" u="none" strike="noStrike">
                <a:solidFill>
                  <a:srgbClr val="1F2937"/>
                </a:solidFill>
                <a:effectLst/>
                <a:uFillTx/>
                <a:latin typeface="Calibri"/>
                <a:ea typeface="Calibri"/>
              </a:rPr>
              <a:t>Internally Displaced Persons (IDP) camps</a:t>
            </a:r>
            <a:endParaRPr lang="en-US" sz="1200" b="0" u="none" strike="noStrike">
              <a:solidFill>
                <a:srgbClr val="000000"/>
              </a:solidFill>
              <a:effectLst/>
              <a:uFillTx/>
              <a:latin typeface="Arial"/>
            </a:endParaRPr>
          </a:p>
          <a:p>
            <a:pPr marL="343080" indent="-343080" defTabSz="914400">
              <a:lnSpc>
                <a:spcPct val="100000"/>
              </a:lnSpc>
              <a:spcAft>
                <a:spcPts val="601"/>
              </a:spcAft>
              <a:buClr>
                <a:srgbClr val="1F2937"/>
              </a:buClr>
              <a:buFont typeface="OpenSymbol"/>
              <a:buChar char="■"/>
            </a:pPr>
            <a:r>
              <a:rPr lang="en-US" sz="1200" b="0" u="none" strike="noStrike">
                <a:solidFill>
                  <a:srgbClr val="1F2937"/>
                </a:solidFill>
                <a:effectLst/>
                <a:uFillTx/>
                <a:latin typeface="Calibri"/>
                <a:ea typeface="Calibri"/>
              </a:rPr>
              <a:t>Repeated IPC assessment periods over time</a:t>
            </a:r>
            <a:endParaRPr lang="en-US" sz="1200" b="0" u="none" strike="noStrike">
              <a:solidFill>
                <a:srgbClr val="000000"/>
              </a:solidFill>
              <a:effectLst/>
              <a:uFillTx/>
              <a:latin typeface="Arial"/>
            </a:endParaRPr>
          </a:p>
        </p:txBody>
      </p:sp>
      <p:sp>
        <p:nvSpPr>
          <p:cNvPr id="91" name="Shape 21"/>
          <p:cNvSpPr/>
          <p:nvPr/>
        </p:nvSpPr>
        <p:spPr>
          <a:xfrm>
            <a:off x="6172200" y="4251960"/>
            <a:ext cx="5531760" cy="2102760"/>
          </a:xfrm>
          <a:prstGeom prst="roundRect">
            <a:avLst>
              <a:gd name="adj" fmla="val 3478"/>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2" name="Text 22"/>
          <p:cNvSpPr/>
          <p:nvPr/>
        </p:nvSpPr>
        <p:spPr>
          <a:xfrm>
            <a:off x="6355080" y="4389120"/>
            <a:ext cx="521172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a:solidFill>
                  <a:srgbClr val="4A7C59"/>
                </a:solidFill>
                <a:effectLst/>
                <a:uFillTx/>
                <a:latin typeface="Calibri"/>
                <a:ea typeface="Calibri"/>
              </a:rPr>
              <a:t>Key Variables Captured</a:t>
            </a:r>
            <a:endParaRPr lang="en-US" sz="1400" b="0" u="none" strike="noStrike">
              <a:solidFill>
                <a:srgbClr val="000000"/>
              </a:solidFill>
              <a:effectLst/>
              <a:uFillTx/>
              <a:latin typeface="Arial"/>
            </a:endParaRPr>
          </a:p>
        </p:txBody>
      </p:sp>
      <p:sp>
        <p:nvSpPr>
          <p:cNvPr id="93" name="Text 23"/>
          <p:cNvSpPr/>
          <p:nvPr/>
        </p:nvSpPr>
        <p:spPr>
          <a:xfrm>
            <a:off x="6355080" y="4800600"/>
            <a:ext cx="5211720" cy="1462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43080" indent="-343080" defTabSz="914400">
              <a:lnSpc>
                <a:spcPct val="100000"/>
              </a:lnSpc>
              <a:spcAft>
                <a:spcPts val="601"/>
              </a:spcAft>
              <a:buClr>
                <a:srgbClr val="1F2937"/>
              </a:buClr>
              <a:buFont typeface="OpenSymbol"/>
              <a:buChar char="■"/>
            </a:pPr>
            <a:r>
              <a:rPr lang="en-US" sz="1200" b="0" u="none" strike="noStrike">
                <a:solidFill>
                  <a:srgbClr val="1F2937"/>
                </a:solidFill>
                <a:effectLst/>
                <a:uFillTx/>
                <a:latin typeface="Calibri"/>
                <a:ea typeface="Calibri"/>
              </a:rPr>
              <a:t>Projection start / end dates</a:t>
            </a:r>
            <a:endParaRPr lang="en-US" sz="1200" b="0" u="none" strike="noStrike">
              <a:solidFill>
                <a:srgbClr val="000000"/>
              </a:solidFill>
              <a:effectLst/>
              <a:uFillTx/>
              <a:latin typeface="Arial"/>
            </a:endParaRPr>
          </a:p>
          <a:p>
            <a:pPr marL="343080" indent="-343080" defTabSz="914400">
              <a:lnSpc>
                <a:spcPct val="100000"/>
              </a:lnSpc>
              <a:spcAft>
                <a:spcPts val="601"/>
              </a:spcAft>
              <a:buClr>
                <a:srgbClr val="1F2937"/>
              </a:buClr>
              <a:buFont typeface="OpenSymbol"/>
              <a:buChar char="■"/>
            </a:pPr>
            <a:r>
              <a:rPr lang="en-US" sz="1200" b="0" u="none" strike="noStrike">
                <a:solidFill>
                  <a:srgbClr val="1F2937"/>
                </a:solidFill>
                <a:effectLst/>
                <a:uFillTx/>
                <a:latin typeface="Calibri"/>
                <a:ea typeface="Calibri"/>
              </a:rPr>
              <a:t>Geographic identifiers &amp; admin units</a:t>
            </a:r>
            <a:endParaRPr lang="en-US" sz="1200" b="0" u="none" strike="noStrike">
              <a:solidFill>
                <a:srgbClr val="000000"/>
              </a:solidFill>
              <a:effectLst/>
              <a:uFillTx/>
              <a:latin typeface="Arial"/>
            </a:endParaRPr>
          </a:p>
          <a:p>
            <a:pPr marL="343080" indent="-343080" defTabSz="914400">
              <a:lnSpc>
                <a:spcPct val="100000"/>
              </a:lnSpc>
              <a:spcAft>
                <a:spcPts val="601"/>
              </a:spcAft>
              <a:buClr>
                <a:srgbClr val="1F2937"/>
              </a:buClr>
              <a:buFont typeface="OpenSymbol"/>
              <a:buChar char="■"/>
            </a:pPr>
            <a:r>
              <a:rPr lang="en-US" sz="1200" b="0" u="none" strike="noStrike">
                <a:solidFill>
                  <a:srgbClr val="1F2937"/>
                </a:solidFill>
                <a:effectLst/>
                <a:uFillTx/>
                <a:latin typeface="Calibri"/>
                <a:ea typeface="Calibri"/>
              </a:rPr>
              <a:t>IPC phase value (1–5) and description</a:t>
            </a:r>
            <a:endParaRPr lang="en-US" sz="1200" b="0" u="none" strike="noStrike">
              <a:solidFill>
                <a:srgbClr val="000000"/>
              </a:solidFill>
              <a:effectLst/>
              <a:uFillTx/>
              <a:latin typeface="Arial"/>
            </a:endParaRPr>
          </a:p>
          <a:p>
            <a:pPr marL="343080" indent="-343080" defTabSz="914400">
              <a:lnSpc>
                <a:spcPct val="100000"/>
              </a:lnSpc>
              <a:spcAft>
                <a:spcPts val="601"/>
              </a:spcAft>
              <a:buClr>
                <a:srgbClr val="1F2937"/>
              </a:buClr>
              <a:buFont typeface="OpenSymbol"/>
              <a:buChar char="■"/>
            </a:pPr>
            <a:r>
              <a:rPr lang="en-US" sz="1200" b="0" u="none" strike="noStrike">
                <a:solidFill>
                  <a:srgbClr val="1F2937"/>
                </a:solidFill>
                <a:effectLst/>
                <a:uFillTx/>
                <a:latin typeface="Calibri"/>
                <a:ea typeface="Calibri"/>
              </a:rPr>
              <a:t>Classification scale (IPC 2.0 vs older)</a:t>
            </a:r>
            <a:endParaRPr lang="en-US" sz="1200" b="0" u="none" strike="noStrike">
              <a:solidFill>
                <a:srgbClr val="000000"/>
              </a:solidFill>
              <a:effectLst/>
              <a:uFillTx/>
              <a:latin typeface="Arial"/>
            </a:endParaRPr>
          </a:p>
          <a:p>
            <a:pPr marL="343080" indent="-343080" defTabSz="914400">
              <a:lnSpc>
                <a:spcPct val="100000"/>
              </a:lnSpc>
              <a:spcAft>
                <a:spcPts val="601"/>
              </a:spcAft>
              <a:buClr>
                <a:srgbClr val="1F2937"/>
              </a:buClr>
              <a:buFont typeface="OpenSymbol"/>
              <a:buChar char="■"/>
            </a:pPr>
            <a:r>
              <a:rPr lang="en-US" sz="1200" b="0" u="none" strike="noStrike">
                <a:solidFill>
                  <a:srgbClr val="1F2937"/>
                </a:solidFill>
                <a:effectLst/>
                <a:uFillTx/>
                <a:latin typeface="Calibri"/>
                <a:ea typeface="Calibri"/>
              </a:rPr>
              <a:t>Scenario metadata &amp; assessment info</a:t>
            </a:r>
            <a:endParaRPr lang="en-US" sz="1200" b="0" u="none" strike="noStrike">
              <a:solidFill>
                <a:srgbClr val="000000"/>
              </a:solidFill>
              <a:effectLst/>
              <a:uFillTx/>
              <a:latin typeface="Arial"/>
            </a:endParaRPr>
          </a:p>
        </p:txBody>
      </p:sp>
      <p:sp>
        <p:nvSpPr>
          <p:cNvPr id="94" name="Text 24"/>
          <p:cNvSpPr/>
          <p:nvPr/>
        </p:nvSpPr>
        <p:spPr>
          <a:xfrm>
            <a:off x="45720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5B6472"/>
                </a:solidFill>
                <a:effectLst/>
                <a:uFillTx/>
                <a:latin typeface="Calibri"/>
                <a:ea typeface="Calibri"/>
              </a:rPr>
              <a:t>Kenya Food Security Forecasting  |  IPC Time-Series Study</a:t>
            </a:r>
            <a:endParaRPr lang="en-US" sz="1000" b="0" u="none" strike="noStrike">
              <a:solidFill>
                <a:srgbClr val="000000"/>
              </a:solidFill>
              <a:effectLst/>
              <a:uFillTx/>
              <a:latin typeface="Arial"/>
            </a:endParaRPr>
          </a:p>
        </p:txBody>
      </p:sp>
      <p:sp>
        <p:nvSpPr>
          <p:cNvPr id="95" name="Text 25"/>
          <p:cNvSpPr/>
          <p:nvPr/>
        </p:nvSpPr>
        <p:spPr>
          <a:xfrm>
            <a:off x="11338560" y="6537960"/>
            <a:ext cx="4568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000" b="0" u="none" strike="noStrike">
                <a:solidFill>
                  <a:srgbClr val="5B6472"/>
                </a:solidFill>
                <a:effectLst/>
                <a:uFillTx/>
                <a:latin typeface="Calibri"/>
                <a:ea typeface="Calibri"/>
              </a:rPr>
              <a:t>5</a:t>
            </a:r>
            <a:endParaRPr lang="en-US" sz="1000" b="0" u="none" strike="noStrike">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96" name="Shape 0"/>
          <p:cNvSpPr/>
          <p:nvPr/>
        </p:nvSpPr>
        <p:spPr>
          <a:xfrm>
            <a:off x="0" y="0"/>
            <a:ext cx="12188520" cy="822600"/>
          </a:xfrm>
          <a:prstGeom prst="rect">
            <a:avLst/>
          </a:prstGeom>
          <a:solidFill>
            <a:srgbClr val="2C3E50"/>
          </a:solidFill>
          <a:ln w="12700">
            <a:solidFill>
              <a:srgbClr val="2C3E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7" name="Text 1"/>
          <p:cNvSpPr/>
          <p:nvPr/>
        </p:nvSpPr>
        <p:spPr>
          <a:xfrm>
            <a:off x="457200" y="13716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spc="400">
                <a:solidFill>
                  <a:srgbClr val="B85042"/>
                </a:solidFill>
                <a:effectLst/>
                <a:uFillTx/>
                <a:latin typeface="Calibri"/>
                <a:ea typeface="Calibri"/>
              </a:rPr>
              <a:t>PIPELINE</a:t>
            </a:r>
            <a:endParaRPr lang="en-US" sz="1200" b="0" u="none" strike="noStrike">
              <a:solidFill>
                <a:srgbClr val="000000"/>
              </a:solidFill>
              <a:effectLst/>
              <a:uFillTx/>
              <a:latin typeface="Arial"/>
            </a:endParaRPr>
          </a:p>
        </p:txBody>
      </p:sp>
      <p:sp>
        <p:nvSpPr>
          <p:cNvPr id="98" name="Text 2"/>
          <p:cNvSpPr/>
          <p:nvPr/>
        </p:nvSpPr>
        <p:spPr>
          <a:xfrm>
            <a:off x="457200" y="347400"/>
            <a:ext cx="109724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FFFFFF"/>
                </a:solidFill>
                <a:effectLst/>
                <a:uFillTx/>
                <a:latin typeface="Calibri"/>
                <a:ea typeface="Calibri"/>
              </a:rPr>
              <a:t>Data Cleaning &amp; Preprocessing</a:t>
            </a:r>
            <a:endParaRPr lang="en-US" sz="2600" b="0" u="none" strike="noStrike">
              <a:solidFill>
                <a:srgbClr val="000000"/>
              </a:solidFill>
              <a:effectLst/>
              <a:uFillTx/>
              <a:latin typeface="Arial"/>
            </a:endParaRPr>
          </a:p>
        </p:txBody>
      </p:sp>
      <p:sp>
        <p:nvSpPr>
          <p:cNvPr id="99" name="Shape 3"/>
          <p:cNvSpPr/>
          <p:nvPr/>
        </p:nvSpPr>
        <p:spPr>
          <a:xfrm>
            <a:off x="457200" y="960120"/>
            <a:ext cx="1097280" cy="360"/>
          </a:xfrm>
          <a:prstGeom prst="line">
            <a:avLst/>
          </a:prstGeom>
          <a:ln w="38100">
            <a:solidFill>
              <a:srgbClr val="B85042"/>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00" name="Shape 4"/>
          <p:cNvSpPr/>
          <p:nvPr/>
        </p:nvSpPr>
        <p:spPr>
          <a:xfrm>
            <a:off x="502920" y="1353240"/>
            <a:ext cx="502560" cy="502560"/>
          </a:xfrm>
          <a:prstGeom prst="ellipse">
            <a:avLst/>
          </a:prstGeom>
          <a:solidFill>
            <a:srgbClr val="B85042"/>
          </a:solidFill>
          <a:ln w="12700">
            <a:solidFill>
              <a:srgbClr val="B8504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1" name="Text 5"/>
          <p:cNvSpPr/>
          <p:nvPr/>
        </p:nvSpPr>
        <p:spPr>
          <a:xfrm>
            <a:off x="502920" y="1353240"/>
            <a:ext cx="502560" cy="50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1</a:t>
            </a:r>
            <a:endParaRPr lang="en-US" sz="1400" b="0" u="none" strike="noStrike">
              <a:solidFill>
                <a:srgbClr val="000000"/>
              </a:solidFill>
              <a:effectLst/>
              <a:uFillTx/>
              <a:latin typeface="Arial"/>
            </a:endParaRPr>
          </a:p>
        </p:txBody>
      </p:sp>
      <p:sp>
        <p:nvSpPr>
          <p:cNvPr id="102" name="Text 6"/>
          <p:cNvSpPr/>
          <p:nvPr/>
        </p:nvSpPr>
        <p:spPr>
          <a:xfrm>
            <a:off x="1188720" y="1298520"/>
            <a:ext cx="105152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a:solidFill>
                  <a:srgbClr val="2C3E50"/>
                </a:solidFill>
                <a:effectLst/>
                <a:uFillTx/>
                <a:latin typeface="Calibri"/>
                <a:ea typeface="Calibri"/>
              </a:rPr>
              <a:t>Removed duplicates</a:t>
            </a:r>
            <a:endParaRPr lang="en-US" sz="1400" b="0" u="none" strike="noStrike">
              <a:solidFill>
                <a:srgbClr val="000000"/>
              </a:solidFill>
              <a:effectLst/>
              <a:uFillTx/>
              <a:latin typeface="Arial"/>
            </a:endParaRPr>
          </a:p>
        </p:txBody>
      </p:sp>
      <p:sp>
        <p:nvSpPr>
          <p:cNvPr id="103" name="Text 7"/>
          <p:cNvSpPr/>
          <p:nvPr/>
        </p:nvSpPr>
        <p:spPr>
          <a:xfrm>
            <a:off x="1188720" y="1609200"/>
            <a:ext cx="1051524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0" u="none" strike="noStrike">
                <a:solidFill>
                  <a:srgbClr val="5B6472"/>
                </a:solidFill>
                <a:effectLst/>
                <a:uFillTx/>
                <a:latin typeface="Calibri"/>
                <a:ea typeface="Calibri"/>
              </a:rPr>
              <a:t>Dropped repeated rows to prevent bias and inflated frequencies.</a:t>
            </a:r>
            <a:endParaRPr lang="en-US" sz="1100" b="0" u="none" strike="noStrike">
              <a:solidFill>
                <a:srgbClr val="000000"/>
              </a:solidFill>
              <a:effectLst/>
              <a:uFillTx/>
              <a:latin typeface="Arial"/>
            </a:endParaRPr>
          </a:p>
        </p:txBody>
      </p:sp>
      <p:sp>
        <p:nvSpPr>
          <p:cNvPr id="104" name="Shape 8"/>
          <p:cNvSpPr/>
          <p:nvPr/>
        </p:nvSpPr>
        <p:spPr>
          <a:xfrm>
            <a:off x="502920" y="2066400"/>
            <a:ext cx="502560" cy="502560"/>
          </a:xfrm>
          <a:prstGeom prst="ellipse">
            <a:avLst/>
          </a:prstGeom>
          <a:solidFill>
            <a:srgbClr val="B85042"/>
          </a:solidFill>
          <a:ln w="12700">
            <a:solidFill>
              <a:srgbClr val="B8504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5" name="Text 9"/>
          <p:cNvSpPr/>
          <p:nvPr/>
        </p:nvSpPr>
        <p:spPr>
          <a:xfrm>
            <a:off x="502920" y="2066400"/>
            <a:ext cx="502560" cy="50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2</a:t>
            </a:r>
            <a:endParaRPr lang="en-US" sz="1400" b="0" u="none" strike="noStrike">
              <a:solidFill>
                <a:srgbClr val="000000"/>
              </a:solidFill>
              <a:effectLst/>
              <a:uFillTx/>
              <a:latin typeface="Arial"/>
            </a:endParaRPr>
          </a:p>
        </p:txBody>
      </p:sp>
      <p:sp>
        <p:nvSpPr>
          <p:cNvPr id="106" name="Text 10"/>
          <p:cNvSpPr/>
          <p:nvPr/>
        </p:nvSpPr>
        <p:spPr>
          <a:xfrm>
            <a:off x="1188720" y="2011680"/>
            <a:ext cx="105152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a:solidFill>
                  <a:srgbClr val="2C3E50"/>
                </a:solidFill>
                <a:effectLst/>
                <a:uFillTx/>
                <a:latin typeface="Calibri"/>
                <a:ea typeface="Calibri"/>
              </a:rPr>
              <a:t>Handled missing values</a:t>
            </a:r>
            <a:endParaRPr lang="en-US" sz="1400" b="0" u="none" strike="noStrike">
              <a:solidFill>
                <a:srgbClr val="000000"/>
              </a:solidFill>
              <a:effectLst/>
              <a:uFillTx/>
              <a:latin typeface="Arial"/>
            </a:endParaRPr>
          </a:p>
        </p:txBody>
      </p:sp>
      <p:sp>
        <p:nvSpPr>
          <p:cNvPr id="107" name="Text 11"/>
          <p:cNvSpPr/>
          <p:nvPr/>
        </p:nvSpPr>
        <p:spPr>
          <a:xfrm>
            <a:off x="1188720" y="2322720"/>
            <a:ext cx="1051524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0" u="none" strike="noStrike">
                <a:solidFill>
                  <a:srgbClr val="5B6472"/>
                </a:solidFill>
                <a:effectLst/>
                <a:uFillTx/>
                <a:latin typeface="Calibri"/>
                <a:ea typeface="Calibri"/>
              </a:rPr>
              <a:t>Assessed nullness per column, dropped uninformative fields, kept valid IPC rows.</a:t>
            </a:r>
            <a:endParaRPr lang="en-US" sz="1100" b="0" u="none" strike="noStrike">
              <a:solidFill>
                <a:srgbClr val="000000"/>
              </a:solidFill>
              <a:effectLst/>
              <a:uFillTx/>
              <a:latin typeface="Arial"/>
            </a:endParaRPr>
          </a:p>
        </p:txBody>
      </p:sp>
      <p:sp>
        <p:nvSpPr>
          <p:cNvPr id="108" name="Shape 12"/>
          <p:cNvSpPr/>
          <p:nvPr/>
        </p:nvSpPr>
        <p:spPr>
          <a:xfrm>
            <a:off x="502920" y="2779920"/>
            <a:ext cx="502560" cy="502560"/>
          </a:xfrm>
          <a:prstGeom prst="ellipse">
            <a:avLst/>
          </a:prstGeom>
          <a:solidFill>
            <a:srgbClr val="B85042"/>
          </a:solidFill>
          <a:ln w="12700">
            <a:solidFill>
              <a:srgbClr val="B8504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9" name="Text 13"/>
          <p:cNvSpPr/>
          <p:nvPr/>
        </p:nvSpPr>
        <p:spPr>
          <a:xfrm>
            <a:off x="502920" y="2779920"/>
            <a:ext cx="502560" cy="50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3</a:t>
            </a:r>
            <a:endParaRPr lang="en-US" sz="1400" b="0" u="none" strike="noStrike">
              <a:solidFill>
                <a:srgbClr val="000000"/>
              </a:solidFill>
              <a:effectLst/>
              <a:uFillTx/>
              <a:latin typeface="Arial"/>
            </a:endParaRPr>
          </a:p>
        </p:txBody>
      </p:sp>
      <p:sp>
        <p:nvSpPr>
          <p:cNvPr id="110" name="Text 14"/>
          <p:cNvSpPr/>
          <p:nvPr/>
        </p:nvSpPr>
        <p:spPr>
          <a:xfrm>
            <a:off x="1188720" y="2724840"/>
            <a:ext cx="105152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a:solidFill>
                  <a:srgbClr val="2C3E50"/>
                </a:solidFill>
                <a:effectLst/>
                <a:uFillTx/>
                <a:latin typeface="Calibri"/>
                <a:ea typeface="Calibri"/>
              </a:rPr>
              <a:t>Datetime conversion</a:t>
            </a:r>
            <a:endParaRPr lang="en-US" sz="1400" b="0" u="none" strike="noStrike">
              <a:solidFill>
                <a:srgbClr val="000000"/>
              </a:solidFill>
              <a:effectLst/>
              <a:uFillTx/>
              <a:latin typeface="Arial"/>
            </a:endParaRPr>
          </a:p>
        </p:txBody>
      </p:sp>
      <p:sp>
        <p:nvSpPr>
          <p:cNvPr id="111" name="Text 15"/>
          <p:cNvSpPr/>
          <p:nvPr/>
        </p:nvSpPr>
        <p:spPr>
          <a:xfrm>
            <a:off x="1188720" y="3035880"/>
            <a:ext cx="1051524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0" u="none" strike="noStrike">
                <a:solidFill>
                  <a:srgbClr val="5B6472"/>
                </a:solidFill>
                <a:effectLst/>
                <a:uFillTx/>
                <a:latin typeface="Calibri"/>
                <a:ea typeface="Calibri"/>
              </a:rPr>
              <a:t>Parsed projection_start, projection_end, reporting_date into pandas datetime.</a:t>
            </a:r>
            <a:endParaRPr lang="en-US" sz="1100" b="0" u="none" strike="noStrike">
              <a:solidFill>
                <a:srgbClr val="000000"/>
              </a:solidFill>
              <a:effectLst/>
              <a:uFillTx/>
              <a:latin typeface="Arial"/>
            </a:endParaRPr>
          </a:p>
        </p:txBody>
      </p:sp>
      <p:sp>
        <p:nvSpPr>
          <p:cNvPr id="112" name="Shape 16"/>
          <p:cNvSpPr/>
          <p:nvPr/>
        </p:nvSpPr>
        <p:spPr>
          <a:xfrm>
            <a:off x="502920" y="3493080"/>
            <a:ext cx="502560" cy="502560"/>
          </a:xfrm>
          <a:prstGeom prst="ellipse">
            <a:avLst/>
          </a:prstGeom>
          <a:solidFill>
            <a:srgbClr val="B85042"/>
          </a:solidFill>
          <a:ln w="12700">
            <a:solidFill>
              <a:srgbClr val="B8504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3" name="Text 17"/>
          <p:cNvSpPr/>
          <p:nvPr/>
        </p:nvSpPr>
        <p:spPr>
          <a:xfrm>
            <a:off x="502920" y="3493080"/>
            <a:ext cx="502560" cy="50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4</a:t>
            </a:r>
            <a:endParaRPr lang="en-US" sz="1400" b="0" u="none" strike="noStrike">
              <a:solidFill>
                <a:srgbClr val="000000"/>
              </a:solidFill>
              <a:effectLst/>
              <a:uFillTx/>
              <a:latin typeface="Arial"/>
            </a:endParaRPr>
          </a:p>
        </p:txBody>
      </p:sp>
      <p:sp>
        <p:nvSpPr>
          <p:cNvPr id="114" name="Text 18"/>
          <p:cNvSpPr/>
          <p:nvPr/>
        </p:nvSpPr>
        <p:spPr>
          <a:xfrm>
            <a:off x="1188720" y="3438000"/>
            <a:ext cx="105152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a:solidFill>
                  <a:srgbClr val="2C3E50"/>
                </a:solidFill>
                <a:effectLst/>
                <a:uFillTx/>
                <a:latin typeface="Calibri"/>
                <a:ea typeface="Calibri"/>
              </a:rPr>
              <a:t>Sorted chronologically</a:t>
            </a:r>
            <a:endParaRPr lang="en-US" sz="1400" b="0" u="none" strike="noStrike">
              <a:solidFill>
                <a:srgbClr val="000000"/>
              </a:solidFill>
              <a:effectLst/>
              <a:uFillTx/>
              <a:latin typeface="Arial"/>
            </a:endParaRPr>
          </a:p>
        </p:txBody>
      </p:sp>
      <p:sp>
        <p:nvSpPr>
          <p:cNvPr id="115" name="Text 19"/>
          <p:cNvSpPr/>
          <p:nvPr/>
        </p:nvSpPr>
        <p:spPr>
          <a:xfrm>
            <a:off x="1188720" y="3749040"/>
            <a:ext cx="1051524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0" u="none" strike="noStrike">
                <a:solidFill>
                  <a:srgbClr val="5B6472"/>
                </a:solidFill>
                <a:effectLst/>
                <a:uFillTx/>
                <a:latin typeface="Calibri"/>
                <a:ea typeface="Calibri"/>
              </a:rPr>
              <a:t>Ordered records by reporting date within each geographic unit.</a:t>
            </a:r>
            <a:endParaRPr lang="en-US" sz="1100" b="0" u="none" strike="noStrike">
              <a:solidFill>
                <a:srgbClr val="000000"/>
              </a:solidFill>
              <a:effectLst/>
              <a:uFillTx/>
              <a:latin typeface="Arial"/>
            </a:endParaRPr>
          </a:p>
        </p:txBody>
      </p:sp>
      <p:sp>
        <p:nvSpPr>
          <p:cNvPr id="116" name="Shape 20"/>
          <p:cNvSpPr/>
          <p:nvPr/>
        </p:nvSpPr>
        <p:spPr>
          <a:xfrm>
            <a:off x="502920" y="4206240"/>
            <a:ext cx="502560" cy="502560"/>
          </a:xfrm>
          <a:prstGeom prst="ellipse">
            <a:avLst/>
          </a:prstGeom>
          <a:solidFill>
            <a:srgbClr val="B85042"/>
          </a:solidFill>
          <a:ln w="12700">
            <a:solidFill>
              <a:srgbClr val="B8504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7" name="Text 21"/>
          <p:cNvSpPr/>
          <p:nvPr/>
        </p:nvSpPr>
        <p:spPr>
          <a:xfrm>
            <a:off x="502920" y="4206240"/>
            <a:ext cx="502560" cy="50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5</a:t>
            </a:r>
            <a:endParaRPr lang="en-US" sz="1400" b="0" u="none" strike="noStrike">
              <a:solidFill>
                <a:srgbClr val="000000"/>
              </a:solidFill>
              <a:effectLst/>
              <a:uFillTx/>
              <a:latin typeface="Arial"/>
            </a:endParaRPr>
          </a:p>
        </p:txBody>
      </p:sp>
      <p:sp>
        <p:nvSpPr>
          <p:cNvPr id="118" name="Text 22"/>
          <p:cNvSpPr/>
          <p:nvPr/>
        </p:nvSpPr>
        <p:spPr>
          <a:xfrm>
            <a:off x="1188720" y="4151520"/>
            <a:ext cx="105152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a:solidFill>
                  <a:srgbClr val="2C3E50"/>
                </a:solidFill>
                <a:effectLst/>
                <a:uFillTx/>
                <a:latin typeface="Calibri"/>
                <a:ea typeface="Calibri"/>
              </a:rPr>
              <a:t>Standardized categoricals</a:t>
            </a:r>
            <a:endParaRPr lang="en-US" sz="1400" b="0" u="none" strike="noStrike">
              <a:solidFill>
                <a:srgbClr val="000000"/>
              </a:solidFill>
              <a:effectLst/>
              <a:uFillTx/>
              <a:latin typeface="Arial"/>
            </a:endParaRPr>
          </a:p>
        </p:txBody>
      </p:sp>
      <p:sp>
        <p:nvSpPr>
          <p:cNvPr id="119" name="Text 23"/>
          <p:cNvSpPr/>
          <p:nvPr/>
        </p:nvSpPr>
        <p:spPr>
          <a:xfrm>
            <a:off x="1188720" y="4462200"/>
            <a:ext cx="1051524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0" u="none" strike="noStrike">
                <a:solidFill>
                  <a:srgbClr val="5B6472"/>
                </a:solidFill>
                <a:effectLst/>
                <a:uFillTx/>
                <a:latin typeface="Calibri"/>
                <a:ea typeface="Calibri"/>
              </a:rPr>
              <a:t>Cleaned scenario_name, classification_scale, and unit_type labels.</a:t>
            </a:r>
            <a:endParaRPr lang="en-US" sz="1100" b="0" u="none" strike="noStrike">
              <a:solidFill>
                <a:srgbClr val="000000"/>
              </a:solidFill>
              <a:effectLst/>
              <a:uFillTx/>
              <a:latin typeface="Arial"/>
            </a:endParaRPr>
          </a:p>
        </p:txBody>
      </p:sp>
      <p:sp>
        <p:nvSpPr>
          <p:cNvPr id="120" name="Shape 24"/>
          <p:cNvSpPr/>
          <p:nvPr/>
        </p:nvSpPr>
        <p:spPr>
          <a:xfrm>
            <a:off x="502920" y="4919400"/>
            <a:ext cx="502560" cy="502560"/>
          </a:xfrm>
          <a:prstGeom prst="ellipse">
            <a:avLst/>
          </a:prstGeom>
          <a:solidFill>
            <a:srgbClr val="B85042"/>
          </a:solidFill>
          <a:ln w="12700">
            <a:solidFill>
              <a:srgbClr val="B8504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1" name="Text 25"/>
          <p:cNvSpPr/>
          <p:nvPr/>
        </p:nvSpPr>
        <p:spPr>
          <a:xfrm>
            <a:off x="502920" y="4919400"/>
            <a:ext cx="502560" cy="50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6</a:t>
            </a:r>
            <a:endParaRPr lang="en-US" sz="1400" b="0" u="none" strike="noStrike">
              <a:solidFill>
                <a:srgbClr val="000000"/>
              </a:solidFill>
              <a:effectLst/>
              <a:uFillTx/>
              <a:latin typeface="Arial"/>
            </a:endParaRPr>
          </a:p>
        </p:txBody>
      </p:sp>
      <p:sp>
        <p:nvSpPr>
          <p:cNvPr id="122" name="Text 26"/>
          <p:cNvSpPr/>
          <p:nvPr/>
        </p:nvSpPr>
        <p:spPr>
          <a:xfrm>
            <a:off x="1188720" y="4864680"/>
            <a:ext cx="105152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a:solidFill>
                  <a:srgbClr val="2C3E50"/>
                </a:solidFill>
                <a:effectLst/>
                <a:uFillTx/>
                <a:latin typeface="Calibri"/>
                <a:ea typeface="Calibri"/>
              </a:rPr>
              <a:t>Selected relevant variables</a:t>
            </a:r>
            <a:endParaRPr lang="en-US" sz="1400" b="0" u="none" strike="noStrike">
              <a:solidFill>
                <a:srgbClr val="000000"/>
              </a:solidFill>
              <a:effectLst/>
              <a:uFillTx/>
              <a:latin typeface="Arial"/>
            </a:endParaRPr>
          </a:p>
        </p:txBody>
      </p:sp>
      <p:sp>
        <p:nvSpPr>
          <p:cNvPr id="123" name="Text 27"/>
          <p:cNvSpPr/>
          <p:nvPr/>
        </p:nvSpPr>
        <p:spPr>
          <a:xfrm>
            <a:off x="1188720" y="5175360"/>
            <a:ext cx="1051524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0" u="none" strike="noStrike">
                <a:solidFill>
                  <a:srgbClr val="5B6472"/>
                </a:solidFill>
                <a:effectLst/>
                <a:uFillTx/>
                <a:latin typeface="Calibri"/>
                <a:ea typeface="Calibri"/>
              </a:rPr>
              <a:t>Kept only fields useful for forecasting → final cleaned shape ~27,694 × 12.</a:t>
            </a:r>
            <a:endParaRPr lang="en-US" sz="1100" b="0" u="none" strike="noStrike">
              <a:solidFill>
                <a:srgbClr val="000000"/>
              </a:solidFill>
              <a:effectLst/>
              <a:uFillTx/>
              <a:latin typeface="Arial"/>
            </a:endParaRPr>
          </a:p>
        </p:txBody>
      </p:sp>
      <p:sp>
        <p:nvSpPr>
          <p:cNvPr id="124" name="Shape 28"/>
          <p:cNvSpPr/>
          <p:nvPr/>
        </p:nvSpPr>
        <p:spPr>
          <a:xfrm>
            <a:off x="502920" y="5632560"/>
            <a:ext cx="502560" cy="502560"/>
          </a:xfrm>
          <a:prstGeom prst="ellipse">
            <a:avLst/>
          </a:prstGeom>
          <a:solidFill>
            <a:srgbClr val="B85042"/>
          </a:solidFill>
          <a:ln w="12700">
            <a:solidFill>
              <a:srgbClr val="B8504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5" name="Text 29"/>
          <p:cNvSpPr/>
          <p:nvPr/>
        </p:nvSpPr>
        <p:spPr>
          <a:xfrm>
            <a:off x="502920" y="5632560"/>
            <a:ext cx="502560" cy="50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7</a:t>
            </a:r>
            <a:endParaRPr lang="en-US" sz="1400" b="0" u="none" strike="noStrike">
              <a:solidFill>
                <a:srgbClr val="000000"/>
              </a:solidFill>
              <a:effectLst/>
              <a:uFillTx/>
              <a:latin typeface="Arial"/>
            </a:endParaRPr>
          </a:p>
        </p:txBody>
      </p:sp>
      <p:sp>
        <p:nvSpPr>
          <p:cNvPr id="126" name="Text 30"/>
          <p:cNvSpPr/>
          <p:nvPr/>
        </p:nvSpPr>
        <p:spPr>
          <a:xfrm>
            <a:off x="1188720" y="5577840"/>
            <a:ext cx="105152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a:solidFill>
                  <a:srgbClr val="2C3E50"/>
                </a:solidFill>
                <a:effectLst/>
                <a:uFillTx/>
                <a:latin typeface="Calibri"/>
                <a:ea typeface="Calibri"/>
              </a:rPr>
              <a:t>Time-series structure</a:t>
            </a:r>
            <a:endParaRPr lang="en-US" sz="1400" b="0" u="none" strike="noStrike">
              <a:solidFill>
                <a:srgbClr val="000000"/>
              </a:solidFill>
              <a:effectLst/>
              <a:uFillTx/>
              <a:latin typeface="Arial"/>
            </a:endParaRPr>
          </a:p>
        </p:txBody>
      </p:sp>
      <p:sp>
        <p:nvSpPr>
          <p:cNvPr id="127" name="Text 31"/>
          <p:cNvSpPr/>
          <p:nvPr/>
        </p:nvSpPr>
        <p:spPr>
          <a:xfrm>
            <a:off x="1188720" y="5888880"/>
            <a:ext cx="1051524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0" u="none" strike="noStrike">
                <a:solidFill>
                  <a:srgbClr val="5B6472"/>
                </a:solidFill>
                <a:effectLst/>
                <a:uFillTx/>
                <a:latin typeface="Calibri"/>
                <a:ea typeface="Calibri"/>
              </a:rPr>
              <a:t>Grouped by fnid / geographic_unit to form panel time-series per location.</a:t>
            </a:r>
            <a:endParaRPr lang="en-US" sz="1100" b="0" u="none" strike="noStrike">
              <a:solidFill>
                <a:srgbClr val="000000"/>
              </a:solidFill>
              <a:effectLst/>
              <a:uFillTx/>
              <a:latin typeface="Arial"/>
            </a:endParaRPr>
          </a:p>
        </p:txBody>
      </p:sp>
      <p:sp>
        <p:nvSpPr>
          <p:cNvPr id="128" name="Text 32"/>
          <p:cNvSpPr/>
          <p:nvPr/>
        </p:nvSpPr>
        <p:spPr>
          <a:xfrm>
            <a:off x="45720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5B6472"/>
                </a:solidFill>
                <a:effectLst/>
                <a:uFillTx/>
                <a:latin typeface="Calibri"/>
                <a:ea typeface="Calibri"/>
              </a:rPr>
              <a:t>Kenya Food Security Forecasting  |  IPC Time-Series Study</a:t>
            </a:r>
            <a:endParaRPr lang="en-US" sz="1000" b="0" u="none" strike="noStrike">
              <a:solidFill>
                <a:srgbClr val="000000"/>
              </a:solidFill>
              <a:effectLst/>
              <a:uFillTx/>
              <a:latin typeface="Arial"/>
            </a:endParaRPr>
          </a:p>
        </p:txBody>
      </p:sp>
      <p:sp>
        <p:nvSpPr>
          <p:cNvPr id="129" name="Text 33"/>
          <p:cNvSpPr/>
          <p:nvPr/>
        </p:nvSpPr>
        <p:spPr>
          <a:xfrm>
            <a:off x="11338560" y="6537960"/>
            <a:ext cx="4568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000" b="0" u="none" strike="noStrike">
                <a:solidFill>
                  <a:srgbClr val="5B6472"/>
                </a:solidFill>
                <a:effectLst/>
                <a:uFillTx/>
                <a:latin typeface="Calibri"/>
                <a:ea typeface="Calibri"/>
              </a:rPr>
              <a:t>6</a:t>
            </a:r>
            <a:endParaRPr lang="en-US" sz="1000" b="0" u="none" strike="noStrike">
              <a:solidFill>
                <a:srgbClr val="000000"/>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sp>
        <p:nvSpPr>
          <p:cNvPr id="130" name="Shape 0"/>
          <p:cNvSpPr/>
          <p:nvPr/>
        </p:nvSpPr>
        <p:spPr>
          <a:xfrm>
            <a:off x="0" y="3017520"/>
            <a:ext cx="12188520" cy="45360"/>
          </a:xfrm>
          <a:prstGeom prst="rect">
            <a:avLst/>
          </a:prstGeom>
          <a:solidFill>
            <a:srgbClr val="B85042"/>
          </a:solidFill>
          <a:ln w="12700">
            <a:solidFill>
              <a:srgbClr val="B85042"/>
            </a:solidFill>
            <a:round/>
          </a:ln>
        </p:spPr>
        <p:style>
          <a:lnRef idx="0">
            <a:scrgbClr r="0" g="0" b="0"/>
          </a:lnRef>
          <a:fillRef idx="0">
            <a:scrgbClr r="0" g="0" b="0"/>
          </a:fillRef>
          <a:effectRef idx="0">
            <a:scrgbClr r="0" g="0" b="0"/>
          </a:effectRef>
          <a:fontRef idx="minor"/>
        </p:style>
        <p:txBody>
          <a:bodyPr lIns="90000" tIns="720" rIns="90000" bIns="720" anchor="t">
            <a:noAutofit/>
          </a:bodyPr>
          <a:lstStyle/>
          <a:p>
            <a:endParaRPr lang="en-US" sz="1800" b="0" u="none" strike="noStrike">
              <a:solidFill>
                <a:srgbClr val="FFFFFF"/>
              </a:solidFill>
              <a:effectLst/>
              <a:uFillTx/>
              <a:latin typeface="Arial"/>
            </a:endParaRPr>
          </a:p>
        </p:txBody>
      </p:sp>
      <p:sp>
        <p:nvSpPr>
          <p:cNvPr id="131" name="Text 1"/>
          <p:cNvSpPr/>
          <p:nvPr/>
        </p:nvSpPr>
        <p:spPr>
          <a:xfrm>
            <a:off x="640080" y="2377440"/>
            <a:ext cx="109724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spc="601">
                <a:solidFill>
                  <a:srgbClr val="B85042"/>
                </a:solidFill>
                <a:effectLst/>
                <a:uFillTx/>
                <a:latin typeface="Calibri"/>
                <a:ea typeface="Calibri"/>
              </a:rPr>
              <a:t>SECTION 02</a:t>
            </a:r>
            <a:endParaRPr lang="en-US" sz="1400" b="0" u="none" strike="noStrike">
              <a:solidFill>
                <a:srgbClr val="FFFFFF"/>
              </a:solidFill>
              <a:effectLst/>
              <a:uFillTx/>
              <a:latin typeface="Arial"/>
            </a:endParaRPr>
          </a:p>
        </p:txBody>
      </p:sp>
      <p:sp>
        <p:nvSpPr>
          <p:cNvPr id="132" name="Text 2"/>
          <p:cNvSpPr/>
          <p:nvPr/>
        </p:nvSpPr>
        <p:spPr>
          <a:xfrm>
            <a:off x="640080" y="3154680"/>
            <a:ext cx="10972440" cy="914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4600" b="1" u="none" strike="noStrike">
                <a:solidFill>
                  <a:srgbClr val="FFFFFF"/>
                </a:solidFill>
                <a:effectLst/>
                <a:uFillTx/>
                <a:latin typeface="Calibri"/>
                <a:ea typeface="Calibri"/>
              </a:rPr>
              <a:t>Exploratory Data Analysis</a:t>
            </a:r>
            <a:endParaRPr lang="en-US" sz="4600" b="0" u="none" strike="noStrike">
              <a:solidFill>
                <a:srgbClr val="FFFFFF"/>
              </a:solidFill>
              <a:effectLst/>
              <a:uFillTx/>
              <a:latin typeface="Arial"/>
            </a:endParaRPr>
          </a:p>
        </p:txBody>
      </p:sp>
      <p:sp>
        <p:nvSpPr>
          <p:cNvPr id="133" name="Text 3"/>
          <p:cNvSpPr/>
          <p:nvPr/>
        </p:nvSpPr>
        <p:spPr>
          <a:xfrm>
            <a:off x="640080" y="4069080"/>
            <a:ext cx="1097244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0" i="1" u="none" strike="noStrike">
                <a:solidFill>
                  <a:srgbClr val="CADCFC"/>
                </a:solidFill>
                <a:effectLst/>
                <a:uFillTx/>
                <a:latin typeface="Calibri"/>
                <a:ea typeface="Calibri"/>
              </a:rPr>
              <a:t>Understanding the shape of Kenya’s IPC history — distributions, trends, seasonality, geography</a:t>
            </a:r>
            <a:endParaRPr lang="en-US" sz="1600" b="0" u="none" strike="noStrike">
              <a:solidFill>
                <a:srgbClr val="FFFFFF"/>
              </a:solidFill>
              <a:effectLst/>
              <a:uFillTx/>
              <a:latin typeface="Arial"/>
            </a:endParaRPr>
          </a:p>
        </p:txBody>
      </p:sp>
      <p:sp>
        <p:nvSpPr>
          <p:cNvPr id="134" name="Text 4"/>
          <p:cNvSpPr/>
          <p:nvPr/>
        </p:nvSpPr>
        <p:spPr>
          <a:xfrm>
            <a:off x="45720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5B6472"/>
                </a:solidFill>
                <a:effectLst/>
                <a:uFillTx/>
                <a:latin typeface="Calibri"/>
                <a:ea typeface="Calibri"/>
              </a:rPr>
              <a:t>Kenya Food Security Forecasting  |  IPC Time-Series Study</a:t>
            </a:r>
            <a:endParaRPr lang="en-US" sz="1000" b="0" u="none" strike="noStrike">
              <a:solidFill>
                <a:srgbClr val="FFFFFF"/>
              </a:solidFill>
              <a:effectLst/>
              <a:uFillTx/>
              <a:latin typeface="Arial"/>
            </a:endParaRPr>
          </a:p>
        </p:txBody>
      </p:sp>
      <p:sp>
        <p:nvSpPr>
          <p:cNvPr id="135" name="Text 5"/>
          <p:cNvSpPr/>
          <p:nvPr/>
        </p:nvSpPr>
        <p:spPr>
          <a:xfrm>
            <a:off x="11338560" y="6537960"/>
            <a:ext cx="4568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000" b="0" u="none" strike="noStrike">
                <a:solidFill>
                  <a:srgbClr val="5B6472"/>
                </a:solidFill>
                <a:effectLst/>
                <a:uFillTx/>
                <a:latin typeface="Calibri"/>
                <a:ea typeface="Calibri"/>
              </a:rPr>
              <a:t>7</a:t>
            </a:r>
            <a:endParaRPr lang="en-US" sz="1000" b="0" u="none" strike="noStrike">
              <a:solidFill>
                <a:srgbClr val="FFFFFF"/>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136" name="Shape 0"/>
          <p:cNvSpPr/>
          <p:nvPr/>
        </p:nvSpPr>
        <p:spPr>
          <a:xfrm>
            <a:off x="0" y="0"/>
            <a:ext cx="12188520" cy="822600"/>
          </a:xfrm>
          <a:prstGeom prst="rect">
            <a:avLst/>
          </a:prstGeom>
          <a:solidFill>
            <a:srgbClr val="2C3E50"/>
          </a:solidFill>
          <a:ln w="12700">
            <a:solidFill>
              <a:srgbClr val="2C3E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7" name="Text 1"/>
          <p:cNvSpPr/>
          <p:nvPr/>
        </p:nvSpPr>
        <p:spPr>
          <a:xfrm>
            <a:off x="457200" y="13716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spc="400">
                <a:solidFill>
                  <a:srgbClr val="B85042"/>
                </a:solidFill>
                <a:effectLst/>
                <a:uFillTx/>
                <a:latin typeface="Calibri"/>
                <a:ea typeface="Calibri"/>
              </a:rPr>
              <a:t>EDA · PLOT 1</a:t>
            </a:r>
            <a:endParaRPr lang="en-US" sz="1200" b="0" u="none" strike="noStrike">
              <a:solidFill>
                <a:srgbClr val="000000"/>
              </a:solidFill>
              <a:effectLst/>
              <a:uFillTx/>
              <a:latin typeface="Arial"/>
            </a:endParaRPr>
          </a:p>
        </p:txBody>
      </p:sp>
      <p:sp>
        <p:nvSpPr>
          <p:cNvPr id="138" name="Text 2"/>
          <p:cNvSpPr/>
          <p:nvPr/>
        </p:nvSpPr>
        <p:spPr>
          <a:xfrm>
            <a:off x="457200" y="347400"/>
            <a:ext cx="109724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FFFFFF"/>
                </a:solidFill>
                <a:effectLst/>
                <a:uFillTx/>
                <a:latin typeface="Calibri"/>
                <a:ea typeface="Calibri"/>
              </a:rPr>
              <a:t>Distribution of IPC Food Security Phases</a:t>
            </a:r>
            <a:endParaRPr lang="en-US" sz="2600" b="0" u="none" strike="noStrike">
              <a:solidFill>
                <a:srgbClr val="000000"/>
              </a:solidFill>
              <a:effectLst/>
              <a:uFillTx/>
              <a:latin typeface="Arial"/>
            </a:endParaRPr>
          </a:p>
        </p:txBody>
      </p:sp>
      <p:sp>
        <p:nvSpPr>
          <p:cNvPr id="139" name="Shape 3"/>
          <p:cNvSpPr/>
          <p:nvPr/>
        </p:nvSpPr>
        <p:spPr>
          <a:xfrm>
            <a:off x="457200" y="960120"/>
            <a:ext cx="1097280" cy="360"/>
          </a:xfrm>
          <a:prstGeom prst="line">
            <a:avLst/>
          </a:prstGeom>
          <a:ln w="38100">
            <a:solidFill>
              <a:srgbClr val="B85042"/>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pic>
        <p:nvPicPr>
          <p:cNvPr id="140" name="Image 0" descr="preencoded.png"/>
          <p:cNvPicPr/>
          <p:nvPr/>
        </p:nvPicPr>
        <p:blipFill>
          <a:blip r:embed="rId3"/>
          <a:stretch/>
        </p:blipFill>
        <p:spPr>
          <a:xfrm>
            <a:off x="365760" y="1234440"/>
            <a:ext cx="6857640" cy="4937400"/>
          </a:xfrm>
          <a:prstGeom prst="rect">
            <a:avLst/>
          </a:prstGeom>
          <a:noFill/>
          <a:ln w="0">
            <a:noFill/>
          </a:ln>
        </p:spPr>
      </p:pic>
      <p:sp>
        <p:nvSpPr>
          <p:cNvPr id="141" name="Shape 4"/>
          <p:cNvSpPr/>
          <p:nvPr/>
        </p:nvSpPr>
        <p:spPr>
          <a:xfrm>
            <a:off x="7406640" y="1234440"/>
            <a:ext cx="4343040" cy="4937400"/>
          </a:xfrm>
          <a:prstGeom prst="roundRect">
            <a:avLst>
              <a:gd name="adj" fmla="val 1684"/>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2" name="Text 5"/>
          <p:cNvSpPr/>
          <p:nvPr/>
        </p:nvSpPr>
        <p:spPr>
          <a:xfrm>
            <a:off x="7589520" y="1371600"/>
            <a:ext cx="41144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spc="300">
                <a:solidFill>
                  <a:srgbClr val="B85042"/>
                </a:solidFill>
                <a:effectLst/>
                <a:uFillTx/>
                <a:latin typeface="Calibri"/>
                <a:ea typeface="Calibri"/>
              </a:rPr>
              <a:t>WHAT IT SHOWS</a:t>
            </a:r>
            <a:endParaRPr lang="en-US" sz="1100" b="0" u="none" strike="noStrike">
              <a:solidFill>
                <a:srgbClr val="000000"/>
              </a:solidFill>
              <a:effectLst/>
              <a:uFillTx/>
              <a:latin typeface="Arial"/>
            </a:endParaRPr>
          </a:p>
        </p:txBody>
      </p:sp>
      <p:sp>
        <p:nvSpPr>
          <p:cNvPr id="143" name="Text 6"/>
          <p:cNvSpPr/>
          <p:nvPr/>
        </p:nvSpPr>
        <p:spPr>
          <a:xfrm>
            <a:off x="7589520" y="1691640"/>
            <a:ext cx="4114440" cy="1737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100" b="0" u="none" strike="noStrike">
                <a:solidFill>
                  <a:srgbClr val="1F2937"/>
                </a:solidFill>
                <a:effectLst/>
                <a:uFillTx/>
                <a:latin typeface="Calibri"/>
                <a:ea typeface="Calibri"/>
              </a:rPr>
              <a:t>A bar chart of the categorical description column showing how frequently each IPC phase (Minimal, Stressed, Crisis, Emergency, Famine) appears across all Kenyan assessments in the dataset.</a:t>
            </a:r>
            <a:endParaRPr lang="en-US" sz="1100" b="0" u="none" strike="noStrike">
              <a:solidFill>
                <a:srgbClr val="000000"/>
              </a:solidFill>
              <a:effectLst/>
              <a:uFillTx/>
              <a:latin typeface="Arial"/>
            </a:endParaRPr>
          </a:p>
        </p:txBody>
      </p:sp>
      <p:sp>
        <p:nvSpPr>
          <p:cNvPr id="144" name="Text 7"/>
          <p:cNvSpPr/>
          <p:nvPr/>
        </p:nvSpPr>
        <p:spPr>
          <a:xfrm>
            <a:off x="7589520" y="3520440"/>
            <a:ext cx="41144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spc="300">
                <a:solidFill>
                  <a:srgbClr val="4A7C59"/>
                </a:solidFill>
                <a:effectLst/>
                <a:uFillTx/>
                <a:latin typeface="Calibri"/>
                <a:ea typeface="Calibri"/>
              </a:rPr>
              <a:t>WHY IT’S THE WAY IT IS</a:t>
            </a:r>
            <a:endParaRPr lang="en-US" sz="1100" b="0" u="none" strike="noStrike">
              <a:solidFill>
                <a:srgbClr val="000000"/>
              </a:solidFill>
              <a:effectLst/>
              <a:uFillTx/>
              <a:latin typeface="Arial"/>
            </a:endParaRPr>
          </a:p>
        </p:txBody>
      </p:sp>
      <p:sp>
        <p:nvSpPr>
          <p:cNvPr id="145" name="Text 8"/>
          <p:cNvSpPr/>
          <p:nvPr/>
        </p:nvSpPr>
        <p:spPr>
          <a:xfrm>
            <a:off x="7589520" y="3840480"/>
            <a:ext cx="4114440" cy="2285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100" b="0" u="none" strike="noStrike">
                <a:solidFill>
                  <a:srgbClr val="1F2937"/>
                </a:solidFill>
                <a:effectLst/>
                <a:uFillTx/>
                <a:latin typeface="Calibri"/>
                <a:ea typeface="Calibri"/>
              </a:rPr>
              <a:t>Minimal and Stressed dominate because most Kenyan sub-counties, most of the time, are not in acute crisis. Crisis appears with meaningful frequency due to recurrent droughts in ASAL regions, while Emergency is rare and Famine is virtually absent — the country has been at the edge of but has not officially entered Phase 5 in this window. This severe class imbalance is the single most important pattern for later modeling choices.</a:t>
            </a:r>
            <a:endParaRPr lang="en-US" sz="1100" b="0" u="none" strike="noStrike">
              <a:solidFill>
                <a:srgbClr val="000000"/>
              </a:solidFill>
              <a:effectLst/>
              <a:uFillTx/>
              <a:latin typeface="Arial"/>
            </a:endParaRPr>
          </a:p>
        </p:txBody>
      </p:sp>
      <p:sp>
        <p:nvSpPr>
          <p:cNvPr id="146" name="Text 9"/>
          <p:cNvSpPr/>
          <p:nvPr/>
        </p:nvSpPr>
        <p:spPr>
          <a:xfrm>
            <a:off x="45720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5B6472"/>
                </a:solidFill>
                <a:effectLst/>
                <a:uFillTx/>
                <a:latin typeface="Calibri"/>
                <a:ea typeface="Calibri"/>
              </a:rPr>
              <a:t>Kenya Food Security Forecasting  |  IPC Time-Series Study</a:t>
            </a:r>
            <a:endParaRPr lang="en-US" sz="1000" b="0" u="none" strike="noStrike">
              <a:solidFill>
                <a:srgbClr val="000000"/>
              </a:solidFill>
              <a:effectLst/>
              <a:uFillTx/>
              <a:latin typeface="Arial"/>
            </a:endParaRPr>
          </a:p>
        </p:txBody>
      </p:sp>
      <p:sp>
        <p:nvSpPr>
          <p:cNvPr id="147" name="Text 10"/>
          <p:cNvSpPr/>
          <p:nvPr/>
        </p:nvSpPr>
        <p:spPr>
          <a:xfrm>
            <a:off x="11338560" y="6537960"/>
            <a:ext cx="4568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000" b="0" u="none" strike="noStrike">
                <a:solidFill>
                  <a:srgbClr val="5B6472"/>
                </a:solidFill>
                <a:effectLst/>
                <a:uFillTx/>
                <a:latin typeface="Calibri"/>
                <a:ea typeface="Calibri"/>
              </a:rPr>
              <a:t>8</a:t>
            </a:r>
            <a:endParaRPr lang="en-US" sz="1000" b="0" u="none" strike="noStrike">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160" name="Shape 0"/>
          <p:cNvSpPr/>
          <p:nvPr/>
        </p:nvSpPr>
        <p:spPr>
          <a:xfrm>
            <a:off x="0" y="0"/>
            <a:ext cx="12188520" cy="822600"/>
          </a:xfrm>
          <a:prstGeom prst="rect">
            <a:avLst/>
          </a:prstGeom>
          <a:solidFill>
            <a:srgbClr val="2C3E50"/>
          </a:solidFill>
          <a:ln w="12700">
            <a:solidFill>
              <a:srgbClr val="2C3E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61" name="Text 1"/>
          <p:cNvSpPr/>
          <p:nvPr/>
        </p:nvSpPr>
        <p:spPr>
          <a:xfrm>
            <a:off x="457200" y="13716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spc="400">
                <a:solidFill>
                  <a:srgbClr val="B85042"/>
                </a:solidFill>
                <a:effectLst/>
                <a:uFillTx/>
                <a:latin typeface="Calibri"/>
                <a:ea typeface="Calibri"/>
              </a:rPr>
              <a:t>EDA · PLOT 3</a:t>
            </a:r>
            <a:endParaRPr lang="en-US" sz="1200" b="0" u="none" strike="noStrike">
              <a:solidFill>
                <a:srgbClr val="000000"/>
              </a:solidFill>
              <a:effectLst/>
              <a:uFillTx/>
              <a:latin typeface="Arial"/>
            </a:endParaRPr>
          </a:p>
        </p:txBody>
      </p:sp>
      <p:sp>
        <p:nvSpPr>
          <p:cNvPr id="162" name="Text 2"/>
          <p:cNvSpPr/>
          <p:nvPr/>
        </p:nvSpPr>
        <p:spPr>
          <a:xfrm>
            <a:off x="457200" y="347400"/>
            <a:ext cx="109724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FFFFFF"/>
                </a:solidFill>
                <a:effectLst/>
                <a:uFillTx/>
                <a:latin typeface="Calibri"/>
                <a:ea typeface="Calibri"/>
              </a:rPr>
              <a:t>Number of IPC Assessments per Year</a:t>
            </a:r>
            <a:endParaRPr lang="en-US" sz="2600" b="0" u="none" strike="noStrike">
              <a:solidFill>
                <a:srgbClr val="000000"/>
              </a:solidFill>
              <a:effectLst/>
              <a:uFillTx/>
              <a:latin typeface="Arial"/>
            </a:endParaRPr>
          </a:p>
        </p:txBody>
      </p:sp>
      <p:sp>
        <p:nvSpPr>
          <p:cNvPr id="163" name="Shape 3"/>
          <p:cNvSpPr/>
          <p:nvPr/>
        </p:nvSpPr>
        <p:spPr>
          <a:xfrm>
            <a:off x="457200" y="960120"/>
            <a:ext cx="1097280" cy="360"/>
          </a:xfrm>
          <a:prstGeom prst="line">
            <a:avLst/>
          </a:prstGeom>
          <a:ln w="38100">
            <a:solidFill>
              <a:srgbClr val="B85042"/>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pic>
        <p:nvPicPr>
          <p:cNvPr id="164" name="Image 0" descr="preencoded.png"/>
          <p:cNvPicPr/>
          <p:nvPr/>
        </p:nvPicPr>
        <p:blipFill>
          <a:blip r:embed="rId3"/>
          <a:stretch/>
        </p:blipFill>
        <p:spPr>
          <a:xfrm>
            <a:off x="365760" y="1234440"/>
            <a:ext cx="6857640" cy="4937400"/>
          </a:xfrm>
          <a:prstGeom prst="rect">
            <a:avLst/>
          </a:prstGeom>
          <a:noFill/>
          <a:ln w="0">
            <a:noFill/>
          </a:ln>
        </p:spPr>
      </p:pic>
      <p:sp>
        <p:nvSpPr>
          <p:cNvPr id="165" name="Shape 4"/>
          <p:cNvSpPr/>
          <p:nvPr/>
        </p:nvSpPr>
        <p:spPr>
          <a:xfrm>
            <a:off x="7406640" y="1234440"/>
            <a:ext cx="4343040" cy="4937400"/>
          </a:xfrm>
          <a:prstGeom prst="roundRect">
            <a:avLst>
              <a:gd name="adj" fmla="val 1684"/>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6" name="Text 5"/>
          <p:cNvSpPr/>
          <p:nvPr/>
        </p:nvSpPr>
        <p:spPr>
          <a:xfrm>
            <a:off x="7589520" y="1371600"/>
            <a:ext cx="41144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spc="300">
                <a:solidFill>
                  <a:srgbClr val="B85042"/>
                </a:solidFill>
                <a:effectLst/>
                <a:uFillTx/>
                <a:latin typeface="Calibri"/>
                <a:ea typeface="Calibri"/>
              </a:rPr>
              <a:t>WHAT IT SHOWS</a:t>
            </a:r>
            <a:endParaRPr lang="en-US" sz="1100" b="0" u="none" strike="noStrike">
              <a:solidFill>
                <a:srgbClr val="000000"/>
              </a:solidFill>
              <a:effectLst/>
              <a:uFillTx/>
              <a:latin typeface="Arial"/>
            </a:endParaRPr>
          </a:p>
        </p:txBody>
      </p:sp>
      <p:sp>
        <p:nvSpPr>
          <p:cNvPr id="167" name="Text 6"/>
          <p:cNvSpPr/>
          <p:nvPr/>
        </p:nvSpPr>
        <p:spPr>
          <a:xfrm>
            <a:off x="7589520" y="1691640"/>
            <a:ext cx="4114440" cy="1737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100" b="0" u="none" strike="noStrike">
                <a:solidFill>
                  <a:srgbClr val="1F2937"/>
                </a:solidFill>
                <a:effectLst/>
                <a:uFillTx/>
                <a:latin typeface="Calibri"/>
                <a:ea typeface="Calibri"/>
              </a:rPr>
              <a:t>A line plot showing how many IPC assessment rows were recorded each year from 2011 through 2026.</a:t>
            </a:r>
            <a:endParaRPr lang="en-US" sz="1100" b="0" u="none" strike="noStrike">
              <a:solidFill>
                <a:srgbClr val="000000"/>
              </a:solidFill>
              <a:effectLst/>
              <a:uFillTx/>
              <a:latin typeface="Arial"/>
            </a:endParaRPr>
          </a:p>
        </p:txBody>
      </p:sp>
      <p:sp>
        <p:nvSpPr>
          <p:cNvPr id="168" name="Text 7"/>
          <p:cNvSpPr/>
          <p:nvPr/>
        </p:nvSpPr>
        <p:spPr>
          <a:xfrm>
            <a:off x="7589520" y="3520440"/>
            <a:ext cx="41144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spc="300">
                <a:solidFill>
                  <a:srgbClr val="4A7C59"/>
                </a:solidFill>
                <a:effectLst/>
                <a:uFillTx/>
                <a:latin typeface="Calibri"/>
                <a:ea typeface="Calibri"/>
              </a:rPr>
              <a:t>WHY IT’S THE WAY IT IS</a:t>
            </a:r>
            <a:endParaRPr lang="en-US" sz="1100" b="0" u="none" strike="noStrike">
              <a:solidFill>
                <a:srgbClr val="000000"/>
              </a:solidFill>
              <a:effectLst/>
              <a:uFillTx/>
              <a:latin typeface="Arial"/>
            </a:endParaRPr>
          </a:p>
        </p:txBody>
      </p:sp>
      <p:sp>
        <p:nvSpPr>
          <p:cNvPr id="169" name="Text 8"/>
          <p:cNvSpPr/>
          <p:nvPr/>
        </p:nvSpPr>
        <p:spPr>
          <a:xfrm>
            <a:off x="7589520" y="3840480"/>
            <a:ext cx="4114440" cy="2285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100" b="0" u="none" strike="noStrike">
                <a:solidFill>
                  <a:srgbClr val="1F2937"/>
                </a:solidFill>
                <a:effectLst/>
                <a:uFillTx/>
                <a:latin typeface="Calibri"/>
                <a:ea typeface="Calibri"/>
              </a:rPr>
              <a:t>Coverage grows steadily from 2011, plateaus in the mid-2010s, and expands further as FEWS NET added more admin units, IDP camps, and livelihood zones to the framework. Slight dips reflect years with fewer scheduled projections. This growing coverage means later years contribute more information to any pooled model.</a:t>
            </a:r>
            <a:endParaRPr lang="en-US" sz="1100" b="0" u="none" strike="noStrike">
              <a:solidFill>
                <a:srgbClr val="000000"/>
              </a:solidFill>
              <a:effectLst/>
              <a:uFillTx/>
              <a:latin typeface="Arial"/>
            </a:endParaRPr>
          </a:p>
        </p:txBody>
      </p:sp>
      <p:sp>
        <p:nvSpPr>
          <p:cNvPr id="170" name="Text 9"/>
          <p:cNvSpPr/>
          <p:nvPr/>
        </p:nvSpPr>
        <p:spPr>
          <a:xfrm>
            <a:off x="45720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5B6472"/>
                </a:solidFill>
                <a:effectLst/>
                <a:uFillTx/>
                <a:latin typeface="Calibri"/>
                <a:ea typeface="Calibri"/>
              </a:rPr>
              <a:t>Kenya Food Security Forecasting  |  IPC Time-Series Study</a:t>
            </a:r>
            <a:endParaRPr lang="en-US" sz="1000" b="0" u="none" strike="noStrike">
              <a:solidFill>
                <a:srgbClr val="000000"/>
              </a:solidFill>
              <a:effectLst/>
              <a:uFillTx/>
              <a:latin typeface="Arial"/>
            </a:endParaRPr>
          </a:p>
        </p:txBody>
      </p:sp>
      <p:sp>
        <p:nvSpPr>
          <p:cNvPr id="171" name="Text 10"/>
          <p:cNvSpPr/>
          <p:nvPr/>
        </p:nvSpPr>
        <p:spPr>
          <a:xfrm>
            <a:off x="11338560" y="6537960"/>
            <a:ext cx="4568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000" b="0" u="none" strike="noStrike">
                <a:solidFill>
                  <a:srgbClr val="5B6472"/>
                </a:solidFill>
                <a:effectLst/>
                <a:uFillTx/>
                <a:latin typeface="Calibri"/>
                <a:ea typeface="Calibri"/>
              </a:rPr>
              <a:t>10</a:t>
            </a:r>
            <a:endParaRPr lang="en-US" sz="100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172" name="Shape 0"/>
          <p:cNvSpPr/>
          <p:nvPr/>
        </p:nvSpPr>
        <p:spPr>
          <a:xfrm>
            <a:off x="0" y="0"/>
            <a:ext cx="12188520" cy="822600"/>
          </a:xfrm>
          <a:prstGeom prst="rect">
            <a:avLst/>
          </a:prstGeom>
          <a:solidFill>
            <a:srgbClr val="2C3E50"/>
          </a:solidFill>
          <a:ln w="12700">
            <a:solidFill>
              <a:srgbClr val="2C3E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73" name="Text 1"/>
          <p:cNvSpPr/>
          <p:nvPr/>
        </p:nvSpPr>
        <p:spPr>
          <a:xfrm>
            <a:off x="457200" y="13716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spc="400">
                <a:solidFill>
                  <a:srgbClr val="B85042"/>
                </a:solidFill>
                <a:effectLst/>
                <a:uFillTx/>
                <a:latin typeface="Calibri"/>
                <a:ea typeface="Calibri"/>
              </a:rPr>
              <a:t>EDA · PLOT 4</a:t>
            </a:r>
            <a:endParaRPr lang="en-US" sz="1200" b="0" u="none" strike="noStrike">
              <a:solidFill>
                <a:srgbClr val="000000"/>
              </a:solidFill>
              <a:effectLst/>
              <a:uFillTx/>
              <a:latin typeface="Arial"/>
            </a:endParaRPr>
          </a:p>
        </p:txBody>
      </p:sp>
      <p:sp>
        <p:nvSpPr>
          <p:cNvPr id="174" name="Text 2"/>
          <p:cNvSpPr/>
          <p:nvPr/>
        </p:nvSpPr>
        <p:spPr>
          <a:xfrm>
            <a:off x="457200" y="347400"/>
            <a:ext cx="109724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FFFFFF"/>
                </a:solidFill>
                <a:effectLst/>
                <a:uFillTx/>
                <a:latin typeface="Calibri"/>
                <a:ea typeface="Calibri"/>
              </a:rPr>
              <a:t>Average IPC Phase by Year</a:t>
            </a:r>
            <a:endParaRPr lang="en-US" sz="2600" b="0" u="none" strike="noStrike">
              <a:solidFill>
                <a:srgbClr val="000000"/>
              </a:solidFill>
              <a:effectLst/>
              <a:uFillTx/>
              <a:latin typeface="Arial"/>
            </a:endParaRPr>
          </a:p>
        </p:txBody>
      </p:sp>
      <p:sp>
        <p:nvSpPr>
          <p:cNvPr id="175" name="Shape 3"/>
          <p:cNvSpPr/>
          <p:nvPr/>
        </p:nvSpPr>
        <p:spPr>
          <a:xfrm>
            <a:off x="457200" y="960120"/>
            <a:ext cx="1097280" cy="360"/>
          </a:xfrm>
          <a:prstGeom prst="line">
            <a:avLst/>
          </a:prstGeom>
          <a:ln w="38100">
            <a:solidFill>
              <a:srgbClr val="B85042"/>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pic>
        <p:nvPicPr>
          <p:cNvPr id="176" name="Image 0" descr="preencoded.png"/>
          <p:cNvPicPr/>
          <p:nvPr/>
        </p:nvPicPr>
        <p:blipFill>
          <a:blip r:embed="rId3"/>
          <a:stretch/>
        </p:blipFill>
        <p:spPr>
          <a:xfrm>
            <a:off x="365760" y="1234440"/>
            <a:ext cx="6857640" cy="4937400"/>
          </a:xfrm>
          <a:prstGeom prst="rect">
            <a:avLst/>
          </a:prstGeom>
          <a:noFill/>
          <a:ln w="0">
            <a:noFill/>
          </a:ln>
        </p:spPr>
      </p:pic>
      <p:sp>
        <p:nvSpPr>
          <p:cNvPr id="177" name="Shape 4"/>
          <p:cNvSpPr/>
          <p:nvPr/>
        </p:nvSpPr>
        <p:spPr>
          <a:xfrm>
            <a:off x="7406640" y="1234440"/>
            <a:ext cx="4343040" cy="4937400"/>
          </a:xfrm>
          <a:prstGeom prst="roundRect">
            <a:avLst>
              <a:gd name="adj" fmla="val 1684"/>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8" name="Text 5"/>
          <p:cNvSpPr/>
          <p:nvPr/>
        </p:nvSpPr>
        <p:spPr>
          <a:xfrm>
            <a:off x="7589520" y="1371600"/>
            <a:ext cx="41144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spc="300">
                <a:solidFill>
                  <a:srgbClr val="B85042"/>
                </a:solidFill>
                <a:effectLst/>
                <a:uFillTx/>
                <a:latin typeface="Calibri"/>
                <a:ea typeface="Calibri"/>
              </a:rPr>
              <a:t>WHAT IT SHOWS</a:t>
            </a:r>
            <a:endParaRPr lang="en-US" sz="1100" b="0" u="none" strike="noStrike">
              <a:solidFill>
                <a:srgbClr val="000000"/>
              </a:solidFill>
              <a:effectLst/>
              <a:uFillTx/>
              <a:latin typeface="Arial"/>
            </a:endParaRPr>
          </a:p>
        </p:txBody>
      </p:sp>
      <p:sp>
        <p:nvSpPr>
          <p:cNvPr id="179" name="Text 6"/>
          <p:cNvSpPr/>
          <p:nvPr/>
        </p:nvSpPr>
        <p:spPr>
          <a:xfrm>
            <a:off x="7589520" y="1691640"/>
            <a:ext cx="4114440" cy="1737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100" b="0" u="none" strike="noStrike">
                <a:solidFill>
                  <a:srgbClr val="1F2937"/>
                </a:solidFill>
                <a:effectLst/>
                <a:uFillTx/>
                <a:latin typeface="Calibri"/>
                <a:ea typeface="Calibri"/>
              </a:rPr>
              <a:t>Yearly mean of the numeric IPC value — how bad, on average, food security was each year across Kenya.</a:t>
            </a:r>
            <a:endParaRPr lang="en-US" sz="1100" b="0" u="none" strike="noStrike">
              <a:solidFill>
                <a:srgbClr val="000000"/>
              </a:solidFill>
              <a:effectLst/>
              <a:uFillTx/>
              <a:latin typeface="Arial"/>
            </a:endParaRPr>
          </a:p>
        </p:txBody>
      </p:sp>
      <p:sp>
        <p:nvSpPr>
          <p:cNvPr id="180" name="Text 7"/>
          <p:cNvSpPr/>
          <p:nvPr/>
        </p:nvSpPr>
        <p:spPr>
          <a:xfrm>
            <a:off x="7589520" y="3520440"/>
            <a:ext cx="41144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spc="300">
                <a:solidFill>
                  <a:srgbClr val="4A7C59"/>
                </a:solidFill>
                <a:effectLst/>
                <a:uFillTx/>
                <a:latin typeface="Calibri"/>
                <a:ea typeface="Calibri"/>
              </a:rPr>
              <a:t>WHY IT’S THE WAY IT IS</a:t>
            </a:r>
            <a:endParaRPr lang="en-US" sz="1100" b="0" u="none" strike="noStrike">
              <a:solidFill>
                <a:srgbClr val="000000"/>
              </a:solidFill>
              <a:effectLst/>
              <a:uFillTx/>
              <a:latin typeface="Arial"/>
            </a:endParaRPr>
          </a:p>
        </p:txBody>
      </p:sp>
      <p:sp>
        <p:nvSpPr>
          <p:cNvPr id="181" name="Text 8"/>
          <p:cNvSpPr/>
          <p:nvPr/>
        </p:nvSpPr>
        <p:spPr>
          <a:xfrm>
            <a:off x="7589520" y="3840480"/>
            <a:ext cx="4114440" cy="2285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100" b="0" u="none" strike="noStrike">
                <a:solidFill>
                  <a:srgbClr val="1F2937"/>
                </a:solidFill>
                <a:effectLst/>
                <a:uFillTx/>
                <a:latin typeface="Calibri"/>
                <a:ea typeface="Calibri"/>
              </a:rPr>
              <a:t>Clear peaks align with known drought years (notably 2011, 2017, and the 2021–2022 Horn of Africa drought), while calmer years show averages closer to 1.5. This is the fingerprint of climate-driven food-security shocks and confirms the target series has meaningful year-to-year variation worth forecasting.</a:t>
            </a:r>
            <a:endParaRPr lang="en-US" sz="1100" b="0" u="none" strike="noStrike">
              <a:solidFill>
                <a:srgbClr val="000000"/>
              </a:solidFill>
              <a:effectLst/>
              <a:uFillTx/>
              <a:latin typeface="Arial"/>
            </a:endParaRPr>
          </a:p>
        </p:txBody>
      </p:sp>
      <p:sp>
        <p:nvSpPr>
          <p:cNvPr id="182" name="Text 9"/>
          <p:cNvSpPr/>
          <p:nvPr/>
        </p:nvSpPr>
        <p:spPr>
          <a:xfrm>
            <a:off x="45720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5B6472"/>
                </a:solidFill>
                <a:effectLst/>
                <a:uFillTx/>
                <a:latin typeface="Calibri"/>
                <a:ea typeface="Calibri"/>
              </a:rPr>
              <a:t>Kenya Food Security Forecasting  |  IPC Time-Series Study</a:t>
            </a:r>
            <a:endParaRPr lang="en-US" sz="1000" b="0" u="none" strike="noStrike">
              <a:solidFill>
                <a:srgbClr val="000000"/>
              </a:solidFill>
              <a:effectLst/>
              <a:uFillTx/>
              <a:latin typeface="Arial"/>
            </a:endParaRPr>
          </a:p>
        </p:txBody>
      </p:sp>
      <p:sp>
        <p:nvSpPr>
          <p:cNvPr id="183" name="Text 10"/>
          <p:cNvSpPr/>
          <p:nvPr/>
        </p:nvSpPr>
        <p:spPr>
          <a:xfrm>
            <a:off x="11338560" y="6537960"/>
            <a:ext cx="4568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000" b="0" u="none" strike="noStrike">
                <a:solidFill>
                  <a:srgbClr val="5B6472"/>
                </a:solidFill>
                <a:effectLst/>
                <a:uFillTx/>
                <a:latin typeface="Calibri"/>
                <a:ea typeface="Calibri"/>
              </a:rPr>
              <a:t>11</a:t>
            </a:r>
            <a:endParaRPr lang="en-US" sz="1000" b="0" u="none" strike="noStrike">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184" name="Shape 0"/>
          <p:cNvSpPr/>
          <p:nvPr/>
        </p:nvSpPr>
        <p:spPr>
          <a:xfrm>
            <a:off x="0" y="0"/>
            <a:ext cx="12188520" cy="822600"/>
          </a:xfrm>
          <a:prstGeom prst="rect">
            <a:avLst/>
          </a:prstGeom>
          <a:solidFill>
            <a:srgbClr val="2C3E50"/>
          </a:solidFill>
          <a:ln w="12700">
            <a:solidFill>
              <a:srgbClr val="2C3E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5" name="Text 1"/>
          <p:cNvSpPr/>
          <p:nvPr/>
        </p:nvSpPr>
        <p:spPr>
          <a:xfrm>
            <a:off x="457200" y="13716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spc="400">
                <a:solidFill>
                  <a:srgbClr val="B85042"/>
                </a:solidFill>
                <a:effectLst/>
                <a:uFillTx/>
                <a:latin typeface="Calibri"/>
                <a:ea typeface="Calibri"/>
              </a:rPr>
              <a:t>EDA · PLOT 5</a:t>
            </a:r>
            <a:endParaRPr lang="en-US" sz="1200" b="0" u="none" strike="noStrike">
              <a:solidFill>
                <a:srgbClr val="000000"/>
              </a:solidFill>
              <a:effectLst/>
              <a:uFillTx/>
              <a:latin typeface="Arial"/>
            </a:endParaRPr>
          </a:p>
        </p:txBody>
      </p:sp>
      <p:sp>
        <p:nvSpPr>
          <p:cNvPr id="186" name="Text 2"/>
          <p:cNvSpPr/>
          <p:nvPr/>
        </p:nvSpPr>
        <p:spPr>
          <a:xfrm>
            <a:off x="457200" y="347400"/>
            <a:ext cx="109724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FFFFFF"/>
                </a:solidFill>
                <a:effectLst/>
                <a:uFillTx/>
                <a:latin typeface="Calibri"/>
                <a:ea typeface="Calibri"/>
              </a:rPr>
              <a:t>Average IPC Phase by Quarter</a:t>
            </a:r>
            <a:endParaRPr lang="en-US" sz="2600" b="0" u="none" strike="noStrike">
              <a:solidFill>
                <a:srgbClr val="000000"/>
              </a:solidFill>
              <a:effectLst/>
              <a:uFillTx/>
              <a:latin typeface="Arial"/>
            </a:endParaRPr>
          </a:p>
        </p:txBody>
      </p:sp>
      <p:sp>
        <p:nvSpPr>
          <p:cNvPr id="187" name="Shape 3"/>
          <p:cNvSpPr/>
          <p:nvPr/>
        </p:nvSpPr>
        <p:spPr>
          <a:xfrm>
            <a:off x="457200" y="960120"/>
            <a:ext cx="1097280" cy="360"/>
          </a:xfrm>
          <a:prstGeom prst="line">
            <a:avLst/>
          </a:prstGeom>
          <a:ln w="38100">
            <a:solidFill>
              <a:srgbClr val="B85042"/>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pic>
        <p:nvPicPr>
          <p:cNvPr id="188" name="Image 0" descr="preencoded.png"/>
          <p:cNvPicPr/>
          <p:nvPr/>
        </p:nvPicPr>
        <p:blipFill>
          <a:blip r:embed="rId3"/>
          <a:stretch/>
        </p:blipFill>
        <p:spPr>
          <a:xfrm>
            <a:off x="365760" y="1234440"/>
            <a:ext cx="6857640" cy="4937400"/>
          </a:xfrm>
          <a:prstGeom prst="rect">
            <a:avLst/>
          </a:prstGeom>
          <a:noFill/>
          <a:ln w="0">
            <a:noFill/>
          </a:ln>
        </p:spPr>
      </p:pic>
      <p:sp>
        <p:nvSpPr>
          <p:cNvPr id="189" name="Shape 4"/>
          <p:cNvSpPr/>
          <p:nvPr/>
        </p:nvSpPr>
        <p:spPr>
          <a:xfrm>
            <a:off x="7406640" y="1234440"/>
            <a:ext cx="4343040" cy="4937400"/>
          </a:xfrm>
          <a:prstGeom prst="roundRect">
            <a:avLst>
              <a:gd name="adj" fmla="val 1684"/>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90" name="Text 5"/>
          <p:cNvSpPr/>
          <p:nvPr/>
        </p:nvSpPr>
        <p:spPr>
          <a:xfrm>
            <a:off x="7589520" y="1371600"/>
            <a:ext cx="41144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spc="300">
                <a:solidFill>
                  <a:srgbClr val="B85042"/>
                </a:solidFill>
                <a:effectLst/>
                <a:uFillTx/>
                <a:latin typeface="Calibri"/>
                <a:ea typeface="Calibri"/>
              </a:rPr>
              <a:t>WHAT IT SHOWS</a:t>
            </a:r>
            <a:endParaRPr lang="en-US" sz="1100" b="0" u="none" strike="noStrike">
              <a:solidFill>
                <a:srgbClr val="000000"/>
              </a:solidFill>
              <a:effectLst/>
              <a:uFillTx/>
              <a:latin typeface="Arial"/>
            </a:endParaRPr>
          </a:p>
        </p:txBody>
      </p:sp>
      <p:sp>
        <p:nvSpPr>
          <p:cNvPr id="191" name="Text 6"/>
          <p:cNvSpPr/>
          <p:nvPr/>
        </p:nvSpPr>
        <p:spPr>
          <a:xfrm>
            <a:off x="7589520" y="1691640"/>
            <a:ext cx="4114440" cy="1737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100" b="0" u="none" strike="noStrike">
                <a:solidFill>
                  <a:srgbClr val="1F2937"/>
                </a:solidFill>
                <a:effectLst/>
                <a:uFillTx/>
                <a:latin typeface="Calibri"/>
                <a:ea typeface="Calibri"/>
              </a:rPr>
              <a:t>Bar chart of the mean IPC phase grouped by calendar quarter (Q1–Q4).</a:t>
            </a:r>
            <a:endParaRPr lang="en-US" sz="1100" b="0" u="none" strike="noStrike">
              <a:solidFill>
                <a:srgbClr val="000000"/>
              </a:solidFill>
              <a:effectLst/>
              <a:uFillTx/>
              <a:latin typeface="Arial"/>
            </a:endParaRPr>
          </a:p>
        </p:txBody>
      </p:sp>
      <p:sp>
        <p:nvSpPr>
          <p:cNvPr id="192" name="Text 7"/>
          <p:cNvSpPr/>
          <p:nvPr/>
        </p:nvSpPr>
        <p:spPr>
          <a:xfrm>
            <a:off x="7589520" y="3520440"/>
            <a:ext cx="41144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spc="300">
                <a:solidFill>
                  <a:srgbClr val="4A7C59"/>
                </a:solidFill>
                <a:effectLst/>
                <a:uFillTx/>
                <a:latin typeface="Calibri"/>
                <a:ea typeface="Calibri"/>
              </a:rPr>
              <a:t>WHY IT’S THE WAY IT IS</a:t>
            </a:r>
            <a:endParaRPr lang="en-US" sz="1100" b="0" u="none" strike="noStrike">
              <a:solidFill>
                <a:srgbClr val="000000"/>
              </a:solidFill>
              <a:effectLst/>
              <a:uFillTx/>
              <a:latin typeface="Arial"/>
            </a:endParaRPr>
          </a:p>
        </p:txBody>
      </p:sp>
      <p:sp>
        <p:nvSpPr>
          <p:cNvPr id="193" name="Text 8"/>
          <p:cNvSpPr/>
          <p:nvPr/>
        </p:nvSpPr>
        <p:spPr>
          <a:xfrm>
            <a:off x="7589520" y="3840480"/>
            <a:ext cx="4114440" cy="2285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100" b="0" u="none" strike="noStrike">
                <a:solidFill>
                  <a:srgbClr val="1F2937"/>
                </a:solidFill>
                <a:effectLst/>
                <a:uFillTx/>
                <a:latin typeface="Calibri"/>
                <a:ea typeface="Calibri"/>
              </a:rPr>
              <a:t>Q1 and Q3 are systematically higher than Q2 and Q4 because Q1 sits at the tail end of the short-rains lean season and Q3 aligns with the long-rains lean season / pre-harvest hunger period. This seasonal signal justifies engineering sin/cos month &amp; quarter features so models can learn cyclical hunger patterns.</a:t>
            </a:r>
            <a:endParaRPr lang="en-US" sz="1100" b="0" u="none" strike="noStrike">
              <a:solidFill>
                <a:srgbClr val="000000"/>
              </a:solidFill>
              <a:effectLst/>
              <a:uFillTx/>
              <a:latin typeface="Arial"/>
            </a:endParaRPr>
          </a:p>
        </p:txBody>
      </p:sp>
      <p:sp>
        <p:nvSpPr>
          <p:cNvPr id="194" name="Text 9"/>
          <p:cNvSpPr/>
          <p:nvPr/>
        </p:nvSpPr>
        <p:spPr>
          <a:xfrm>
            <a:off x="45720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5B6472"/>
                </a:solidFill>
                <a:effectLst/>
                <a:uFillTx/>
                <a:latin typeface="Calibri"/>
                <a:ea typeface="Calibri"/>
              </a:rPr>
              <a:t>Kenya Food Security Forecasting  |  IPC Time-Series Study</a:t>
            </a:r>
            <a:endParaRPr lang="en-US" sz="1000" b="0" u="none" strike="noStrike">
              <a:solidFill>
                <a:srgbClr val="000000"/>
              </a:solidFill>
              <a:effectLst/>
              <a:uFillTx/>
              <a:latin typeface="Arial"/>
            </a:endParaRPr>
          </a:p>
        </p:txBody>
      </p:sp>
      <p:sp>
        <p:nvSpPr>
          <p:cNvPr id="195" name="Text 10"/>
          <p:cNvSpPr/>
          <p:nvPr/>
        </p:nvSpPr>
        <p:spPr>
          <a:xfrm>
            <a:off x="11338560" y="6537960"/>
            <a:ext cx="4568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000" b="0" u="none" strike="noStrike">
                <a:solidFill>
                  <a:srgbClr val="5B6472"/>
                </a:solidFill>
                <a:effectLst/>
                <a:uFillTx/>
                <a:latin typeface="Calibri"/>
                <a:ea typeface="Calibri"/>
              </a:rPr>
              <a:t>12</a:t>
            </a:r>
            <a:endParaRPr lang="en-US" sz="1000" b="0" u="none" strike="noStrike">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196" name="Shape 0"/>
          <p:cNvSpPr/>
          <p:nvPr/>
        </p:nvSpPr>
        <p:spPr>
          <a:xfrm>
            <a:off x="0" y="0"/>
            <a:ext cx="12188520" cy="822600"/>
          </a:xfrm>
          <a:prstGeom prst="rect">
            <a:avLst/>
          </a:prstGeom>
          <a:solidFill>
            <a:srgbClr val="2C3E50"/>
          </a:solidFill>
          <a:ln w="12700">
            <a:solidFill>
              <a:srgbClr val="2C3E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97" name="Text 1"/>
          <p:cNvSpPr/>
          <p:nvPr/>
        </p:nvSpPr>
        <p:spPr>
          <a:xfrm>
            <a:off x="457200" y="13716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spc="400">
                <a:solidFill>
                  <a:srgbClr val="B85042"/>
                </a:solidFill>
                <a:effectLst/>
                <a:uFillTx/>
                <a:latin typeface="Calibri"/>
                <a:ea typeface="Calibri"/>
              </a:rPr>
              <a:t>EDA · PLOT 6</a:t>
            </a:r>
            <a:endParaRPr lang="en-US" sz="1200" b="0" u="none" strike="noStrike">
              <a:solidFill>
                <a:srgbClr val="000000"/>
              </a:solidFill>
              <a:effectLst/>
              <a:uFillTx/>
              <a:latin typeface="Arial"/>
            </a:endParaRPr>
          </a:p>
        </p:txBody>
      </p:sp>
      <p:sp>
        <p:nvSpPr>
          <p:cNvPr id="198" name="Text 2"/>
          <p:cNvSpPr/>
          <p:nvPr/>
        </p:nvSpPr>
        <p:spPr>
          <a:xfrm>
            <a:off x="457200" y="347400"/>
            <a:ext cx="109724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FFFFFF"/>
                </a:solidFill>
                <a:effectLst/>
                <a:uFillTx/>
                <a:latin typeface="Calibri"/>
                <a:ea typeface="Calibri"/>
              </a:rPr>
              <a:t>Top 20 Geographic Units by Number of Assessments</a:t>
            </a:r>
            <a:endParaRPr lang="en-US" sz="2600" b="0" u="none" strike="noStrike">
              <a:solidFill>
                <a:srgbClr val="000000"/>
              </a:solidFill>
              <a:effectLst/>
              <a:uFillTx/>
              <a:latin typeface="Arial"/>
            </a:endParaRPr>
          </a:p>
        </p:txBody>
      </p:sp>
      <p:sp>
        <p:nvSpPr>
          <p:cNvPr id="199" name="Shape 3"/>
          <p:cNvSpPr/>
          <p:nvPr/>
        </p:nvSpPr>
        <p:spPr>
          <a:xfrm>
            <a:off x="457200" y="960120"/>
            <a:ext cx="1097280" cy="360"/>
          </a:xfrm>
          <a:prstGeom prst="line">
            <a:avLst/>
          </a:prstGeom>
          <a:ln w="38100">
            <a:solidFill>
              <a:srgbClr val="B85042"/>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pic>
        <p:nvPicPr>
          <p:cNvPr id="200" name="Image 0" descr="preencoded.png"/>
          <p:cNvPicPr/>
          <p:nvPr/>
        </p:nvPicPr>
        <p:blipFill>
          <a:blip r:embed="rId3"/>
          <a:stretch/>
        </p:blipFill>
        <p:spPr>
          <a:xfrm>
            <a:off x="365760" y="1234440"/>
            <a:ext cx="6857640" cy="4937400"/>
          </a:xfrm>
          <a:prstGeom prst="rect">
            <a:avLst/>
          </a:prstGeom>
          <a:noFill/>
          <a:ln w="0">
            <a:noFill/>
          </a:ln>
        </p:spPr>
      </p:pic>
      <p:sp>
        <p:nvSpPr>
          <p:cNvPr id="201" name="Shape 4"/>
          <p:cNvSpPr/>
          <p:nvPr/>
        </p:nvSpPr>
        <p:spPr>
          <a:xfrm>
            <a:off x="7406640" y="1234440"/>
            <a:ext cx="4343040" cy="4937400"/>
          </a:xfrm>
          <a:prstGeom prst="roundRect">
            <a:avLst>
              <a:gd name="adj" fmla="val 1684"/>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2" name="Text 5"/>
          <p:cNvSpPr/>
          <p:nvPr/>
        </p:nvSpPr>
        <p:spPr>
          <a:xfrm>
            <a:off x="7589520" y="1371600"/>
            <a:ext cx="41144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spc="300">
                <a:solidFill>
                  <a:srgbClr val="B85042"/>
                </a:solidFill>
                <a:effectLst/>
                <a:uFillTx/>
                <a:latin typeface="Calibri"/>
                <a:ea typeface="Calibri"/>
              </a:rPr>
              <a:t>WHAT IT SHOWS</a:t>
            </a:r>
            <a:endParaRPr lang="en-US" sz="1100" b="0" u="none" strike="noStrike">
              <a:solidFill>
                <a:srgbClr val="000000"/>
              </a:solidFill>
              <a:effectLst/>
              <a:uFillTx/>
              <a:latin typeface="Arial"/>
            </a:endParaRPr>
          </a:p>
        </p:txBody>
      </p:sp>
      <p:sp>
        <p:nvSpPr>
          <p:cNvPr id="203" name="Text 6"/>
          <p:cNvSpPr/>
          <p:nvPr/>
        </p:nvSpPr>
        <p:spPr>
          <a:xfrm>
            <a:off x="7589520" y="1691640"/>
            <a:ext cx="4114440" cy="1737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100" b="0" u="none" strike="noStrike">
                <a:solidFill>
                  <a:srgbClr val="1F2937"/>
                </a:solidFill>
                <a:effectLst/>
                <a:uFillTx/>
                <a:latin typeface="Calibri"/>
                <a:ea typeface="Calibri"/>
              </a:rPr>
              <a:t>Horizontal bar chart of the 20 geographic units with the most IPC records — dominated by ASAL counties and IDP camps.</a:t>
            </a:r>
            <a:endParaRPr lang="en-US" sz="1100" b="0" u="none" strike="noStrike">
              <a:solidFill>
                <a:srgbClr val="000000"/>
              </a:solidFill>
              <a:effectLst/>
              <a:uFillTx/>
              <a:latin typeface="Arial"/>
            </a:endParaRPr>
          </a:p>
        </p:txBody>
      </p:sp>
      <p:sp>
        <p:nvSpPr>
          <p:cNvPr id="204" name="Text 7"/>
          <p:cNvSpPr/>
          <p:nvPr/>
        </p:nvSpPr>
        <p:spPr>
          <a:xfrm>
            <a:off x="7589520" y="3520440"/>
            <a:ext cx="41144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spc="300">
                <a:solidFill>
                  <a:srgbClr val="4A7C59"/>
                </a:solidFill>
                <a:effectLst/>
                <a:uFillTx/>
                <a:latin typeface="Calibri"/>
                <a:ea typeface="Calibri"/>
              </a:rPr>
              <a:t>WHY IT’S THE WAY IT IS</a:t>
            </a:r>
            <a:endParaRPr lang="en-US" sz="1100" b="0" u="none" strike="noStrike">
              <a:solidFill>
                <a:srgbClr val="000000"/>
              </a:solidFill>
              <a:effectLst/>
              <a:uFillTx/>
              <a:latin typeface="Arial"/>
            </a:endParaRPr>
          </a:p>
        </p:txBody>
      </p:sp>
      <p:sp>
        <p:nvSpPr>
          <p:cNvPr id="205" name="Text 8"/>
          <p:cNvSpPr/>
          <p:nvPr/>
        </p:nvSpPr>
        <p:spPr>
          <a:xfrm>
            <a:off x="7589520" y="3840480"/>
            <a:ext cx="4114440" cy="2285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100" b="0" u="none" strike="noStrike">
                <a:solidFill>
                  <a:srgbClr val="1F2937"/>
                </a:solidFill>
                <a:effectLst/>
                <a:uFillTx/>
                <a:latin typeface="Calibri"/>
                <a:ea typeface="Calibri"/>
              </a:rPr>
              <a:t>Turkana, Mandera, Marsabit, Wajir, Garissa and neighboring ASAL units appear most frequently because they are the highest-risk areas and are re-assessed every projection cycle. This uneven sampling means our data is spatially biased toward chronically food-insecure regions — a strength for modeling drought dynamics, but a caveat for national-level averages.</a:t>
            </a:r>
            <a:endParaRPr lang="en-US" sz="1100" b="0" u="none" strike="noStrike">
              <a:solidFill>
                <a:srgbClr val="000000"/>
              </a:solidFill>
              <a:effectLst/>
              <a:uFillTx/>
              <a:latin typeface="Arial"/>
            </a:endParaRPr>
          </a:p>
        </p:txBody>
      </p:sp>
      <p:sp>
        <p:nvSpPr>
          <p:cNvPr id="206" name="Text 9"/>
          <p:cNvSpPr/>
          <p:nvPr/>
        </p:nvSpPr>
        <p:spPr>
          <a:xfrm>
            <a:off x="45720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5B6472"/>
                </a:solidFill>
                <a:effectLst/>
                <a:uFillTx/>
                <a:latin typeface="Calibri"/>
                <a:ea typeface="Calibri"/>
              </a:rPr>
              <a:t>Kenya Food Security Forecasting  |  IPC Time-Series Study</a:t>
            </a:r>
            <a:endParaRPr lang="en-US" sz="1000" b="0" u="none" strike="noStrike">
              <a:solidFill>
                <a:srgbClr val="000000"/>
              </a:solidFill>
              <a:effectLst/>
              <a:uFillTx/>
              <a:latin typeface="Arial"/>
            </a:endParaRPr>
          </a:p>
        </p:txBody>
      </p:sp>
      <p:sp>
        <p:nvSpPr>
          <p:cNvPr id="207" name="Text 10"/>
          <p:cNvSpPr/>
          <p:nvPr/>
        </p:nvSpPr>
        <p:spPr>
          <a:xfrm>
            <a:off x="11338560" y="6537960"/>
            <a:ext cx="4568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000" b="0" u="none" strike="noStrike">
                <a:solidFill>
                  <a:srgbClr val="5B6472"/>
                </a:solidFill>
                <a:effectLst/>
                <a:uFillTx/>
                <a:latin typeface="Calibri"/>
                <a:ea typeface="Calibri"/>
              </a:rPr>
              <a:t>13</a:t>
            </a:r>
            <a:endParaRPr lang="en-US" sz="1000" b="0" u="none" strike="noStrike">
              <a:solidFill>
                <a:srgbClr val="000000"/>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304" name="Shape 0"/>
          <p:cNvSpPr/>
          <p:nvPr/>
        </p:nvSpPr>
        <p:spPr>
          <a:xfrm>
            <a:off x="0" y="0"/>
            <a:ext cx="12188520" cy="822600"/>
          </a:xfrm>
          <a:prstGeom prst="rect">
            <a:avLst/>
          </a:prstGeom>
          <a:solidFill>
            <a:srgbClr val="2C3E50"/>
          </a:solidFill>
          <a:ln w="12700">
            <a:solidFill>
              <a:srgbClr val="2C3E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05" name="Text 1"/>
          <p:cNvSpPr/>
          <p:nvPr/>
        </p:nvSpPr>
        <p:spPr>
          <a:xfrm>
            <a:off x="457200" y="13716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spc="400">
                <a:solidFill>
                  <a:srgbClr val="B85042"/>
                </a:solidFill>
                <a:effectLst/>
                <a:uFillTx/>
                <a:latin typeface="Calibri"/>
                <a:ea typeface="Calibri"/>
              </a:rPr>
              <a:t>EDA · PLOT 15</a:t>
            </a:r>
            <a:endParaRPr lang="en-US" sz="1200" b="0" u="none" strike="noStrike">
              <a:solidFill>
                <a:srgbClr val="000000"/>
              </a:solidFill>
              <a:effectLst/>
              <a:uFillTx/>
              <a:latin typeface="Arial"/>
            </a:endParaRPr>
          </a:p>
        </p:txBody>
      </p:sp>
      <p:sp>
        <p:nvSpPr>
          <p:cNvPr id="306" name="Text 2"/>
          <p:cNvSpPr/>
          <p:nvPr/>
        </p:nvSpPr>
        <p:spPr>
          <a:xfrm>
            <a:off x="457200" y="347400"/>
            <a:ext cx="109724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FFFFFF"/>
                </a:solidFill>
                <a:effectLst/>
                <a:uFillTx/>
                <a:latin typeface="Calibri"/>
                <a:ea typeface="Calibri"/>
              </a:rPr>
              <a:t>Geographic Unit × IPC Phase Cross-Tabulation</a:t>
            </a:r>
            <a:endParaRPr lang="en-US" sz="2600" b="0" u="none" strike="noStrike">
              <a:solidFill>
                <a:srgbClr val="000000"/>
              </a:solidFill>
              <a:effectLst/>
              <a:uFillTx/>
              <a:latin typeface="Arial"/>
            </a:endParaRPr>
          </a:p>
        </p:txBody>
      </p:sp>
      <p:sp>
        <p:nvSpPr>
          <p:cNvPr id="307" name="Shape 3"/>
          <p:cNvSpPr/>
          <p:nvPr/>
        </p:nvSpPr>
        <p:spPr>
          <a:xfrm>
            <a:off x="457200" y="960120"/>
            <a:ext cx="1097280" cy="360"/>
          </a:xfrm>
          <a:prstGeom prst="line">
            <a:avLst/>
          </a:prstGeom>
          <a:ln w="38100">
            <a:solidFill>
              <a:srgbClr val="B85042"/>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pic>
        <p:nvPicPr>
          <p:cNvPr id="308" name="Image 0" descr="preencoded.png"/>
          <p:cNvPicPr/>
          <p:nvPr/>
        </p:nvPicPr>
        <p:blipFill>
          <a:blip r:embed="rId3"/>
          <a:stretch/>
        </p:blipFill>
        <p:spPr>
          <a:xfrm>
            <a:off x="365760" y="1234440"/>
            <a:ext cx="6857640" cy="4937400"/>
          </a:xfrm>
          <a:prstGeom prst="rect">
            <a:avLst/>
          </a:prstGeom>
          <a:noFill/>
          <a:ln w="0">
            <a:noFill/>
          </a:ln>
        </p:spPr>
      </p:pic>
      <p:sp>
        <p:nvSpPr>
          <p:cNvPr id="309" name="Shape 4"/>
          <p:cNvSpPr/>
          <p:nvPr/>
        </p:nvSpPr>
        <p:spPr>
          <a:xfrm>
            <a:off x="7406640" y="1234440"/>
            <a:ext cx="4343040" cy="4937400"/>
          </a:xfrm>
          <a:prstGeom prst="roundRect">
            <a:avLst>
              <a:gd name="adj" fmla="val 1684"/>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0" name="Text 5"/>
          <p:cNvSpPr/>
          <p:nvPr/>
        </p:nvSpPr>
        <p:spPr>
          <a:xfrm>
            <a:off x="7589520" y="1371600"/>
            <a:ext cx="41144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spc="300">
                <a:solidFill>
                  <a:srgbClr val="B85042"/>
                </a:solidFill>
                <a:effectLst/>
                <a:uFillTx/>
                <a:latin typeface="Calibri"/>
                <a:ea typeface="Calibri"/>
              </a:rPr>
              <a:t>WHAT IT SHOWS</a:t>
            </a:r>
            <a:endParaRPr lang="en-US" sz="1100" b="0" u="none" strike="noStrike">
              <a:solidFill>
                <a:srgbClr val="000000"/>
              </a:solidFill>
              <a:effectLst/>
              <a:uFillTx/>
              <a:latin typeface="Arial"/>
            </a:endParaRPr>
          </a:p>
        </p:txBody>
      </p:sp>
      <p:sp>
        <p:nvSpPr>
          <p:cNvPr id="311" name="Text 6"/>
          <p:cNvSpPr/>
          <p:nvPr/>
        </p:nvSpPr>
        <p:spPr>
          <a:xfrm>
            <a:off x="7589520" y="1691640"/>
            <a:ext cx="4114440" cy="1737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100" b="0" u="none" strike="noStrike">
                <a:solidFill>
                  <a:srgbClr val="1F2937"/>
                </a:solidFill>
                <a:effectLst/>
                <a:uFillTx/>
                <a:latin typeface="Calibri"/>
                <a:ea typeface="Calibri"/>
              </a:rPr>
              <a:t>Cross-tab visualization of how each geographic unit has been distributed across IPC phases historically.</a:t>
            </a:r>
            <a:endParaRPr lang="en-US" sz="1100" b="0" u="none" strike="noStrike">
              <a:solidFill>
                <a:srgbClr val="000000"/>
              </a:solidFill>
              <a:effectLst/>
              <a:uFillTx/>
              <a:latin typeface="Arial"/>
            </a:endParaRPr>
          </a:p>
        </p:txBody>
      </p:sp>
      <p:sp>
        <p:nvSpPr>
          <p:cNvPr id="312" name="Text 7"/>
          <p:cNvSpPr/>
          <p:nvPr/>
        </p:nvSpPr>
        <p:spPr>
          <a:xfrm>
            <a:off x="7589520" y="3520440"/>
            <a:ext cx="41144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spc="300">
                <a:solidFill>
                  <a:srgbClr val="4A7C59"/>
                </a:solidFill>
                <a:effectLst/>
                <a:uFillTx/>
                <a:latin typeface="Calibri"/>
                <a:ea typeface="Calibri"/>
              </a:rPr>
              <a:t>WHY IT’S THE WAY IT IS</a:t>
            </a:r>
            <a:endParaRPr lang="en-US" sz="1100" b="0" u="none" strike="noStrike">
              <a:solidFill>
                <a:srgbClr val="000000"/>
              </a:solidFill>
              <a:effectLst/>
              <a:uFillTx/>
              <a:latin typeface="Arial"/>
            </a:endParaRPr>
          </a:p>
        </p:txBody>
      </p:sp>
      <p:sp>
        <p:nvSpPr>
          <p:cNvPr id="313" name="Text 8"/>
          <p:cNvSpPr/>
          <p:nvPr/>
        </p:nvSpPr>
        <p:spPr>
          <a:xfrm>
            <a:off x="7589520" y="3840480"/>
            <a:ext cx="4114440" cy="2285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100" b="0" u="none" strike="noStrike">
                <a:solidFill>
                  <a:srgbClr val="1F2937"/>
                </a:solidFill>
                <a:effectLst/>
                <a:uFillTx/>
                <a:latin typeface="Calibri"/>
                <a:ea typeface="Calibri"/>
              </a:rPr>
              <a:t>ASAL counties (Turkana, Mandera, Marsabit, Wajir, Garissa) show much larger Crisis and Emergency contributions relative to non-ASAL units, which almost never leave Minimal. This is a geographic fingerprint of Kenya’s vulnerability — a small set of counties account for most of the country’s food-security escalation.</a:t>
            </a:r>
            <a:endParaRPr lang="en-US" sz="1100" b="0" u="none" strike="noStrike">
              <a:solidFill>
                <a:srgbClr val="000000"/>
              </a:solidFill>
              <a:effectLst/>
              <a:uFillTx/>
              <a:latin typeface="Arial"/>
            </a:endParaRPr>
          </a:p>
        </p:txBody>
      </p:sp>
      <p:sp>
        <p:nvSpPr>
          <p:cNvPr id="314" name="Text 9"/>
          <p:cNvSpPr/>
          <p:nvPr/>
        </p:nvSpPr>
        <p:spPr>
          <a:xfrm>
            <a:off x="45720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5B6472"/>
                </a:solidFill>
                <a:effectLst/>
                <a:uFillTx/>
                <a:latin typeface="Calibri"/>
                <a:ea typeface="Calibri"/>
              </a:rPr>
              <a:t>Kenya Food Security Forecasting  |  IPC Time-Series Study</a:t>
            </a:r>
            <a:endParaRPr lang="en-US" sz="1000" b="0" u="none" strike="noStrike">
              <a:solidFill>
                <a:srgbClr val="000000"/>
              </a:solidFill>
              <a:effectLst/>
              <a:uFillTx/>
              <a:latin typeface="Arial"/>
            </a:endParaRPr>
          </a:p>
        </p:txBody>
      </p:sp>
      <p:sp>
        <p:nvSpPr>
          <p:cNvPr id="315" name="Text 10"/>
          <p:cNvSpPr/>
          <p:nvPr/>
        </p:nvSpPr>
        <p:spPr>
          <a:xfrm>
            <a:off x="11338560" y="6537960"/>
            <a:ext cx="4568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000" b="0" u="none" strike="noStrike">
                <a:solidFill>
                  <a:srgbClr val="5B6472"/>
                </a:solidFill>
                <a:effectLst/>
                <a:uFillTx/>
                <a:latin typeface="Calibri"/>
                <a:ea typeface="Calibri"/>
              </a:rPr>
              <a:t>22</a:t>
            </a:r>
            <a:endParaRPr lang="en-US" sz="1000" b="0" u="none" strike="noStrike">
              <a:solidFill>
                <a:srgbClr val="000000"/>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316" name="Shape 0"/>
          <p:cNvSpPr/>
          <p:nvPr/>
        </p:nvSpPr>
        <p:spPr>
          <a:xfrm>
            <a:off x="0" y="0"/>
            <a:ext cx="12188520" cy="822600"/>
          </a:xfrm>
          <a:prstGeom prst="rect">
            <a:avLst/>
          </a:prstGeom>
          <a:solidFill>
            <a:srgbClr val="2C3E50"/>
          </a:solidFill>
          <a:ln w="12700">
            <a:solidFill>
              <a:srgbClr val="2C3E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17" name="Text 1"/>
          <p:cNvSpPr/>
          <p:nvPr/>
        </p:nvSpPr>
        <p:spPr>
          <a:xfrm>
            <a:off x="457200" y="13716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spc="400">
                <a:solidFill>
                  <a:srgbClr val="B85042"/>
                </a:solidFill>
                <a:effectLst/>
                <a:uFillTx/>
                <a:latin typeface="Calibri"/>
                <a:ea typeface="Calibri"/>
              </a:rPr>
              <a:t>EDA · PLOT 16</a:t>
            </a:r>
            <a:endParaRPr lang="en-US" sz="1200" b="0" u="none" strike="noStrike">
              <a:solidFill>
                <a:srgbClr val="000000"/>
              </a:solidFill>
              <a:effectLst/>
              <a:uFillTx/>
              <a:latin typeface="Arial"/>
            </a:endParaRPr>
          </a:p>
        </p:txBody>
      </p:sp>
      <p:sp>
        <p:nvSpPr>
          <p:cNvPr id="318" name="Text 2"/>
          <p:cNvSpPr/>
          <p:nvPr/>
        </p:nvSpPr>
        <p:spPr>
          <a:xfrm>
            <a:off x="457200" y="347400"/>
            <a:ext cx="109724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FFFFFF"/>
                </a:solidFill>
                <a:effectLst/>
                <a:uFillTx/>
                <a:latin typeface="Calibri"/>
                <a:ea typeface="Calibri"/>
              </a:rPr>
              <a:t>Geographic Unit Phase Composition (Detail)</a:t>
            </a:r>
            <a:endParaRPr lang="en-US" sz="2600" b="0" u="none" strike="noStrike">
              <a:solidFill>
                <a:srgbClr val="000000"/>
              </a:solidFill>
              <a:effectLst/>
              <a:uFillTx/>
              <a:latin typeface="Arial"/>
            </a:endParaRPr>
          </a:p>
        </p:txBody>
      </p:sp>
      <p:sp>
        <p:nvSpPr>
          <p:cNvPr id="319" name="Shape 3"/>
          <p:cNvSpPr/>
          <p:nvPr/>
        </p:nvSpPr>
        <p:spPr>
          <a:xfrm>
            <a:off x="457200" y="960120"/>
            <a:ext cx="1097280" cy="360"/>
          </a:xfrm>
          <a:prstGeom prst="line">
            <a:avLst/>
          </a:prstGeom>
          <a:ln w="38100">
            <a:solidFill>
              <a:srgbClr val="B85042"/>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pic>
        <p:nvPicPr>
          <p:cNvPr id="320" name="Image 0" descr="preencoded.png"/>
          <p:cNvPicPr/>
          <p:nvPr/>
        </p:nvPicPr>
        <p:blipFill>
          <a:blip r:embed="rId3"/>
          <a:stretch/>
        </p:blipFill>
        <p:spPr>
          <a:xfrm>
            <a:off x="365760" y="1234440"/>
            <a:ext cx="6857640" cy="4937400"/>
          </a:xfrm>
          <a:prstGeom prst="rect">
            <a:avLst/>
          </a:prstGeom>
          <a:noFill/>
          <a:ln w="0">
            <a:noFill/>
          </a:ln>
        </p:spPr>
      </p:pic>
      <p:sp>
        <p:nvSpPr>
          <p:cNvPr id="321" name="Shape 4"/>
          <p:cNvSpPr/>
          <p:nvPr/>
        </p:nvSpPr>
        <p:spPr>
          <a:xfrm>
            <a:off x="7406640" y="1234440"/>
            <a:ext cx="4343040" cy="4937400"/>
          </a:xfrm>
          <a:prstGeom prst="roundRect">
            <a:avLst>
              <a:gd name="adj" fmla="val 1684"/>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22" name="Text 5"/>
          <p:cNvSpPr/>
          <p:nvPr/>
        </p:nvSpPr>
        <p:spPr>
          <a:xfrm>
            <a:off x="7589520" y="1371600"/>
            <a:ext cx="41144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spc="300">
                <a:solidFill>
                  <a:srgbClr val="B85042"/>
                </a:solidFill>
                <a:effectLst/>
                <a:uFillTx/>
                <a:latin typeface="Calibri"/>
                <a:ea typeface="Calibri"/>
              </a:rPr>
              <a:t>WHAT IT SHOWS</a:t>
            </a:r>
            <a:endParaRPr lang="en-US" sz="1100" b="0" u="none" strike="noStrike">
              <a:solidFill>
                <a:srgbClr val="000000"/>
              </a:solidFill>
              <a:effectLst/>
              <a:uFillTx/>
              <a:latin typeface="Arial"/>
            </a:endParaRPr>
          </a:p>
        </p:txBody>
      </p:sp>
      <p:sp>
        <p:nvSpPr>
          <p:cNvPr id="323" name="Text 6"/>
          <p:cNvSpPr/>
          <p:nvPr/>
        </p:nvSpPr>
        <p:spPr>
          <a:xfrm>
            <a:off x="7589520" y="1691640"/>
            <a:ext cx="4114440" cy="1737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100" b="0" u="none" strike="noStrike">
                <a:solidFill>
                  <a:srgbClr val="1F2937"/>
                </a:solidFill>
                <a:effectLst/>
                <a:uFillTx/>
                <a:latin typeface="Calibri"/>
                <a:ea typeface="Calibri"/>
              </a:rPr>
              <a:t>Companion view of the phase composition per geographic unit — highlighting the mix of Minimal / Stressed / Crisis / Emergency for the top areas.</a:t>
            </a:r>
            <a:endParaRPr lang="en-US" sz="1100" b="0" u="none" strike="noStrike">
              <a:solidFill>
                <a:srgbClr val="000000"/>
              </a:solidFill>
              <a:effectLst/>
              <a:uFillTx/>
              <a:latin typeface="Arial"/>
            </a:endParaRPr>
          </a:p>
        </p:txBody>
      </p:sp>
      <p:sp>
        <p:nvSpPr>
          <p:cNvPr id="324" name="Text 7"/>
          <p:cNvSpPr/>
          <p:nvPr/>
        </p:nvSpPr>
        <p:spPr>
          <a:xfrm>
            <a:off x="7589520" y="3520440"/>
            <a:ext cx="41144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spc="300">
                <a:solidFill>
                  <a:srgbClr val="4A7C59"/>
                </a:solidFill>
                <a:effectLst/>
                <a:uFillTx/>
                <a:latin typeface="Calibri"/>
                <a:ea typeface="Calibri"/>
              </a:rPr>
              <a:t>WHY IT’S THE WAY IT IS</a:t>
            </a:r>
            <a:endParaRPr lang="en-US" sz="1100" b="0" u="none" strike="noStrike">
              <a:solidFill>
                <a:srgbClr val="000000"/>
              </a:solidFill>
              <a:effectLst/>
              <a:uFillTx/>
              <a:latin typeface="Arial"/>
            </a:endParaRPr>
          </a:p>
        </p:txBody>
      </p:sp>
      <p:sp>
        <p:nvSpPr>
          <p:cNvPr id="325" name="Text 8"/>
          <p:cNvSpPr/>
          <p:nvPr/>
        </p:nvSpPr>
        <p:spPr>
          <a:xfrm>
            <a:off x="7589520" y="3840480"/>
            <a:ext cx="4114440" cy="2285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100" b="0" u="none" strike="noStrike">
                <a:solidFill>
                  <a:srgbClr val="1F2937"/>
                </a:solidFill>
                <a:effectLst/>
                <a:uFillTx/>
                <a:latin typeface="Calibri"/>
                <a:ea typeface="Calibri"/>
              </a:rPr>
              <a:t>Even the most food-insecure counties spend the majority of time in Minimal or Stressed, punctuated by shorter windows in Crisis or Emergency. This “long calm, sudden shock” profile is why a good forecaster must capture rare escalations without overfitting to the calm baseline.</a:t>
            </a:r>
            <a:endParaRPr lang="en-US" sz="1100" b="0" u="none" strike="noStrike">
              <a:solidFill>
                <a:srgbClr val="000000"/>
              </a:solidFill>
              <a:effectLst/>
              <a:uFillTx/>
              <a:latin typeface="Arial"/>
            </a:endParaRPr>
          </a:p>
        </p:txBody>
      </p:sp>
      <p:sp>
        <p:nvSpPr>
          <p:cNvPr id="326" name="Text 9"/>
          <p:cNvSpPr/>
          <p:nvPr/>
        </p:nvSpPr>
        <p:spPr>
          <a:xfrm>
            <a:off x="45720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5B6472"/>
                </a:solidFill>
                <a:effectLst/>
                <a:uFillTx/>
                <a:latin typeface="Calibri"/>
                <a:ea typeface="Calibri"/>
              </a:rPr>
              <a:t>Kenya Food Security Forecasting  |  IPC Time-Series Study</a:t>
            </a:r>
            <a:endParaRPr lang="en-US" sz="1000" b="0" u="none" strike="noStrike">
              <a:solidFill>
                <a:srgbClr val="000000"/>
              </a:solidFill>
              <a:effectLst/>
              <a:uFillTx/>
              <a:latin typeface="Arial"/>
            </a:endParaRPr>
          </a:p>
        </p:txBody>
      </p:sp>
      <p:sp>
        <p:nvSpPr>
          <p:cNvPr id="327" name="Text 10"/>
          <p:cNvSpPr/>
          <p:nvPr/>
        </p:nvSpPr>
        <p:spPr>
          <a:xfrm>
            <a:off x="11338560" y="6537960"/>
            <a:ext cx="4568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000" b="0" u="none" strike="noStrike">
                <a:solidFill>
                  <a:srgbClr val="5B6472"/>
                </a:solidFill>
                <a:effectLst/>
                <a:uFillTx/>
                <a:latin typeface="Calibri"/>
                <a:ea typeface="Calibri"/>
              </a:rPr>
              <a:t>23</a:t>
            </a:r>
            <a:endParaRPr lang="en-US" sz="1000" b="0" u="none" strike="noStrike">
              <a:solidFill>
                <a:srgbClr val="000000"/>
              </a:solidFill>
              <a:effectLst/>
              <a:uFillTx/>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08" name="Shape 0"/>
          <p:cNvSpPr/>
          <p:nvPr/>
        </p:nvSpPr>
        <p:spPr>
          <a:xfrm>
            <a:off x="0" y="0"/>
            <a:ext cx="12188520" cy="822600"/>
          </a:xfrm>
          <a:prstGeom prst="rect">
            <a:avLst/>
          </a:prstGeom>
          <a:solidFill>
            <a:srgbClr val="2C3E50"/>
          </a:solidFill>
          <a:ln w="12700">
            <a:solidFill>
              <a:srgbClr val="2C3E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09" name="Text 1"/>
          <p:cNvSpPr/>
          <p:nvPr/>
        </p:nvSpPr>
        <p:spPr>
          <a:xfrm>
            <a:off x="457200" y="13716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spc="400">
                <a:solidFill>
                  <a:srgbClr val="B85042"/>
                </a:solidFill>
                <a:effectLst/>
                <a:uFillTx/>
                <a:latin typeface="Calibri"/>
                <a:ea typeface="Calibri"/>
              </a:rPr>
              <a:t>EDA · PLOT 7</a:t>
            </a:r>
            <a:endParaRPr lang="en-US" sz="1200" b="0" u="none" strike="noStrike">
              <a:solidFill>
                <a:srgbClr val="000000"/>
              </a:solidFill>
              <a:effectLst/>
              <a:uFillTx/>
              <a:latin typeface="Arial"/>
            </a:endParaRPr>
          </a:p>
        </p:txBody>
      </p:sp>
      <p:sp>
        <p:nvSpPr>
          <p:cNvPr id="210" name="Text 2"/>
          <p:cNvSpPr/>
          <p:nvPr/>
        </p:nvSpPr>
        <p:spPr>
          <a:xfrm>
            <a:off x="457200" y="347400"/>
            <a:ext cx="109724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FFFFFF"/>
                </a:solidFill>
                <a:effectLst/>
                <a:uFillTx/>
                <a:latin typeface="Calibri"/>
                <a:ea typeface="Calibri"/>
              </a:rPr>
              <a:t>Distribution of Geographic Unit Types</a:t>
            </a:r>
            <a:endParaRPr lang="en-US" sz="2600" b="0" u="none" strike="noStrike">
              <a:solidFill>
                <a:srgbClr val="000000"/>
              </a:solidFill>
              <a:effectLst/>
              <a:uFillTx/>
              <a:latin typeface="Arial"/>
            </a:endParaRPr>
          </a:p>
        </p:txBody>
      </p:sp>
      <p:sp>
        <p:nvSpPr>
          <p:cNvPr id="211" name="Shape 3"/>
          <p:cNvSpPr/>
          <p:nvPr/>
        </p:nvSpPr>
        <p:spPr>
          <a:xfrm>
            <a:off x="457200" y="960120"/>
            <a:ext cx="1097280" cy="360"/>
          </a:xfrm>
          <a:prstGeom prst="line">
            <a:avLst/>
          </a:prstGeom>
          <a:ln w="38100">
            <a:solidFill>
              <a:srgbClr val="B85042"/>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pic>
        <p:nvPicPr>
          <p:cNvPr id="212" name="Image 0" descr="preencoded.png"/>
          <p:cNvPicPr/>
          <p:nvPr/>
        </p:nvPicPr>
        <p:blipFill>
          <a:blip r:embed="rId3"/>
          <a:stretch/>
        </p:blipFill>
        <p:spPr>
          <a:xfrm>
            <a:off x="365760" y="1234440"/>
            <a:ext cx="6857640" cy="4937400"/>
          </a:xfrm>
          <a:prstGeom prst="rect">
            <a:avLst/>
          </a:prstGeom>
          <a:noFill/>
          <a:ln w="0">
            <a:noFill/>
          </a:ln>
        </p:spPr>
      </p:pic>
      <p:sp>
        <p:nvSpPr>
          <p:cNvPr id="213" name="Shape 4"/>
          <p:cNvSpPr/>
          <p:nvPr/>
        </p:nvSpPr>
        <p:spPr>
          <a:xfrm>
            <a:off x="7406640" y="1234440"/>
            <a:ext cx="4343040" cy="4937400"/>
          </a:xfrm>
          <a:prstGeom prst="roundRect">
            <a:avLst>
              <a:gd name="adj" fmla="val 1684"/>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14" name="Text 5"/>
          <p:cNvSpPr/>
          <p:nvPr/>
        </p:nvSpPr>
        <p:spPr>
          <a:xfrm>
            <a:off x="7589520" y="1371600"/>
            <a:ext cx="41144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spc="300">
                <a:solidFill>
                  <a:srgbClr val="B85042"/>
                </a:solidFill>
                <a:effectLst/>
                <a:uFillTx/>
                <a:latin typeface="Calibri"/>
                <a:ea typeface="Calibri"/>
              </a:rPr>
              <a:t>WHAT IT SHOWS</a:t>
            </a:r>
            <a:endParaRPr lang="en-US" sz="1100" b="0" u="none" strike="noStrike">
              <a:solidFill>
                <a:srgbClr val="000000"/>
              </a:solidFill>
              <a:effectLst/>
              <a:uFillTx/>
              <a:latin typeface="Arial"/>
            </a:endParaRPr>
          </a:p>
        </p:txBody>
      </p:sp>
      <p:sp>
        <p:nvSpPr>
          <p:cNvPr id="215" name="Text 6"/>
          <p:cNvSpPr/>
          <p:nvPr/>
        </p:nvSpPr>
        <p:spPr>
          <a:xfrm>
            <a:off x="7589520" y="1691640"/>
            <a:ext cx="4114440" cy="1737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100" b="0" u="none" strike="noStrike">
                <a:solidFill>
                  <a:srgbClr val="1F2937"/>
                </a:solidFill>
                <a:effectLst/>
                <a:uFillTx/>
                <a:latin typeface="Calibri"/>
                <a:ea typeface="Calibri"/>
              </a:rPr>
              <a:t>Bar chart of unit_type showing counts of admin units, admin livelihood zones, and IDP camps.</a:t>
            </a:r>
            <a:endParaRPr lang="en-US" sz="1100" b="0" u="none" strike="noStrike">
              <a:solidFill>
                <a:srgbClr val="000000"/>
              </a:solidFill>
              <a:effectLst/>
              <a:uFillTx/>
              <a:latin typeface="Arial"/>
            </a:endParaRPr>
          </a:p>
        </p:txBody>
      </p:sp>
      <p:sp>
        <p:nvSpPr>
          <p:cNvPr id="216" name="Text 7"/>
          <p:cNvSpPr/>
          <p:nvPr/>
        </p:nvSpPr>
        <p:spPr>
          <a:xfrm>
            <a:off x="7589520" y="3520440"/>
            <a:ext cx="41144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spc="300">
                <a:solidFill>
                  <a:srgbClr val="4A7C59"/>
                </a:solidFill>
                <a:effectLst/>
                <a:uFillTx/>
                <a:latin typeface="Calibri"/>
                <a:ea typeface="Calibri"/>
              </a:rPr>
              <a:t>WHY IT’S THE WAY IT IS</a:t>
            </a:r>
            <a:endParaRPr lang="en-US" sz="1100" b="0" u="none" strike="noStrike">
              <a:solidFill>
                <a:srgbClr val="000000"/>
              </a:solidFill>
              <a:effectLst/>
              <a:uFillTx/>
              <a:latin typeface="Arial"/>
            </a:endParaRPr>
          </a:p>
        </p:txBody>
      </p:sp>
      <p:sp>
        <p:nvSpPr>
          <p:cNvPr id="217" name="Text 8"/>
          <p:cNvSpPr/>
          <p:nvPr/>
        </p:nvSpPr>
        <p:spPr>
          <a:xfrm>
            <a:off x="7589520" y="3840480"/>
            <a:ext cx="4114440" cy="2285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100" b="0" u="none" strike="noStrike">
                <a:solidFill>
                  <a:srgbClr val="1F2937"/>
                </a:solidFill>
                <a:effectLst/>
                <a:uFillTx/>
                <a:latin typeface="Calibri"/>
                <a:ea typeface="Calibri"/>
              </a:rPr>
              <a:t>Administrative units and livelihood zones make up the bulk of assessments because they define Kenya’s standard IPC geography, while IDP camps contribute a much smaller share. This mix explains why the same location can appear under multiple unit types — an important consideration when grouping panels for time-series modeling.</a:t>
            </a:r>
            <a:endParaRPr lang="en-US" sz="1100" b="0" u="none" strike="noStrike">
              <a:solidFill>
                <a:srgbClr val="000000"/>
              </a:solidFill>
              <a:effectLst/>
              <a:uFillTx/>
              <a:latin typeface="Arial"/>
            </a:endParaRPr>
          </a:p>
        </p:txBody>
      </p:sp>
      <p:sp>
        <p:nvSpPr>
          <p:cNvPr id="218" name="Text 9"/>
          <p:cNvSpPr/>
          <p:nvPr/>
        </p:nvSpPr>
        <p:spPr>
          <a:xfrm>
            <a:off x="45720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5B6472"/>
                </a:solidFill>
                <a:effectLst/>
                <a:uFillTx/>
                <a:latin typeface="Calibri"/>
                <a:ea typeface="Calibri"/>
              </a:rPr>
              <a:t>Kenya Food Security Forecasting  |  IPC Time-Series Study</a:t>
            </a:r>
            <a:endParaRPr lang="en-US" sz="1000" b="0" u="none" strike="noStrike">
              <a:solidFill>
                <a:srgbClr val="000000"/>
              </a:solidFill>
              <a:effectLst/>
              <a:uFillTx/>
              <a:latin typeface="Arial"/>
            </a:endParaRPr>
          </a:p>
        </p:txBody>
      </p:sp>
      <p:sp>
        <p:nvSpPr>
          <p:cNvPr id="219" name="Text 10"/>
          <p:cNvSpPr/>
          <p:nvPr/>
        </p:nvSpPr>
        <p:spPr>
          <a:xfrm>
            <a:off x="11338560" y="6537960"/>
            <a:ext cx="4568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000" b="0" u="none" strike="noStrike">
                <a:solidFill>
                  <a:srgbClr val="5B6472"/>
                </a:solidFill>
                <a:effectLst/>
                <a:uFillTx/>
                <a:latin typeface="Calibri"/>
                <a:ea typeface="Calibri"/>
              </a:rPr>
              <a:t>14</a:t>
            </a:r>
            <a:endParaRPr lang="en-US" sz="1000" b="0" u="none" strike="noStrike">
              <a:solidFill>
                <a:srgbClr val="000000"/>
              </a:solidFill>
              <a:effectLst/>
              <a:uFillTx/>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80" name="Shape 0"/>
          <p:cNvSpPr/>
          <p:nvPr/>
        </p:nvSpPr>
        <p:spPr>
          <a:xfrm>
            <a:off x="0" y="0"/>
            <a:ext cx="12188520" cy="822600"/>
          </a:xfrm>
          <a:prstGeom prst="rect">
            <a:avLst/>
          </a:prstGeom>
          <a:solidFill>
            <a:srgbClr val="2C3E50"/>
          </a:solidFill>
          <a:ln w="12700">
            <a:solidFill>
              <a:srgbClr val="2C3E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81" name="Text 1"/>
          <p:cNvSpPr/>
          <p:nvPr/>
        </p:nvSpPr>
        <p:spPr>
          <a:xfrm>
            <a:off x="457200" y="13716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spc="400">
                <a:solidFill>
                  <a:srgbClr val="B85042"/>
                </a:solidFill>
                <a:effectLst/>
                <a:uFillTx/>
                <a:latin typeface="Calibri"/>
                <a:ea typeface="Calibri"/>
              </a:rPr>
              <a:t>EDA · PLOT 13</a:t>
            </a:r>
            <a:endParaRPr lang="en-US" sz="1200" b="0" u="none" strike="noStrike">
              <a:solidFill>
                <a:srgbClr val="000000"/>
              </a:solidFill>
              <a:effectLst/>
              <a:uFillTx/>
              <a:latin typeface="Arial"/>
            </a:endParaRPr>
          </a:p>
        </p:txBody>
      </p:sp>
      <p:sp>
        <p:nvSpPr>
          <p:cNvPr id="282" name="Text 2"/>
          <p:cNvSpPr/>
          <p:nvPr/>
        </p:nvSpPr>
        <p:spPr>
          <a:xfrm>
            <a:off x="457200" y="347400"/>
            <a:ext cx="109724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FFFFFF"/>
                </a:solidFill>
                <a:effectLst/>
                <a:uFillTx/>
                <a:latin typeface="Calibri"/>
                <a:ea typeface="Calibri"/>
              </a:rPr>
              <a:t>Trend Using Rolling Mean (window = 4)</a:t>
            </a:r>
            <a:endParaRPr lang="en-US" sz="2600" b="0" u="none" strike="noStrike">
              <a:solidFill>
                <a:srgbClr val="000000"/>
              </a:solidFill>
              <a:effectLst/>
              <a:uFillTx/>
              <a:latin typeface="Arial"/>
            </a:endParaRPr>
          </a:p>
        </p:txBody>
      </p:sp>
      <p:sp>
        <p:nvSpPr>
          <p:cNvPr id="283" name="Shape 3"/>
          <p:cNvSpPr/>
          <p:nvPr/>
        </p:nvSpPr>
        <p:spPr>
          <a:xfrm>
            <a:off x="457200" y="960120"/>
            <a:ext cx="1097280" cy="360"/>
          </a:xfrm>
          <a:prstGeom prst="line">
            <a:avLst/>
          </a:prstGeom>
          <a:ln w="38100">
            <a:solidFill>
              <a:srgbClr val="B85042"/>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pic>
        <p:nvPicPr>
          <p:cNvPr id="284" name="Image 0" descr="preencoded.png"/>
          <p:cNvPicPr/>
          <p:nvPr/>
        </p:nvPicPr>
        <p:blipFill>
          <a:blip r:embed="rId3"/>
          <a:stretch/>
        </p:blipFill>
        <p:spPr>
          <a:xfrm>
            <a:off x="365760" y="1234440"/>
            <a:ext cx="6857640" cy="4937400"/>
          </a:xfrm>
          <a:prstGeom prst="rect">
            <a:avLst/>
          </a:prstGeom>
          <a:noFill/>
          <a:ln w="0">
            <a:noFill/>
          </a:ln>
        </p:spPr>
      </p:pic>
      <p:sp>
        <p:nvSpPr>
          <p:cNvPr id="285" name="Shape 4"/>
          <p:cNvSpPr/>
          <p:nvPr/>
        </p:nvSpPr>
        <p:spPr>
          <a:xfrm>
            <a:off x="7406640" y="1234440"/>
            <a:ext cx="4343040" cy="4937400"/>
          </a:xfrm>
          <a:prstGeom prst="roundRect">
            <a:avLst>
              <a:gd name="adj" fmla="val 1684"/>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6" name="Text 5"/>
          <p:cNvSpPr/>
          <p:nvPr/>
        </p:nvSpPr>
        <p:spPr>
          <a:xfrm>
            <a:off x="7589520" y="1371600"/>
            <a:ext cx="41144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spc="300">
                <a:solidFill>
                  <a:srgbClr val="B85042"/>
                </a:solidFill>
                <a:effectLst/>
                <a:uFillTx/>
                <a:latin typeface="Calibri"/>
                <a:ea typeface="Calibri"/>
              </a:rPr>
              <a:t>WHAT IT SHOWS</a:t>
            </a:r>
            <a:endParaRPr lang="en-US" sz="1100" b="0" u="none" strike="noStrike">
              <a:solidFill>
                <a:srgbClr val="000000"/>
              </a:solidFill>
              <a:effectLst/>
              <a:uFillTx/>
              <a:latin typeface="Arial"/>
            </a:endParaRPr>
          </a:p>
        </p:txBody>
      </p:sp>
      <p:sp>
        <p:nvSpPr>
          <p:cNvPr id="287" name="Text 6"/>
          <p:cNvSpPr/>
          <p:nvPr/>
        </p:nvSpPr>
        <p:spPr>
          <a:xfrm>
            <a:off x="7589520" y="1691640"/>
            <a:ext cx="4114440" cy="1737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100" b="0" u="none" strike="noStrike">
                <a:solidFill>
                  <a:srgbClr val="1F2937"/>
                </a:solidFill>
                <a:effectLst/>
                <a:uFillTx/>
                <a:latin typeface="Calibri"/>
                <a:ea typeface="Calibri"/>
              </a:rPr>
              <a:t>Same national IPC series overlaid with a 4-period rolling mean to smooth short-term noise and expose trend.</a:t>
            </a:r>
            <a:endParaRPr lang="en-US" sz="1100" b="0" u="none" strike="noStrike">
              <a:solidFill>
                <a:srgbClr val="000000"/>
              </a:solidFill>
              <a:effectLst/>
              <a:uFillTx/>
              <a:latin typeface="Arial"/>
            </a:endParaRPr>
          </a:p>
        </p:txBody>
      </p:sp>
      <p:sp>
        <p:nvSpPr>
          <p:cNvPr id="288" name="Text 7"/>
          <p:cNvSpPr/>
          <p:nvPr/>
        </p:nvSpPr>
        <p:spPr>
          <a:xfrm>
            <a:off x="7589520" y="3520440"/>
            <a:ext cx="41144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spc="300">
                <a:solidFill>
                  <a:srgbClr val="4A7C59"/>
                </a:solidFill>
                <a:effectLst/>
                <a:uFillTx/>
                <a:latin typeface="Calibri"/>
                <a:ea typeface="Calibri"/>
              </a:rPr>
              <a:t>WHY IT’S THE WAY IT IS</a:t>
            </a:r>
            <a:endParaRPr lang="en-US" sz="1100" b="0" u="none" strike="noStrike">
              <a:solidFill>
                <a:srgbClr val="000000"/>
              </a:solidFill>
              <a:effectLst/>
              <a:uFillTx/>
              <a:latin typeface="Arial"/>
            </a:endParaRPr>
          </a:p>
        </p:txBody>
      </p:sp>
      <p:sp>
        <p:nvSpPr>
          <p:cNvPr id="289" name="Text 8"/>
          <p:cNvSpPr/>
          <p:nvPr/>
        </p:nvSpPr>
        <p:spPr>
          <a:xfrm>
            <a:off x="7589520" y="3840480"/>
            <a:ext cx="4114440" cy="2285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100" b="0" u="none" strike="noStrike">
                <a:solidFill>
                  <a:srgbClr val="1F2937"/>
                </a:solidFill>
                <a:effectLst/>
                <a:uFillTx/>
                <a:latin typeface="Calibri"/>
                <a:ea typeface="Calibri"/>
              </a:rPr>
              <a:t>The smoothed line reveals a gently rising baseline with pronounced humps during drought years, then relaxation afterward. Volatility clusters — bad periods tend to be followed by more bad periods (autocorrelation), which is precisely the signal AR-type models exploit.</a:t>
            </a:r>
            <a:endParaRPr lang="en-US" sz="1100" b="0" u="none" strike="noStrike">
              <a:solidFill>
                <a:srgbClr val="000000"/>
              </a:solidFill>
              <a:effectLst/>
              <a:uFillTx/>
              <a:latin typeface="Arial"/>
            </a:endParaRPr>
          </a:p>
        </p:txBody>
      </p:sp>
      <p:sp>
        <p:nvSpPr>
          <p:cNvPr id="290" name="Text 9"/>
          <p:cNvSpPr/>
          <p:nvPr/>
        </p:nvSpPr>
        <p:spPr>
          <a:xfrm>
            <a:off x="45720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5B6472"/>
                </a:solidFill>
                <a:effectLst/>
                <a:uFillTx/>
                <a:latin typeface="Calibri"/>
                <a:ea typeface="Calibri"/>
              </a:rPr>
              <a:t>Kenya Food Security Forecasting  |  IPC Time-Series Study</a:t>
            </a:r>
            <a:endParaRPr lang="en-US" sz="1000" b="0" u="none" strike="noStrike">
              <a:solidFill>
                <a:srgbClr val="000000"/>
              </a:solidFill>
              <a:effectLst/>
              <a:uFillTx/>
              <a:latin typeface="Arial"/>
            </a:endParaRPr>
          </a:p>
        </p:txBody>
      </p:sp>
      <p:sp>
        <p:nvSpPr>
          <p:cNvPr id="291" name="Text 10"/>
          <p:cNvSpPr/>
          <p:nvPr/>
        </p:nvSpPr>
        <p:spPr>
          <a:xfrm>
            <a:off x="11338560" y="6537960"/>
            <a:ext cx="4568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000" b="0" u="none" strike="noStrike">
                <a:solidFill>
                  <a:srgbClr val="5B6472"/>
                </a:solidFill>
                <a:effectLst/>
                <a:uFillTx/>
                <a:latin typeface="Calibri"/>
                <a:ea typeface="Calibri"/>
              </a:rPr>
              <a:t>20</a:t>
            </a:r>
            <a:endParaRPr lang="en-US" sz="1000" b="0" u="none" strike="noStrike">
              <a:solidFill>
                <a:srgbClr val="000000"/>
              </a:solidFill>
              <a:effectLst/>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92" name="Shape 0"/>
          <p:cNvSpPr/>
          <p:nvPr/>
        </p:nvSpPr>
        <p:spPr>
          <a:xfrm>
            <a:off x="0" y="0"/>
            <a:ext cx="12188520" cy="822600"/>
          </a:xfrm>
          <a:prstGeom prst="rect">
            <a:avLst/>
          </a:prstGeom>
          <a:solidFill>
            <a:srgbClr val="2C3E50"/>
          </a:solidFill>
          <a:ln w="12700">
            <a:solidFill>
              <a:srgbClr val="2C3E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93" name="Text 1"/>
          <p:cNvSpPr/>
          <p:nvPr/>
        </p:nvSpPr>
        <p:spPr>
          <a:xfrm>
            <a:off x="457200" y="13716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spc="400">
                <a:solidFill>
                  <a:srgbClr val="B85042"/>
                </a:solidFill>
                <a:effectLst/>
                <a:uFillTx/>
                <a:latin typeface="Calibri"/>
                <a:ea typeface="Calibri"/>
              </a:rPr>
              <a:t>EDA · PLOT 14</a:t>
            </a:r>
            <a:endParaRPr lang="en-US" sz="1200" b="0" u="none" strike="noStrike">
              <a:solidFill>
                <a:srgbClr val="000000"/>
              </a:solidFill>
              <a:effectLst/>
              <a:uFillTx/>
              <a:latin typeface="Arial"/>
            </a:endParaRPr>
          </a:p>
        </p:txBody>
      </p:sp>
      <p:sp>
        <p:nvSpPr>
          <p:cNvPr id="294" name="Text 2"/>
          <p:cNvSpPr/>
          <p:nvPr/>
        </p:nvSpPr>
        <p:spPr>
          <a:xfrm>
            <a:off x="457200" y="347400"/>
            <a:ext cx="109724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FFFFFF"/>
                </a:solidFill>
                <a:effectLst/>
                <a:uFillTx/>
                <a:latin typeface="Calibri"/>
                <a:ea typeface="Calibri"/>
              </a:rPr>
              <a:t>Distribution of Assessments by Month</a:t>
            </a:r>
            <a:endParaRPr lang="en-US" sz="2600" b="0" u="none" strike="noStrike">
              <a:solidFill>
                <a:srgbClr val="000000"/>
              </a:solidFill>
              <a:effectLst/>
              <a:uFillTx/>
              <a:latin typeface="Arial"/>
            </a:endParaRPr>
          </a:p>
        </p:txBody>
      </p:sp>
      <p:sp>
        <p:nvSpPr>
          <p:cNvPr id="295" name="Shape 3"/>
          <p:cNvSpPr/>
          <p:nvPr/>
        </p:nvSpPr>
        <p:spPr>
          <a:xfrm>
            <a:off x="457200" y="960120"/>
            <a:ext cx="1097280" cy="360"/>
          </a:xfrm>
          <a:prstGeom prst="line">
            <a:avLst/>
          </a:prstGeom>
          <a:ln w="38100">
            <a:solidFill>
              <a:srgbClr val="B85042"/>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pic>
        <p:nvPicPr>
          <p:cNvPr id="296" name="Image 0" descr="preencoded.png"/>
          <p:cNvPicPr/>
          <p:nvPr/>
        </p:nvPicPr>
        <p:blipFill>
          <a:blip r:embed="rId3"/>
          <a:stretch/>
        </p:blipFill>
        <p:spPr>
          <a:xfrm>
            <a:off x="365760" y="1234440"/>
            <a:ext cx="6857640" cy="4937400"/>
          </a:xfrm>
          <a:prstGeom prst="rect">
            <a:avLst/>
          </a:prstGeom>
          <a:noFill/>
          <a:ln w="0">
            <a:noFill/>
          </a:ln>
        </p:spPr>
      </p:pic>
      <p:sp>
        <p:nvSpPr>
          <p:cNvPr id="297" name="Shape 4"/>
          <p:cNvSpPr/>
          <p:nvPr/>
        </p:nvSpPr>
        <p:spPr>
          <a:xfrm>
            <a:off x="7406640" y="1234440"/>
            <a:ext cx="4343040" cy="4937400"/>
          </a:xfrm>
          <a:prstGeom prst="roundRect">
            <a:avLst>
              <a:gd name="adj" fmla="val 1684"/>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8" name="Text 5"/>
          <p:cNvSpPr/>
          <p:nvPr/>
        </p:nvSpPr>
        <p:spPr>
          <a:xfrm>
            <a:off x="7589520" y="1371600"/>
            <a:ext cx="41144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spc="300">
                <a:solidFill>
                  <a:srgbClr val="B85042"/>
                </a:solidFill>
                <a:effectLst/>
                <a:uFillTx/>
                <a:latin typeface="Calibri"/>
                <a:ea typeface="Calibri"/>
              </a:rPr>
              <a:t>WHAT IT SHOWS</a:t>
            </a:r>
            <a:endParaRPr lang="en-US" sz="1100" b="0" u="none" strike="noStrike">
              <a:solidFill>
                <a:srgbClr val="000000"/>
              </a:solidFill>
              <a:effectLst/>
              <a:uFillTx/>
              <a:latin typeface="Arial"/>
            </a:endParaRPr>
          </a:p>
        </p:txBody>
      </p:sp>
      <p:sp>
        <p:nvSpPr>
          <p:cNvPr id="299" name="Text 6"/>
          <p:cNvSpPr/>
          <p:nvPr/>
        </p:nvSpPr>
        <p:spPr>
          <a:xfrm>
            <a:off x="7589520" y="1691640"/>
            <a:ext cx="4114440" cy="1737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100" b="0" u="none" strike="noStrike">
                <a:solidFill>
                  <a:srgbClr val="1F2937"/>
                </a:solidFill>
                <a:effectLst/>
                <a:uFillTx/>
                <a:latin typeface="Calibri"/>
                <a:ea typeface="Calibri"/>
              </a:rPr>
              <a:t>Bar chart of record counts by calendar month across all years.</a:t>
            </a:r>
            <a:endParaRPr lang="en-US" sz="1100" b="0" u="none" strike="noStrike">
              <a:solidFill>
                <a:srgbClr val="000000"/>
              </a:solidFill>
              <a:effectLst/>
              <a:uFillTx/>
              <a:latin typeface="Arial"/>
            </a:endParaRPr>
          </a:p>
        </p:txBody>
      </p:sp>
      <p:sp>
        <p:nvSpPr>
          <p:cNvPr id="300" name="Text 7"/>
          <p:cNvSpPr/>
          <p:nvPr/>
        </p:nvSpPr>
        <p:spPr>
          <a:xfrm>
            <a:off x="7589520" y="3520440"/>
            <a:ext cx="41144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spc="300">
                <a:solidFill>
                  <a:srgbClr val="4A7C59"/>
                </a:solidFill>
                <a:effectLst/>
                <a:uFillTx/>
                <a:latin typeface="Calibri"/>
                <a:ea typeface="Calibri"/>
              </a:rPr>
              <a:t>WHY IT’S THE WAY IT IS</a:t>
            </a:r>
            <a:endParaRPr lang="en-US" sz="1100" b="0" u="none" strike="noStrike">
              <a:solidFill>
                <a:srgbClr val="000000"/>
              </a:solidFill>
              <a:effectLst/>
              <a:uFillTx/>
              <a:latin typeface="Arial"/>
            </a:endParaRPr>
          </a:p>
        </p:txBody>
      </p:sp>
      <p:sp>
        <p:nvSpPr>
          <p:cNvPr id="301" name="Text 8"/>
          <p:cNvSpPr/>
          <p:nvPr/>
        </p:nvSpPr>
        <p:spPr>
          <a:xfrm>
            <a:off x="7589520" y="3840480"/>
            <a:ext cx="4114440" cy="2285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100" b="0" u="none" strike="noStrike">
                <a:solidFill>
                  <a:srgbClr val="1F2937"/>
                </a:solidFill>
                <a:effectLst/>
                <a:uFillTx/>
                <a:latin typeface="Calibri"/>
                <a:ea typeface="Calibri"/>
              </a:rPr>
              <a:t>Certain months (aligned with IPC projection cycles, typically Jan, Feb, July, and October/November) have far more records than others, because that is when FEWS NET publishes national analyses. Sparse months are simply off-cycle — not a data quality problem, but a reminder that our time-series is irregularly sampled.</a:t>
            </a:r>
            <a:endParaRPr lang="en-US" sz="1100" b="0" u="none" strike="noStrike">
              <a:solidFill>
                <a:srgbClr val="000000"/>
              </a:solidFill>
              <a:effectLst/>
              <a:uFillTx/>
              <a:latin typeface="Arial"/>
            </a:endParaRPr>
          </a:p>
        </p:txBody>
      </p:sp>
      <p:sp>
        <p:nvSpPr>
          <p:cNvPr id="302" name="Text 9"/>
          <p:cNvSpPr/>
          <p:nvPr/>
        </p:nvSpPr>
        <p:spPr>
          <a:xfrm>
            <a:off x="45720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5B6472"/>
                </a:solidFill>
                <a:effectLst/>
                <a:uFillTx/>
                <a:latin typeface="Calibri"/>
                <a:ea typeface="Calibri"/>
              </a:rPr>
              <a:t>Kenya Food Security Forecasting  |  IPC Time-Series Study</a:t>
            </a:r>
            <a:endParaRPr lang="en-US" sz="1000" b="0" u="none" strike="noStrike">
              <a:solidFill>
                <a:srgbClr val="000000"/>
              </a:solidFill>
              <a:effectLst/>
              <a:uFillTx/>
              <a:latin typeface="Arial"/>
            </a:endParaRPr>
          </a:p>
        </p:txBody>
      </p:sp>
      <p:sp>
        <p:nvSpPr>
          <p:cNvPr id="303" name="Text 10"/>
          <p:cNvSpPr/>
          <p:nvPr/>
        </p:nvSpPr>
        <p:spPr>
          <a:xfrm>
            <a:off x="11338560" y="6537960"/>
            <a:ext cx="4568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000" b="0" u="none" strike="noStrike">
                <a:solidFill>
                  <a:srgbClr val="5B6472"/>
                </a:solidFill>
                <a:effectLst/>
                <a:uFillTx/>
                <a:latin typeface="Calibri"/>
                <a:ea typeface="Calibri"/>
              </a:rPr>
              <a:t>21</a:t>
            </a:r>
            <a:endParaRPr lang="en-US" sz="1000" b="0" u="none" strike="noStrike">
              <a:solidFill>
                <a:srgbClr val="000000"/>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328" name="Shape 0"/>
          <p:cNvSpPr/>
          <p:nvPr/>
        </p:nvSpPr>
        <p:spPr>
          <a:xfrm>
            <a:off x="0" y="0"/>
            <a:ext cx="12188520" cy="822600"/>
          </a:xfrm>
          <a:prstGeom prst="rect">
            <a:avLst/>
          </a:prstGeom>
          <a:solidFill>
            <a:srgbClr val="2C3E50"/>
          </a:solidFill>
          <a:ln w="12700">
            <a:solidFill>
              <a:srgbClr val="2C3E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29" name="Text 1"/>
          <p:cNvSpPr/>
          <p:nvPr/>
        </p:nvSpPr>
        <p:spPr>
          <a:xfrm>
            <a:off x="457200" y="13716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spc="400">
                <a:solidFill>
                  <a:srgbClr val="B85042"/>
                </a:solidFill>
                <a:effectLst/>
                <a:uFillTx/>
                <a:latin typeface="Calibri"/>
                <a:ea typeface="Calibri"/>
              </a:rPr>
              <a:t>SECTION 03</a:t>
            </a:r>
            <a:endParaRPr lang="en-US" sz="1200" b="0" u="none" strike="noStrike">
              <a:solidFill>
                <a:srgbClr val="000000"/>
              </a:solidFill>
              <a:effectLst/>
              <a:uFillTx/>
              <a:latin typeface="Arial"/>
            </a:endParaRPr>
          </a:p>
        </p:txBody>
      </p:sp>
      <p:sp>
        <p:nvSpPr>
          <p:cNvPr id="330" name="Text 2"/>
          <p:cNvSpPr/>
          <p:nvPr/>
        </p:nvSpPr>
        <p:spPr>
          <a:xfrm>
            <a:off x="457200" y="347400"/>
            <a:ext cx="109724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FFFFFF"/>
                </a:solidFill>
                <a:effectLst/>
                <a:uFillTx/>
                <a:latin typeface="Calibri"/>
                <a:ea typeface="Calibri"/>
              </a:rPr>
              <a:t>Feature Engineering</a:t>
            </a:r>
            <a:endParaRPr lang="en-US" sz="2600" b="0" u="none" strike="noStrike">
              <a:solidFill>
                <a:srgbClr val="000000"/>
              </a:solidFill>
              <a:effectLst/>
              <a:uFillTx/>
              <a:latin typeface="Arial"/>
            </a:endParaRPr>
          </a:p>
        </p:txBody>
      </p:sp>
      <p:sp>
        <p:nvSpPr>
          <p:cNvPr id="331" name="Shape 3"/>
          <p:cNvSpPr/>
          <p:nvPr/>
        </p:nvSpPr>
        <p:spPr>
          <a:xfrm>
            <a:off x="457200" y="960120"/>
            <a:ext cx="1097280" cy="360"/>
          </a:xfrm>
          <a:prstGeom prst="line">
            <a:avLst/>
          </a:prstGeom>
          <a:ln w="38100">
            <a:solidFill>
              <a:srgbClr val="B85042"/>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32" name="Text 4"/>
          <p:cNvSpPr/>
          <p:nvPr/>
        </p:nvSpPr>
        <p:spPr>
          <a:xfrm>
            <a:off x="457200" y="1143000"/>
            <a:ext cx="1124676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00" b="0" i="1" u="none" strike="noStrike">
                <a:solidFill>
                  <a:srgbClr val="5B6472"/>
                </a:solidFill>
                <a:effectLst/>
                <a:uFillTx/>
                <a:latin typeface="Calibri"/>
                <a:ea typeface="Calibri"/>
              </a:rPr>
              <a:t>Turning a flat table into a rich, time-aware feature set for machine learning.</a:t>
            </a:r>
            <a:endParaRPr lang="en-US" sz="1300" b="0" u="none" strike="noStrike">
              <a:solidFill>
                <a:srgbClr val="000000"/>
              </a:solidFill>
              <a:effectLst/>
              <a:uFillTx/>
              <a:latin typeface="Arial"/>
            </a:endParaRPr>
          </a:p>
        </p:txBody>
      </p:sp>
      <p:sp>
        <p:nvSpPr>
          <p:cNvPr id="333" name="Shape 5"/>
          <p:cNvSpPr/>
          <p:nvPr/>
        </p:nvSpPr>
        <p:spPr>
          <a:xfrm>
            <a:off x="457200" y="1600200"/>
            <a:ext cx="3730320" cy="2285640"/>
          </a:xfrm>
          <a:prstGeom prst="roundRect">
            <a:avLst>
              <a:gd name="adj" fmla="val 3200"/>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34" name="Shape 6"/>
          <p:cNvSpPr/>
          <p:nvPr/>
        </p:nvSpPr>
        <p:spPr>
          <a:xfrm>
            <a:off x="457200" y="1600200"/>
            <a:ext cx="136800" cy="2285640"/>
          </a:xfrm>
          <a:prstGeom prst="rect">
            <a:avLst/>
          </a:prstGeom>
          <a:solidFill>
            <a:srgbClr val="B85042"/>
          </a:solidFill>
          <a:ln w="12700">
            <a:solidFill>
              <a:srgbClr val="B8504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5" name="Text 7"/>
          <p:cNvSpPr/>
          <p:nvPr/>
        </p:nvSpPr>
        <p:spPr>
          <a:xfrm>
            <a:off x="731520" y="1691640"/>
            <a:ext cx="338292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a:solidFill>
                  <a:srgbClr val="B85042"/>
                </a:solidFill>
                <a:effectLst/>
                <a:uFillTx/>
                <a:latin typeface="Calibri"/>
                <a:ea typeface="Calibri"/>
              </a:rPr>
              <a:t>Panel Structure</a:t>
            </a:r>
            <a:endParaRPr lang="en-US" sz="1400" b="0" u="none" strike="noStrike">
              <a:solidFill>
                <a:srgbClr val="000000"/>
              </a:solidFill>
              <a:effectLst/>
              <a:uFillTx/>
              <a:latin typeface="Arial"/>
            </a:endParaRPr>
          </a:p>
        </p:txBody>
      </p:sp>
      <p:sp>
        <p:nvSpPr>
          <p:cNvPr id="336" name="Text 8"/>
          <p:cNvSpPr/>
          <p:nvPr/>
        </p:nvSpPr>
        <p:spPr>
          <a:xfrm>
            <a:off x="731520" y="2103120"/>
            <a:ext cx="3382920" cy="1737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43080" indent="-343080" defTabSz="914400">
              <a:lnSpc>
                <a:spcPct val="100000"/>
              </a:lnSpc>
              <a:spcAft>
                <a:spcPts val="601"/>
              </a:spcAft>
              <a:buClr>
                <a:srgbClr val="1F2937"/>
              </a:buClr>
              <a:buFont typeface="OpenSymbol"/>
              <a:buChar char="■"/>
            </a:pPr>
            <a:r>
              <a:rPr lang="en-US" sz="1000" b="0" u="none" strike="noStrike">
                <a:solidFill>
                  <a:srgbClr val="1F2937"/>
                </a:solidFill>
                <a:effectLst/>
                <a:uFillTx/>
                <a:latin typeface="Calibri"/>
                <a:ea typeface="Calibri"/>
              </a:rPr>
              <a:t>Grouped rows into panels by geographic unit (fnid)</a:t>
            </a:r>
            <a:endParaRPr lang="en-US" sz="1000" b="0" u="none" strike="noStrike">
              <a:solidFill>
                <a:srgbClr val="000000"/>
              </a:solidFill>
              <a:effectLst/>
              <a:uFillTx/>
              <a:latin typeface="Arial"/>
            </a:endParaRPr>
          </a:p>
          <a:p>
            <a:pPr marL="343080" indent="-343080" defTabSz="914400">
              <a:lnSpc>
                <a:spcPct val="100000"/>
              </a:lnSpc>
              <a:spcAft>
                <a:spcPts val="601"/>
              </a:spcAft>
              <a:buClr>
                <a:srgbClr val="1F2937"/>
              </a:buClr>
              <a:buFont typeface="OpenSymbol"/>
              <a:buChar char="■"/>
            </a:pPr>
            <a:r>
              <a:rPr lang="en-US" sz="1000" b="0" u="none" strike="noStrike">
                <a:solidFill>
                  <a:srgbClr val="1F2937"/>
                </a:solidFill>
                <a:effectLst/>
                <a:uFillTx/>
                <a:latin typeface="Calibri"/>
                <a:ea typeface="Calibri"/>
              </a:rPr>
              <a:t>Kept only panels with ≥ 7 observations for reliable temporal features</a:t>
            </a:r>
            <a:endParaRPr lang="en-US" sz="1000" b="0" u="none" strike="noStrike">
              <a:solidFill>
                <a:srgbClr val="000000"/>
              </a:solidFill>
              <a:effectLst/>
              <a:uFillTx/>
              <a:latin typeface="Arial"/>
            </a:endParaRPr>
          </a:p>
        </p:txBody>
      </p:sp>
      <p:sp>
        <p:nvSpPr>
          <p:cNvPr id="337" name="Shape 9"/>
          <p:cNvSpPr/>
          <p:nvPr/>
        </p:nvSpPr>
        <p:spPr>
          <a:xfrm>
            <a:off x="4370760" y="1600200"/>
            <a:ext cx="3730320" cy="2285640"/>
          </a:xfrm>
          <a:prstGeom prst="roundRect">
            <a:avLst>
              <a:gd name="adj" fmla="val 3200"/>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38" name="Shape 10"/>
          <p:cNvSpPr/>
          <p:nvPr/>
        </p:nvSpPr>
        <p:spPr>
          <a:xfrm>
            <a:off x="4370760" y="1600200"/>
            <a:ext cx="136800" cy="2285640"/>
          </a:xfrm>
          <a:prstGeom prst="rect">
            <a:avLst/>
          </a:prstGeom>
          <a:solidFill>
            <a:srgbClr val="4A7C59"/>
          </a:solidFill>
          <a:ln w="12700">
            <a:solidFill>
              <a:srgbClr val="4A7C5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9" name="Text 11"/>
          <p:cNvSpPr/>
          <p:nvPr/>
        </p:nvSpPr>
        <p:spPr>
          <a:xfrm>
            <a:off x="4645080" y="1691640"/>
            <a:ext cx="338292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a:solidFill>
                  <a:srgbClr val="4A7C59"/>
                </a:solidFill>
                <a:effectLst/>
                <a:uFillTx/>
                <a:latin typeface="Calibri"/>
                <a:ea typeface="Calibri"/>
              </a:rPr>
              <a:t>Lag Features</a:t>
            </a:r>
            <a:endParaRPr lang="en-US" sz="1400" b="0" u="none" strike="noStrike">
              <a:solidFill>
                <a:srgbClr val="000000"/>
              </a:solidFill>
              <a:effectLst/>
              <a:uFillTx/>
              <a:latin typeface="Arial"/>
            </a:endParaRPr>
          </a:p>
        </p:txBody>
      </p:sp>
      <p:sp>
        <p:nvSpPr>
          <p:cNvPr id="340" name="Text 12"/>
          <p:cNvSpPr/>
          <p:nvPr/>
        </p:nvSpPr>
        <p:spPr>
          <a:xfrm>
            <a:off x="4645080" y="2103120"/>
            <a:ext cx="3382920" cy="1737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43080" indent="-343080" defTabSz="914400">
              <a:lnSpc>
                <a:spcPct val="100000"/>
              </a:lnSpc>
              <a:spcAft>
                <a:spcPts val="601"/>
              </a:spcAft>
              <a:buClr>
                <a:srgbClr val="1F2937"/>
              </a:buClr>
              <a:buFont typeface="OpenSymbol"/>
              <a:buChar char="■"/>
            </a:pPr>
            <a:r>
              <a:rPr lang="en-US" sz="1000" b="0" u="none" strike="noStrike">
                <a:solidFill>
                  <a:srgbClr val="1F2937"/>
                </a:solidFill>
                <a:effectLst/>
                <a:uFillTx/>
                <a:latin typeface="Calibri"/>
                <a:ea typeface="Calibri"/>
              </a:rPr>
              <a:t>lag_1, lag_2, lag_3, lag_6 — past IPC values per location</a:t>
            </a:r>
            <a:endParaRPr lang="en-US" sz="1000" b="0" u="none" strike="noStrike">
              <a:solidFill>
                <a:srgbClr val="000000"/>
              </a:solidFill>
              <a:effectLst/>
              <a:uFillTx/>
              <a:latin typeface="Arial"/>
            </a:endParaRPr>
          </a:p>
          <a:p>
            <a:pPr marL="343080" indent="-343080" defTabSz="914400">
              <a:lnSpc>
                <a:spcPct val="100000"/>
              </a:lnSpc>
              <a:spcAft>
                <a:spcPts val="601"/>
              </a:spcAft>
              <a:buClr>
                <a:srgbClr val="1F2937"/>
              </a:buClr>
              <a:buFont typeface="OpenSymbol"/>
              <a:buChar char="■"/>
            </a:pPr>
            <a:r>
              <a:rPr lang="en-US" sz="1000" b="0" u="none" strike="noStrike">
                <a:solidFill>
                  <a:srgbClr val="1F2937"/>
                </a:solidFill>
                <a:effectLst/>
                <a:uFillTx/>
                <a:latin typeface="Calibri"/>
                <a:ea typeface="Calibri"/>
              </a:rPr>
              <a:t>Give the model direct memory of recent phases</a:t>
            </a:r>
            <a:endParaRPr lang="en-US" sz="1000" b="0" u="none" strike="noStrike">
              <a:solidFill>
                <a:srgbClr val="000000"/>
              </a:solidFill>
              <a:effectLst/>
              <a:uFillTx/>
              <a:latin typeface="Arial"/>
            </a:endParaRPr>
          </a:p>
        </p:txBody>
      </p:sp>
      <p:sp>
        <p:nvSpPr>
          <p:cNvPr id="341" name="Shape 13"/>
          <p:cNvSpPr/>
          <p:nvPr/>
        </p:nvSpPr>
        <p:spPr>
          <a:xfrm>
            <a:off x="8284320" y="1600200"/>
            <a:ext cx="3730320" cy="2285640"/>
          </a:xfrm>
          <a:prstGeom prst="roundRect">
            <a:avLst>
              <a:gd name="adj" fmla="val 3200"/>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2" name="Shape 14"/>
          <p:cNvSpPr/>
          <p:nvPr/>
        </p:nvSpPr>
        <p:spPr>
          <a:xfrm>
            <a:off x="8284320" y="1600200"/>
            <a:ext cx="136800" cy="2285640"/>
          </a:xfrm>
          <a:prstGeom prst="rect">
            <a:avLst/>
          </a:prstGeom>
          <a:solidFill>
            <a:srgbClr val="6D2E46"/>
          </a:solidFill>
          <a:ln w="12700">
            <a:solidFill>
              <a:srgbClr val="6D2E4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43" name="Text 15"/>
          <p:cNvSpPr/>
          <p:nvPr/>
        </p:nvSpPr>
        <p:spPr>
          <a:xfrm>
            <a:off x="8558640" y="1691640"/>
            <a:ext cx="338292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a:solidFill>
                  <a:srgbClr val="6D2E46"/>
                </a:solidFill>
                <a:effectLst/>
                <a:uFillTx/>
                <a:latin typeface="Calibri"/>
                <a:ea typeface="Calibri"/>
              </a:rPr>
              <a:t>Rolling Statistics</a:t>
            </a:r>
            <a:endParaRPr lang="en-US" sz="1400" b="0" u="none" strike="noStrike">
              <a:solidFill>
                <a:srgbClr val="000000"/>
              </a:solidFill>
              <a:effectLst/>
              <a:uFillTx/>
              <a:latin typeface="Arial"/>
            </a:endParaRPr>
          </a:p>
        </p:txBody>
      </p:sp>
      <p:sp>
        <p:nvSpPr>
          <p:cNvPr id="344" name="Text 16"/>
          <p:cNvSpPr/>
          <p:nvPr/>
        </p:nvSpPr>
        <p:spPr>
          <a:xfrm>
            <a:off x="8558640" y="2103120"/>
            <a:ext cx="3382920" cy="1737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43080" indent="-343080" defTabSz="914400">
              <a:lnSpc>
                <a:spcPct val="100000"/>
              </a:lnSpc>
              <a:spcAft>
                <a:spcPts val="601"/>
              </a:spcAft>
              <a:buClr>
                <a:srgbClr val="1F2937"/>
              </a:buClr>
              <a:buFont typeface="OpenSymbol"/>
              <a:buChar char="■"/>
            </a:pPr>
            <a:r>
              <a:rPr lang="en-US" sz="1000" b="0" u="none" strike="noStrike">
                <a:solidFill>
                  <a:srgbClr val="1F2937"/>
                </a:solidFill>
                <a:effectLst/>
                <a:uFillTx/>
                <a:latin typeface="Calibri"/>
                <a:ea typeface="Calibri"/>
              </a:rPr>
              <a:t>rolling_mean_3 / _6, rolling_std_3 / _6</a:t>
            </a:r>
            <a:endParaRPr lang="en-US" sz="1000" b="0" u="none" strike="noStrike">
              <a:solidFill>
                <a:srgbClr val="000000"/>
              </a:solidFill>
              <a:effectLst/>
              <a:uFillTx/>
              <a:latin typeface="Arial"/>
            </a:endParaRPr>
          </a:p>
          <a:p>
            <a:pPr marL="343080" indent="-343080" defTabSz="914400">
              <a:lnSpc>
                <a:spcPct val="100000"/>
              </a:lnSpc>
              <a:spcAft>
                <a:spcPts val="601"/>
              </a:spcAft>
              <a:buClr>
                <a:srgbClr val="1F2937"/>
              </a:buClr>
              <a:buFont typeface="OpenSymbol"/>
              <a:buChar char="■"/>
            </a:pPr>
            <a:r>
              <a:rPr lang="en-US" sz="1000" b="0" u="none" strike="noStrike">
                <a:solidFill>
                  <a:srgbClr val="1F2937"/>
                </a:solidFill>
                <a:effectLst/>
                <a:uFillTx/>
                <a:latin typeface="Calibri"/>
                <a:ea typeface="Calibri"/>
              </a:rPr>
              <a:t>rolling_min_3 / _6, rolling_max_3 / _6</a:t>
            </a:r>
            <a:endParaRPr lang="en-US" sz="1000" b="0" u="none" strike="noStrike">
              <a:solidFill>
                <a:srgbClr val="000000"/>
              </a:solidFill>
              <a:effectLst/>
              <a:uFillTx/>
              <a:latin typeface="Arial"/>
            </a:endParaRPr>
          </a:p>
          <a:p>
            <a:pPr marL="343080" indent="-343080" defTabSz="914400">
              <a:lnSpc>
                <a:spcPct val="100000"/>
              </a:lnSpc>
              <a:spcAft>
                <a:spcPts val="601"/>
              </a:spcAft>
              <a:buClr>
                <a:srgbClr val="1F2937"/>
              </a:buClr>
              <a:buFont typeface="OpenSymbol"/>
              <a:buChar char="■"/>
            </a:pPr>
            <a:r>
              <a:rPr lang="en-US" sz="1000" b="0" u="none" strike="noStrike">
                <a:solidFill>
                  <a:srgbClr val="1F2937"/>
                </a:solidFill>
                <a:effectLst/>
                <a:uFillTx/>
                <a:latin typeface="Calibri"/>
                <a:ea typeface="Calibri"/>
              </a:rPr>
              <a:t>Smoothed level, volatility, and range around each point</a:t>
            </a:r>
            <a:endParaRPr lang="en-US" sz="1000" b="0" u="none" strike="noStrike">
              <a:solidFill>
                <a:srgbClr val="000000"/>
              </a:solidFill>
              <a:effectLst/>
              <a:uFillTx/>
              <a:latin typeface="Arial"/>
            </a:endParaRPr>
          </a:p>
        </p:txBody>
      </p:sp>
      <p:sp>
        <p:nvSpPr>
          <p:cNvPr id="345" name="Shape 17"/>
          <p:cNvSpPr/>
          <p:nvPr/>
        </p:nvSpPr>
        <p:spPr>
          <a:xfrm>
            <a:off x="457200" y="4023360"/>
            <a:ext cx="3730320" cy="2285640"/>
          </a:xfrm>
          <a:prstGeom prst="roundRect">
            <a:avLst>
              <a:gd name="adj" fmla="val 3200"/>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6" name="Shape 18"/>
          <p:cNvSpPr/>
          <p:nvPr/>
        </p:nvSpPr>
        <p:spPr>
          <a:xfrm>
            <a:off x="457200" y="4023360"/>
            <a:ext cx="136800" cy="2285640"/>
          </a:xfrm>
          <a:prstGeom prst="rect">
            <a:avLst/>
          </a:prstGeom>
          <a:solidFill>
            <a:srgbClr val="065A82"/>
          </a:solidFill>
          <a:ln w="12700">
            <a:solidFill>
              <a:srgbClr val="065A8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47" name="Text 19"/>
          <p:cNvSpPr/>
          <p:nvPr/>
        </p:nvSpPr>
        <p:spPr>
          <a:xfrm>
            <a:off x="731520" y="4114800"/>
            <a:ext cx="338292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a:solidFill>
                  <a:srgbClr val="065A82"/>
                </a:solidFill>
                <a:effectLst/>
                <a:uFillTx/>
                <a:latin typeface="Calibri"/>
                <a:ea typeface="Calibri"/>
              </a:rPr>
              <a:t>Change &amp; Trend</a:t>
            </a:r>
            <a:endParaRPr lang="en-US" sz="1400" b="0" u="none" strike="noStrike">
              <a:solidFill>
                <a:srgbClr val="000000"/>
              </a:solidFill>
              <a:effectLst/>
              <a:uFillTx/>
              <a:latin typeface="Arial"/>
            </a:endParaRPr>
          </a:p>
        </p:txBody>
      </p:sp>
      <p:sp>
        <p:nvSpPr>
          <p:cNvPr id="348" name="Text 20"/>
          <p:cNvSpPr/>
          <p:nvPr/>
        </p:nvSpPr>
        <p:spPr>
          <a:xfrm>
            <a:off x="731520" y="4526280"/>
            <a:ext cx="3382920" cy="1737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43080" indent="-343080" defTabSz="914400">
              <a:lnSpc>
                <a:spcPct val="100000"/>
              </a:lnSpc>
              <a:spcAft>
                <a:spcPts val="601"/>
              </a:spcAft>
              <a:buClr>
                <a:srgbClr val="1F2937"/>
              </a:buClr>
              <a:buFont typeface="OpenSymbol"/>
              <a:buChar char="■"/>
            </a:pPr>
            <a:r>
              <a:rPr lang="en-US" sz="1000" b="0" u="none" strike="noStrike">
                <a:solidFill>
                  <a:srgbClr val="1F2937"/>
                </a:solidFill>
                <a:effectLst/>
                <a:uFillTx/>
                <a:latin typeface="Calibri"/>
                <a:ea typeface="Calibri"/>
              </a:rPr>
              <a:t>difference, pct_change — first-order dynamics</a:t>
            </a:r>
            <a:endParaRPr lang="en-US" sz="1000" b="0" u="none" strike="noStrike">
              <a:solidFill>
                <a:srgbClr val="000000"/>
              </a:solidFill>
              <a:effectLst/>
              <a:uFillTx/>
              <a:latin typeface="Arial"/>
            </a:endParaRPr>
          </a:p>
          <a:p>
            <a:pPr marL="343080" indent="-343080" defTabSz="914400">
              <a:lnSpc>
                <a:spcPct val="100000"/>
              </a:lnSpc>
              <a:spcAft>
                <a:spcPts val="601"/>
              </a:spcAft>
              <a:buClr>
                <a:srgbClr val="1F2937"/>
              </a:buClr>
              <a:buFont typeface="OpenSymbol"/>
              <a:buChar char="■"/>
            </a:pPr>
            <a:r>
              <a:rPr lang="en-US" sz="1000" b="0" u="none" strike="noStrike">
                <a:solidFill>
                  <a:srgbClr val="1F2937"/>
                </a:solidFill>
                <a:effectLst/>
                <a:uFillTx/>
                <a:latin typeface="Calibri"/>
                <a:ea typeface="Calibri"/>
              </a:rPr>
              <a:t>expanding_mean — cumulative baseline per location</a:t>
            </a:r>
            <a:endParaRPr lang="en-US" sz="1000" b="0" u="none" strike="noStrike">
              <a:solidFill>
                <a:srgbClr val="000000"/>
              </a:solidFill>
              <a:effectLst/>
              <a:uFillTx/>
              <a:latin typeface="Arial"/>
            </a:endParaRPr>
          </a:p>
        </p:txBody>
      </p:sp>
      <p:sp>
        <p:nvSpPr>
          <p:cNvPr id="349" name="Shape 21"/>
          <p:cNvSpPr/>
          <p:nvPr/>
        </p:nvSpPr>
        <p:spPr>
          <a:xfrm>
            <a:off x="4370760" y="4023360"/>
            <a:ext cx="3730320" cy="2285640"/>
          </a:xfrm>
          <a:prstGeom prst="roundRect">
            <a:avLst>
              <a:gd name="adj" fmla="val 3200"/>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50" name="Shape 22"/>
          <p:cNvSpPr/>
          <p:nvPr/>
        </p:nvSpPr>
        <p:spPr>
          <a:xfrm>
            <a:off x="4370760" y="4023360"/>
            <a:ext cx="136800" cy="2285640"/>
          </a:xfrm>
          <a:prstGeom prst="rect">
            <a:avLst/>
          </a:prstGeom>
          <a:solidFill>
            <a:srgbClr val="2C5F2D"/>
          </a:solidFill>
          <a:ln w="12700">
            <a:solidFill>
              <a:srgbClr val="2C5F2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51" name="Text 23"/>
          <p:cNvSpPr/>
          <p:nvPr/>
        </p:nvSpPr>
        <p:spPr>
          <a:xfrm>
            <a:off x="4645080" y="4114800"/>
            <a:ext cx="338292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a:solidFill>
                  <a:srgbClr val="2C5F2D"/>
                </a:solidFill>
                <a:effectLst/>
                <a:uFillTx/>
                <a:latin typeface="Calibri"/>
                <a:ea typeface="Calibri"/>
              </a:rPr>
              <a:t>Cyclical Time</a:t>
            </a:r>
            <a:endParaRPr lang="en-US" sz="1400" b="0" u="none" strike="noStrike">
              <a:solidFill>
                <a:srgbClr val="000000"/>
              </a:solidFill>
              <a:effectLst/>
              <a:uFillTx/>
              <a:latin typeface="Arial"/>
            </a:endParaRPr>
          </a:p>
        </p:txBody>
      </p:sp>
      <p:sp>
        <p:nvSpPr>
          <p:cNvPr id="352" name="Text 24"/>
          <p:cNvSpPr/>
          <p:nvPr/>
        </p:nvSpPr>
        <p:spPr>
          <a:xfrm>
            <a:off x="4645080" y="4526280"/>
            <a:ext cx="3382920" cy="1737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43080" indent="-343080" defTabSz="914400">
              <a:lnSpc>
                <a:spcPct val="100000"/>
              </a:lnSpc>
              <a:spcAft>
                <a:spcPts val="601"/>
              </a:spcAft>
              <a:buClr>
                <a:srgbClr val="1F2937"/>
              </a:buClr>
              <a:buFont typeface="OpenSymbol"/>
              <a:buChar char="■"/>
            </a:pPr>
            <a:r>
              <a:rPr lang="en-US" sz="1000" b="0" u="none" strike="noStrike">
                <a:solidFill>
                  <a:srgbClr val="1F2937"/>
                </a:solidFill>
                <a:effectLst/>
                <a:uFillTx/>
                <a:latin typeface="Calibri"/>
                <a:ea typeface="Calibri"/>
              </a:rPr>
              <a:t>month_sin, month_cos, quarter_sin, quarter_cos</a:t>
            </a:r>
            <a:endParaRPr lang="en-US" sz="1000" b="0" u="none" strike="noStrike">
              <a:solidFill>
                <a:srgbClr val="000000"/>
              </a:solidFill>
              <a:effectLst/>
              <a:uFillTx/>
              <a:latin typeface="Arial"/>
            </a:endParaRPr>
          </a:p>
          <a:p>
            <a:pPr marL="343080" indent="-343080" defTabSz="914400">
              <a:lnSpc>
                <a:spcPct val="100000"/>
              </a:lnSpc>
              <a:spcAft>
                <a:spcPts val="601"/>
              </a:spcAft>
              <a:buClr>
                <a:srgbClr val="1F2937"/>
              </a:buClr>
              <a:buFont typeface="OpenSymbol"/>
              <a:buChar char="■"/>
            </a:pPr>
            <a:r>
              <a:rPr lang="en-US" sz="1000" b="0" u="none" strike="noStrike">
                <a:solidFill>
                  <a:srgbClr val="1F2937"/>
                </a:solidFill>
                <a:effectLst/>
                <a:uFillTx/>
                <a:latin typeface="Calibri"/>
                <a:ea typeface="Calibri"/>
              </a:rPr>
              <a:t>Encode seasonality without artificial jumps at year boundaries</a:t>
            </a:r>
            <a:endParaRPr lang="en-US" sz="1000" b="0" u="none" strike="noStrike">
              <a:solidFill>
                <a:srgbClr val="000000"/>
              </a:solidFill>
              <a:effectLst/>
              <a:uFillTx/>
              <a:latin typeface="Arial"/>
            </a:endParaRPr>
          </a:p>
        </p:txBody>
      </p:sp>
      <p:sp>
        <p:nvSpPr>
          <p:cNvPr id="353" name="Shape 25"/>
          <p:cNvSpPr/>
          <p:nvPr/>
        </p:nvSpPr>
        <p:spPr>
          <a:xfrm>
            <a:off x="8284320" y="4023360"/>
            <a:ext cx="3730320" cy="2285640"/>
          </a:xfrm>
          <a:prstGeom prst="roundRect">
            <a:avLst>
              <a:gd name="adj" fmla="val 3200"/>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54" name="Shape 26"/>
          <p:cNvSpPr/>
          <p:nvPr/>
        </p:nvSpPr>
        <p:spPr>
          <a:xfrm>
            <a:off x="8284320" y="4023360"/>
            <a:ext cx="136800" cy="2285640"/>
          </a:xfrm>
          <a:prstGeom prst="rect">
            <a:avLst/>
          </a:prstGeom>
          <a:solidFill>
            <a:srgbClr val="B85042"/>
          </a:solidFill>
          <a:ln w="12700">
            <a:solidFill>
              <a:srgbClr val="B8504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55" name="Text 27"/>
          <p:cNvSpPr/>
          <p:nvPr/>
        </p:nvSpPr>
        <p:spPr>
          <a:xfrm>
            <a:off x="8558640" y="4114800"/>
            <a:ext cx="338292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a:solidFill>
                  <a:srgbClr val="B85042"/>
                </a:solidFill>
                <a:effectLst/>
                <a:uFillTx/>
                <a:latin typeface="Calibri"/>
                <a:ea typeface="Calibri"/>
              </a:rPr>
              <a:t>Calendar Features</a:t>
            </a:r>
            <a:endParaRPr lang="en-US" sz="1400" b="0" u="none" strike="noStrike">
              <a:solidFill>
                <a:srgbClr val="000000"/>
              </a:solidFill>
              <a:effectLst/>
              <a:uFillTx/>
              <a:latin typeface="Arial"/>
            </a:endParaRPr>
          </a:p>
        </p:txBody>
      </p:sp>
      <p:sp>
        <p:nvSpPr>
          <p:cNvPr id="356" name="Text 28"/>
          <p:cNvSpPr/>
          <p:nvPr/>
        </p:nvSpPr>
        <p:spPr>
          <a:xfrm>
            <a:off x="8558640" y="4526280"/>
            <a:ext cx="3382920" cy="1737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43080" indent="-343080" defTabSz="914400">
              <a:lnSpc>
                <a:spcPct val="100000"/>
              </a:lnSpc>
              <a:spcAft>
                <a:spcPts val="601"/>
              </a:spcAft>
              <a:buClr>
                <a:srgbClr val="1F2937"/>
              </a:buClr>
              <a:buFont typeface="OpenSymbol"/>
              <a:buChar char="■"/>
            </a:pPr>
            <a:r>
              <a:rPr lang="en-US" sz="1000" b="0" u="none" strike="noStrike">
                <a:solidFill>
                  <a:srgbClr val="1F2937"/>
                </a:solidFill>
                <a:effectLst/>
                <a:uFillTx/>
                <a:latin typeface="Calibri"/>
                <a:ea typeface="Calibri"/>
              </a:rPr>
              <a:t>year, month, quarter as raw ordinals</a:t>
            </a:r>
            <a:endParaRPr lang="en-US" sz="1000" b="0" u="none" strike="noStrike">
              <a:solidFill>
                <a:srgbClr val="000000"/>
              </a:solidFill>
              <a:effectLst/>
              <a:uFillTx/>
              <a:latin typeface="Arial"/>
            </a:endParaRPr>
          </a:p>
          <a:p>
            <a:pPr marL="343080" indent="-343080" defTabSz="914400">
              <a:lnSpc>
                <a:spcPct val="100000"/>
              </a:lnSpc>
              <a:spcAft>
                <a:spcPts val="601"/>
              </a:spcAft>
              <a:buClr>
                <a:srgbClr val="1F2937"/>
              </a:buClr>
              <a:buFont typeface="OpenSymbol"/>
              <a:buChar char="■"/>
            </a:pPr>
            <a:r>
              <a:rPr lang="en-US" sz="1000" b="0" u="none" strike="noStrike">
                <a:solidFill>
                  <a:srgbClr val="1F2937"/>
                </a:solidFill>
                <a:effectLst/>
                <a:uFillTx/>
                <a:latin typeface="Calibri"/>
                <a:ea typeface="Calibri"/>
              </a:rPr>
              <a:t>Combined with the cyclical encodings above</a:t>
            </a:r>
            <a:endParaRPr lang="en-US" sz="1000" b="0" u="none" strike="noStrike">
              <a:solidFill>
                <a:srgbClr val="000000"/>
              </a:solidFill>
              <a:effectLst/>
              <a:uFillTx/>
              <a:latin typeface="Arial"/>
            </a:endParaRPr>
          </a:p>
        </p:txBody>
      </p:sp>
      <p:sp>
        <p:nvSpPr>
          <p:cNvPr id="357" name="Text 29"/>
          <p:cNvSpPr/>
          <p:nvPr/>
        </p:nvSpPr>
        <p:spPr>
          <a:xfrm>
            <a:off x="45720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5B6472"/>
                </a:solidFill>
                <a:effectLst/>
                <a:uFillTx/>
                <a:latin typeface="Calibri"/>
                <a:ea typeface="Calibri"/>
              </a:rPr>
              <a:t>Kenya Food Security Forecasting  |  IPC Time-Series Study</a:t>
            </a:r>
            <a:endParaRPr lang="en-US" sz="1000" b="0" u="none" strike="noStrike">
              <a:solidFill>
                <a:srgbClr val="000000"/>
              </a:solidFill>
              <a:effectLst/>
              <a:uFillTx/>
              <a:latin typeface="Arial"/>
            </a:endParaRPr>
          </a:p>
        </p:txBody>
      </p:sp>
      <p:sp>
        <p:nvSpPr>
          <p:cNvPr id="358" name="Text 30"/>
          <p:cNvSpPr/>
          <p:nvPr/>
        </p:nvSpPr>
        <p:spPr>
          <a:xfrm>
            <a:off x="11338560" y="6537960"/>
            <a:ext cx="4568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000" b="0" u="none" strike="noStrike">
                <a:solidFill>
                  <a:srgbClr val="5B6472"/>
                </a:solidFill>
                <a:effectLst/>
                <a:uFillTx/>
                <a:latin typeface="Calibri"/>
                <a:ea typeface="Calibri"/>
              </a:rPr>
              <a:t>24</a:t>
            </a:r>
            <a:endParaRPr lang="en-US" sz="1000" b="0" u="none" strike="noStrike">
              <a:solidFill>
                <a:srgbClr val="000000"/>
              </a:solidFill>
              <a:effectLst/>
              <a:uFillTx/>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359" name="Shape 0"/>
          <p:cNvSpPr/>
          <p:nvPr/>
        </p:nvSpPr>
        <p:spPr>
          <a:xfrm>
            <a:off x="0" y="0"/>
            <a:ext cx="12188520" cy="822600"/>
          </a:xfrm>
          <a:prstGeom prst="rect">
            <a:avLst/>
          </a:prstGeom>
          <a:solidFill>
            <a:srgbClr val="2C3E50"/>
          </a:solidFill>
          <a:ln w="12700">
            <a:solidFill>
              <a:srgbClr val="2C3E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60" name="Text 1"/>
          <p:cNvSpPr/>
          <p:nvPr/>
        </p:nvSpPr>
        <p:spPr>
          <a:xfrm>
            <a:off x="457200" y="13716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spc="400">
                <a:solidFill>
                  <a:srgbClr val="B85042"/>
                </a:solidFill>
                <a:effectLst/>
                <a:uFillTx/>
                <a:latin typeface="Calibri"/>
                <a:ea typeface="Calibri"/>
              </a:rPr>
              <a:t>FEATURE ENGINEERING · OUTCOME</a:t>
            </a:r>
            <a:endParaRPr lang="en-US" sz="1200" b="0" u="none" strike="noStrike">
              <a:solidFill>
                <a:srgbClr val="000000"/>
              </a:solidFill>
              <a:effectLst/>
              <a:uFillTx/>
              <a:latin typeface="Arial"/>
            </a:endParaRPr>
          </a:p>
        </p:txBody>
      </p:sp>
      <p:sp>
        <p:nvSpPr>
          <p:cNvPr id="361" name="Text 2"/>
          <p:cNvSpPr/>
          <p:nvPr/>
        </p:nvSpPr>
        <p:spPr>
          <a:xfrm>
            <a:off x="457200" y="347400"/>
            <a:ext cx="109724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FFFFFF"/>
                </a:solidFill>
                <a:effectLst/>
                <a:uFillTx/>
                <a:latin typeface="Calibri"/>
                <a:ea typeface="Calibri"/>
              </a:rPr>
              <a:t>Final Modeling Dataset</a:t>
            </a:r>
            <a:endParaRPr lang="en-US" sz="2600" b="0" u="none" strike="noStrike">
              <a:solidFill>
                <a:srgbClr val="000000"/>
              </a:solidFill>
              <a:effectLst/>
              <a:uFillTx/>
              <a:latin typeface="Arial"/>
            </a:endParaRPr>
          </a:p>
        </p:txBody>
      </p:sp>
      <p:sp>
        <p:nvSpPr>
          <p:cNvPr id="362" name="Shape 3"/>
          <p:cNvSpPr/>
          <p:nvPr/>
        </p:nvSpPr>
        <p:spPr>
          <a:xfrm>
            <a:off x="457200" y="960120"/>
            <a:ext cx="1097280" cy="360"/>
          </a:xfrm>
          <a:prstGeom prst="line">
            <a:avLst/>
          </a:prstGeom>
          <a:ln w="38100">
            <a:solidFill>
              <a:srgbClr val="B85042"/>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63" name="Shape 4"/>
          <p:cNvSpPr/>
          <p:nvPr/>
        </p:nvSpPr>
        <p:spPr>
          <a:xfrm>
            <a:off x="457200" y="1280160"/>
            <a:ext cx="11246760" cy="2011320"/>
          </a:xfrm>
          <a:prstGeom prst="roundRect">
            <a:avLst>
              <a:gd name="adj" fmla="val 3636"/>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64" name="Text 5"/>
          <p:cNvSpPr/>
          <p:nvPr/>
        </p:nvSpPr>
        <p:spPr>
          <a:xfrm>
            <a:off x="685800" y="1417320"/>
            <a:ext cx="10789560" cy="1737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300" b="0" u="none" strike="noStrike">
                <a:solidFill>
                  <a:srgbClr val="1F2937"/>
                </a:solidFill>
                <a:effectLst/>
                <a:uFillTx/>
                <a:latin typeface="Calibri"/>
                <a:ea typeface="Calibri"/>
              </a:rPr>
              <a:t>After lag/rolling features are computed, early rows per panel are dropped (they have no history). The result is a clean, fully-numeric, gap-free feature matrix ready for Random Forest and XGBoost.</a:t>
            </a:r>
            <a:endParaRPr lang="en-US" sz="1300" b="0" u="none" strike="noStrike">
              <a:solidFill>
                <a:srgbClr val="000000"/>
              </a:solidFill>
              <a:effectLst/>
              <a:uFillTx/>
              <a:latin typeface="Arial"/>
            </a:endParaRPr>
          </a:p>
        </p:txBody>
      </p:sp>
      <p:sp>
        <p:nvSpPr>
          <p:cNvPr id="365" name="Shape 6"/>
          <p:cNvSpPr/>
          <p:nvPr/>
        </p:nvSpPr>
        <p:spPr>
          <a:xfrm>
            <a:off x="457200" y="3520440"/>
            <a:ext cx="2697120" cy="1554120"/>
          </a:xfrm>
          <a:prstGeom prst="roundRect">
            <a:avLst>
              <a:gd name="adj" fmla="val 4706"/>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dirty="0">
              <a:solidFill>
                <a:srgbClr val="000000"/>
              </a:solidFill>
              <a:effectLst/>
              <a:uFillTx/>
              <a:latin typeface="Arial"/>
            </a:endParaRPr>
          </a:p>
        </p:txBody>
      </p:sp>
      <p:sp>
        <p:nvSpPr>
          <p:cNvPr id="366" name="Text 7"/>
          <p:cNvSpPr/>
          <p:nvPr/>
        </p:nvSpPr>
        <p:spPr>
          <a:xfrm>
            <a:off x="457200" y="3611880"/>
            <a:ext cx="2697120" cy="868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3000" b="1" dirty="0">
                <a:solidFill>
                  <a:srgbClr val="B85042"/>
                </a:solidFill>
                <a:latin typeface="Calibri"/>
                <a:ea typeface="Calibri"/>
              </a:rPr>
              <a:t>24,380</a:t>
            </a:r>
            <a:endParaRPr lang="en-US" sz="3000" b="0" u="none" strike="noStrike" dirty="0">
              <a:solidFill>
                <a:srgbClr val="000000"/>
              </a:solidFill>
              <a:effectLst/>
              <a:uFillTx/>
              <a:latin typeface="Arial"/>
            </a:endParaRPr>
          </a:p>
        </p:txBody>
      </p:sp>
      <p:sp>
        <p:nvSpPr>
          <p:cNvPr id="367" name="Text 8"/>
          <p:cNvSpPr/>
          <p:nvPr/>
        </p:nvSpPr>
        <p:spPr>
          <a:xfrm>
            <a:off x="457200" y="4480560"/>
            <a:ext cx="269712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100" b="0" u="none" strike="noStrike">
                <a:solidFill>
                  <a:srgbClr val="5B6472"/>
                </a:solidFill>
                <a:effectLst/>
                <a:uFillTx/>
                <a:latin typeface="Calibri"/>
                <a:ea typeface="Calibri"/>
              </a:rPr>
              <a:t>Modeling rows (after drop-NA)</a:t>
            </a:r>
            <a:endParaRPr lang="en-US" sz="1100" b="0" u="none" strike="noStrike">
              <a:solidFill>
                <a:srgbClr val="000000"/>
              </a:solidFill>
              <a:effectLst/>
              <a:uFillTx/>
              <a:latin typeface="Arial"/>
            </a:endParaRPr>
          </a:p>
        </p:txBody>
      </p:sp>
      <p:sp>
        <p:nvSpPr>
          <p:cNvPr id="368" name="Shape 9"/>
          <p:cNvSpPr/>
          <p:nvPr/>
        </p:nvSpPr>
        <p:spPr>
          <a:xfrm>
            <a:off x="3319200" y="3520440"/>
            <a:ext cx="2697120" cy="1554120"/>
          </a:xfrm>
          <a:prstGeom prst="roundRect">
            <a:avLst>
              <a:gd name="adj" fmla="val 4706"/>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69" name="Text 10"/>
          <p:cNvSpPr/>
          <p:nvPr/>
        </p:nvSpPr>
        <p:spPr>
          <a:xfrm>
            <a:off x="3319200" y="3611880"/>
            <a:ext cx="2697120" cy="868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3000" b="1" dirty="0">
                <a:solidFill>
                  <a:srgbClr val="B85042"/>
                </a:solidFill>
                <a:latin typeface="Calibri"/>
                <a:ea typeface="Calibri"/>
              </a:rPr>
              <a:t>34</a:t>
            </a:r>
            <a:endParaRPr lang="en-US" sz="3000" b="0" u="none" strike="noStrike" dirty="0">
              <a:solidFill>
                <a:srgbClr val="000000"/>
              </a:solidFill>
              <a:effectLst/>
              <a:uFillTx/>
              <a:latin typeface="Arial"/>
            </a:endParaRPr>
          </a:p>
        </p:txBody>
      </p:sp>
      <p:sp>
        <p:nvSpPr>
          <p:cNvPr id="370" name="Text 11"/>
          <p:cNvSpPr/>
          <p:nvPr/>
        </p:nvSpPr>
        <p:spPr>
          <a:xfrm>
            <a:off x="3319200" y="4480560"/>
            <a:ext cx="269712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100" b="0" u="none" strike="noStrike">
                <a:solidFill>
                  <a:srgbClr val="5B6472"/>
                </a:solidFill>
                <a:effectLst/>
                <a:uFillTx/>
                <a:latin typeface="Calibri"/>
                <a:ea typeface="Calibri"/>
              </a:rPr>
              <a:t>Feature columns</a:t>
            </a:r>
            <a:endParaRPr lang="en-US" sz="1100" b="0" u="none" strike="noStrike">
              <a:solidFill>
                <a:srgbClr val="000000"/>
              </a:solidFill>
              <a:effectLst/>
              <a:uFillTx/>
              <a:latin typeface="Arial"/>
            </a:endParaRPr>
          </a:p>
        </p:txBody>
      </p:sp>
      <p:sp>
        <p:nvSpPr>
          <p:cNvPr id="371" name="Shape 12"/>
          <p:cNvSpPr/>
          <p:nvPr/>
        </p:nvSpPr>
        <p:spPr>
          <a:xfrm>
            <a:off x="6181200" y="3520440"/>
            <a:ext cx="2697120" cy="1554120"/>
          </a:xfrm>
          <a:prstGeom prst="roundRect">
            <a:avLst>
              <a:gd name="adj" fmla="val 4706"/>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72" name="Text 13"/>
          <p:cNvSpPr/>
          <p:nvPr/>
        </p:nvSpPr>
        <p:spPr>
          <a:xfrm>
            <a:off x="6181200" y="3611880"/>
            <a:ext cx="2697120" cy="868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3000" b="1" u="none" strike="noStrike">
                <a:solidFill>
                  <a:srgbClr val="B85042"/>
                </a:solidFill>
                <a:effectLst/>
                <a:uFillTx/>
                <a:latin typeface="Calibri"/>
                <a:ea typeface="Calibri"/>
              </a:rPr>
              <a:t>19</a:t>
            </a:r>
            <a:endParaRPr lang="en-US" sz="3000" b="0" u="none" strike="noStrike">
              <a:solidFill>
                <a:srgbClr val="000000"/>
              </a:solidFill>
              <a:effectLst/>
              <a:uFillTx/>
              <a:latin typeface="Arial"/>
            </a:endParaRPr>
          </a:p>
        </p:txBody>
      </p:sp>
      <p:sp>
        <p:nvSpPr>
          <p:cNvPr id="373" name="Text 14"/>
          <p:cNvSpPr/>
          <p:nvPr/>
        </p:nvSpPr>
        <p:spPr>
          <a:xfrm>
            <a:off x="6181200" y="4480560"/>
            <a:ext cx="269712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100" b="0" u="none" strike="noStrike">
                <a:solidFill>
                  <a:srgbClr val="5B6472"/>
                </a:solidFill>
                <a:effectLst/>
                <a:uFillTx/>
                <a:latin typeface="Calibri"/>
                <a:ea typeface="Calibri"/>
              </a:rPr>
              <a:t>ML feature signals</a:t>
            </a:r>
            <a:endParaRPr lang="en-US" sz="1100" b="0" u="none" strike="noStrike">
              <a:solidFill>
                <a:srgbClr val="000000"/>
              </a:solidFill>
              <a:effectLst/>
              <a:uFillTx/>
              <a:latin typeface="Arial"/>
            </a:endParaRPr>
          </a:p>
        </p:txBody>
      </p:sp>
      <p:sp>
        <p:nvSpPr>
          <p:cNvPr id="374" name="Shape 15"/>
          <p:cNvSpPr/>
          <p:nvPr/>
        </p:nvSpPr>
        <p:spPr>
          <a:xfrm>
            <a:off x="9043560" y="3520440"/>
            <a:ext cx="2697120" cy="1554120"/>
          </a:xfrm>
          <a:prstGeom prst="roundRect">
            <a:avLst>
              <a:gd name="adj" fmla="val 4706"/>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75" name="Text 16"/>
          <p:cNvSpPr/>
          <p:nvPr/>
        </p:nvSpPr>
        <p:spPr>
          <a:xfrm>
            <a:off x="9043560" y="3611880"/>
            <a:ext cx="2697120" cy="868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3000" b="1" u="none" strike="noStrike">
                <a:solidFill>
                  <a:srgbClr val="B85042"/>
                </a:solidFill>
                <a:effectLst/>
                <a:uFillTx/>
                <a:latin typeface="Calibri"/>
                <a:ea typeface="Calibri"/>
              </a:rPr>
              <a:t>0</a:t>
            </a:r>
            <a:endParaRPr lang="en-US" sz="3000" b="0" u="none" strike="noStrike">
              <a:solidFill>
                <a:srgbClr val="000000"/>
              </a:solidFill>
              <a:effectLst/>
              <a:uFillTx/>
              <a:latin typeface="Arial"/>
            </a:endParaRPr>
          </a:p>
        </p:txBody>
      </p:sp>
      <p:sp>
        <p:nvSpPr>
          <p:cNvPr id="376" name="Text 17"/>
          <p:cNvSpPr/>
          <p:nvPr/>
        </p:nvSpPr>
        <p:spPr>
          <a:xfrm>
            <a:off x="9043560" y="4480560"/>
            <a:ext cx="269712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100" b="0" u="none" strike="noStrike">
                <a:solidFill>
                  <a:srgbClr val="5B6472"/>
                </a:solidFill>
                <a:effectLst/>
                <a:uFillTx/>
                <a:latin typeface="Calibri"/>
                <a:ea typeface="Calibri"/>
              </a:rPr>
              <a:t>Missing values</a:t>
            </a:r>
            <a:endParaRPr lang="en-US" sz="1100" b="0" u="none" strike="noStrike">
              <a:solidFill>
                <a:srgbClr val="000000"/>
              </a:solidFill>
              <a:effectLst/>
              <a:uFillTx/>
              <a:latin typeface="Arial"/>
            </a:endParaRPr>
          </a:p>
        </p:txBody>
      </p:sp>
      <p:sp>
        <p:nvSpPr>
          <p:cNvPr id="377" name="Text 18"/>
          <p:cNvSpPr/>
          <p:nvPr/>
        </p:nvSpPr>
        <p:spPr>
          <a:xfrm>
            <a:off x="457200" y="5257800"/>
            <a:ext cx="1124676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0" i="1" u="none" strike="noStrike">
                <a:solidFill>
                  <a:srgbClr val="5B6472"/>
                </a:solidFill>
                <a:effectLst/>
                <a:uFillTx/>
                <a:latin typeface="Calibri"/>
                <a:ea typeface="Calibri"/>
              </a:rPr>
              <a:t>Target: value (IPC phase 1–5). Panel id: fnid. Time index: reporting_date.</a:t>
            </a:r>
            <a:endParaRPr lang="en-US" sz="1200" b="0" u="none" strike="noStrike">
              <a:solidFill>
                <a:srgbClr val="000000"/>
              </a:solidFill>
              <a:effectLst/>
              <a:uFillTx/>
              <a:latin typeface="Arial"/>
            </a:endParaRPr>
          </a:p>
        </p:txBody>
      </p:sp>
      <p:sp>
        <p:nvSpPr>
          <p:cNvPr id="378" name="Text 19"/>
          <p:cNvSpPr/>
          <p:nvPr/>
        </p:nvSpPr>
        <p:spPr>
          <a:xfrm>
            <a:off x="45720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5B6472"/>
                </a:solidFill>
                <a:effectLst/>
                <a:uFillTx/>
                <a:latin typeface="Calibri"/>
                <a:ea typeface="Calibri"/>
              </a:rPr>
              <a:t>Kenya Food Security Forecasting  |  IPC Time-Series Study</a:t>
            </a:r>
            <a:endParaRPr lang="en-US" sz="1000" b="0" u="none" strike="noStrike">
              <a:solidFill>
                <a:srgbClr val="000000"/>
              </a:solidFill>
              <a:effectLst/>
              <a:uFillTx/>
              <a:latin typeface="Arial"/>
            </a:endParaRPr>
          </a:p>
        </p:txBody>
      </p:sp>
      <p:sp>
        <p:nvSpPr>
          <p:cNvPr id="379" name="Text 20"/>
          <p:cNvSpPr/>
          <p:nvPr/>
        </p:nvSpPr>
        <p:spPr>
          <a:xfrm>
            <a:off x="11338560" y="6537960"/>
            <a:ext cx="4568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000" b="0" u="none" strike="noStrike">
                <a:solidFill>
                  <a:srgbClr val="5B6472"/>
                </a:solidFill>
                <a:effectLst/>
                <a:uFillTx/>
                <a:latin typeface="Calibri"/>
                <a:ea typeface="Calibri"/>
              </a:rPr>
              <a:t>25</a:t>
            </a:r>
            <a:endParaRPr lang="en-US" sz="1000" b="0" u="none" strike="noStrike">
              <a:solidFill>
                <a:srgbClr val="000000"/>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 name="TextBox 1"/>
          <p:cNvSpPr/>
          <p:nvPr/>
        </p:nvSpPr>
        <p:spPr>
          <a:xfrm>
            <a:off x="548640" y="320040"/>
            <a:ext cx="1097244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400" b="1" u="none" strike="noStrike">
                <a:solidFill>
                  <a:srgbClr val="E67E22"/>
                </a:solidFill>
                <a:effectLst/>
                <a:uFillTx/>
                <a:latin typeface="Calibri"/>
              </a:rPr>
              <a:t>MODEL 01 · ARIMA</a:t>
            </a:r>
            <a:endParaRPr lang="en-US" sz="1400" b="0" u="none" strike="noStrike">
              <a:solidFill>
                <a:srgbClr val="000000"/>
              </a:solidFill>
              <a:effectLst/>
              <a:uFillTx/>
              <a:latin typeface="Arial"/>
            </a:endParaRPr>
          </a:p>
        </p:txBody>
      </p:sp>
      <p:sp>
        <p:nvSpPr>
          <p:cNvPr id="403" name="TextBox 2"/>
          <p:cNvSpPr/>
          <p:nvPr/>
        </p:nvSpPr>
        <p:spPr>
          <a:xfrm>
            <a:off x="548640" y="640080"/>
            <a:ext cx="10972440" cy="8226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3200" b="1" u="none" strike="noStrike">
                <a:solidFill>
                  <a:srgbClr val="1E2761"/>
                </a:solidFill>
                <a:effectLst/>
                <a:uFillTx/>
                <a:latin typeface="Calibri"/>
              </a:rPr>
              <a:t>ARIMA — Model Architecture</a:t>
            </a:r>
            <a:endParaRPr lang="en-US" sz="3200" b="0" u="none" strike="noStrike">
              <a:solidFill>
                <a:srgbClr val="000000"/>
              </a:solidFill>
              <a:effectLst/>
              <a:uFillTx/>
              <a:latin typeface="Arial"/>
            </a:endParaRPr>
          </a:p>
        </p:txBody>
      </p:sp>
      <p:pic>
        <p:nvPicPr>
          <p:cNvPr id="404" name="Picture 3" descr="arima_flowchart.png"/>
          <p:cNvPicPr/>
          <p:nvPr/>
        </p:nvPicPr>
        <p:blipFill>
          <a:blip r:embed="rId2"/>
          <a:stretch/>
        </p:blipFill>
        <p:spPr>
          <a:xfrm>
            <a:off x="457200" y="2211120"/>
            <a:ext cx="6399720" cy="2777400"/>
          </a:xfrm>
          <a:prstGeom prst="rect">
            <a:avLst/>
          </a:prstGeom>
          <a:noFill/>
          <a:ln w="0">
            <a:noFill/>
          </a:ln>
        </p:spPr>
      </p:pic>
      <p:sp>
        <p:nvSpPr>
          <p:cNvPr id="405" name="TextBox 4"/>
          <p:cNvSpPr/>
          <p:nvPr/>
        </p:nvSpPr>
        <p:spPr>
          <a:xfrm>
            <a:off x="7099920" y="1800000"/>
            <a:ext cx="4699800" cy="3799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u="none" strike="noStrike" dirty="0">
                <a:solidFill>
                  <a:srgbClr val="333333"/>
                </a:solidFill>
                <a:effectLst/>
                <a:uFillTx/>
                <a:latin typeface="Calibri"/>
              </a:rPr>
              <a:t>Workflow: test the raw series for stationarity → difference if needed → apply the white-noise test → fit ARIMA(p, d, q).</a:t>
            </a:r>
            <a:endParaRPr lang="en-US" sz="1800" b="0" u="none" strike="noStrike" dirty="0">
              <a:solidFill>
                <a:srgbClr val="000000"/>
              </a:solidFill>
              <a:effectLst/>
              <a:uFillTx/>
              <a:latin typeface="Arial"/>
            </a:endParaRPr>
          </a:p>
          <a:p>
            <a:pPr defTabSz="914400">
              <a:lnSpc>
                <a:spcPct val="100000"/>
              </a:lnSpc>
              <a:spcBef>
                <a:spcPts val="799"/>
              </a:spcBef>
            </a:pPr>
            <a:r>
              <a:rPr lang="en-US" sz="1800" b="0" u="none" strike="noStrike" dirty="0">
                <a:solidFill>
                  <a:srgbClr val="333333"/>
                </a:solidFill>
                <a:effectLst/>
                <a:uFillTx/>
                <a:latin typeface="Calibri"/>
              </a:rPr>
              <a:t>Purely univariate — learns only from past values and past errors of the target series itself.</a:t>
            </a:r>
            <a:endParaRPr lang="en-US" sz="1800" b="0" u="none" strike="noStrike" dirty="0">
              <a:solidFill>
                <a:srgbClr val="000000"/>
              </a:solidFill>
              <a:effectLst/>
              <a:uFillTx/>
              <a:latin typeface="Arial"/>
            </a:endParaRPr>
          </a:p>
        </p:txBody>
      </p:sp>
      <p:sp>
        <p:nvSpPr>
          <p:cNvPr id="406" name="TextBox 5"/>
          <p:cNvSpPr/>
          <p:nvPr/>
        </p:nvSpPr>
        <p:spPr>
          <a:xfrm>
            <a:off x="548640" y="6400800"/>
            <a:ext cx="10972440" cy="27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000" b="0" u="none" strike="noStrike">
                <a:solidFill>
                  <a:srgbClr val="888888"/>
                </a:solidFill>
                <a:effectLst/>
                <a:uFillTx/>
                <a:latin typeface="Calibri"/>
              </a:rPr>
              <a:t>Kenya Food Security Forecasting  |  IPC Time-Series Study</a:t>
            </a:r>
            <a:endParaRPr lang="en-US" sz="1000" b="0" u="none" strike="noStrike">
              <a:solidFill>
                <a:srgbClr val="000000"/>
              </a:solidFill>
              <a:effectLst/>
              <a:uFillTx/>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 name="TextBox 1"/>
          <p:cNvSpPr/>
          <p:nvPr/>
        </p:nvSpPr>
        <p:spPr>
          <a:xfrm>
            <a:off x="548640" y="320040"/>
            <a:ext cx="1097244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400" b="1" u="none" strike="noStrike">
                <a:solidFill>
                  <a:srgbClr val="E67E22"/>
                </a:solidFill>
                <a:effectLst/>
                <a:uFillTx/>
                <a:latin typeface="Calibri"/>
              </a:rPr>
              <a:t>MODEL 02 · RANDOM FOREST</a:t>
            </a:r>
            <a:endParaRPr lang="en-US" sz="1400" b="0" u="none" strike="noStrike">
              <a:solidFill>
                <a:srgbClr val="000000"/>
              </a:solidFill>
              <a:effectLst/>
              <a:uFillTx/>
              <a:latin typeface="Arial"/>
            </a:endParaRPr>
          </a:p>
        </p:txBody>
      </p:sp>
      <p:sp>
        <p:nvSpPr>
          <p:cNvPr id="408" name="TextBox 2"/>
          <p:cNvSpPr/>
          <p:nvPr/>
        </p:nvSpPr>
        <p:spPr>
          <a:xfrm>
            <a:off x="548640" y="640080"/>
            <a:ext cx="10972440" cy="8226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3200" b="1" u="none" strike="noStrike">
                <a:solidFill>
                  <a:srgbClr val="1E2761"/>
                </a:solidFill>
                <a:effectLst/>
                <a:uFillTx/>
                <a:latin typeface="Calibri"/>
              </a:rPr>
              <a:t>Random Forest — Model Architecture</a:t>
            </a:r>
            <a:endParaRPr lang="en-US" sz="3200" b="0" u="none" strike="noStrike">
              <a:solidFill>
                <a:srgbClr val="000000"/>
              </a:solidFill>
              <a:effectLst/>
              <a:uFillTx/>
              <a:latin typeface="Arial"/>
            </a:endParaRPr>
          </a:p>
        </p:txBody>
      </p:sp>
      <p:pic>
        <p:nvPicPr>
          <p:cNvPr id="409" name="Picture 3" descr="random_forest.png"/>
          <p:cNvPicPr/>
          <p:nvPr/>
        </p:nvPicPr>
        <p:blipFill>
          <a:blip r:embed="rId2"/>
          <a:stretch/>
        </p:blipFill>
        <p:spPr>
          <a:xfrm>
            <a:off x="866520" y="1500120"/>
            <a:ext cx="5580720" cy="4199760"/>
          </a:xfrm>
          <a:prstGeom prst="rect">
            <a:avLst/>
          </a:prstGeom>
          <a:noFill/>
          <a:ln w="0">
            <a:noFill/>
          </a:ln>
        </p:spPr>
      </p:pic>
      <p:sp>
        <p:nvSpPr>
          <p:cNvPr id="410" name="TextBox 4"/>
          <p:cNvSpPr/>
          <p:nvPr/>
        </p:nvSpPr>
        <p:spPr>
          <a:xfrm>
            <a:off x="7099920" y="1800000"/>
            <a:ext cx="4699800" cy="3799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u="none" strike="noStrike">
                <a:solidFill>
                  <a:srgbClr val="333333"/>
                </a:solidFill>
                <a:effectLst/>
                <a:uFillTx/>
                <a:latin typeface="Calibri"/>
              </a:rPr>
              <a:t>An ensemble of independent decision trees trained on bootstrapped samples of the data.</a:t>
            </a:r>
            <a:endParaRPr lang="en-US" sz="1800" b="0" u="none" strike="noStrike">
              <a:solidFill>
                <a:srgbClr val="000000"/>
              </a:solidFill>
              <a:effectLst/>
              <a:uFillTx/>
              <a:latin typeface="Arial"/>
            </a:endParaRPr>
          </a:p>
          <a:p>
            <a:pPr defTabSz="914400">
              <a:lnSpc>
                <a:spcPct val="100000"/>
              </a:lnSpc>
              <a:spcBef>
                <a:spcPts val="799"/>
              </a:spcBef>
            </a:pPr>
            <a:r>
              <a:rPr lang="en-US" sz="1800" b="0" u="none" strike="noStrike">
                <a:solidFill>
                  <a:srgbClr val="333333"/>
                </a:solidFill>
                <a:effectLst/>
                <a:uFillTx/>
                <a:latin typeface="Calibri"/>
              </a:rPr>
              <a:t>For regression, the final prediction is the average across all trees, which reduces variance and controls overfitting on tabular features.</a:t>
            </a:r>
            <a:endParaRPr lang="en-US" sz="1800" b="0" u="none" strike="noStrike">
              <a:solidFill>
                <a:srgbClr val="000000"/>
              </a:solidFill>
              <a:effectLst/>
              <a:uFillTx/>
              <a:latin typeface="Arial"/>
            </a:endParaRPr>
          </a:p>
        </p:txBody>
      </p:sp>
      <p:sp>
        <p:nvSpPr>
          <p:cNvPr id="411" name="TextBox 5"/>
          <p:cNvSpPr/>
          <p:nvPr/>
        </p:nvSpPr>
        <p:spPr>
          <a:xfrm>
            <a:off x="548640" y="6400800"/>
            <a:ext cx="10972440" cy="27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000" b="0" u="none" strike="noStrike">
                <a:solidFill>
                  <a:srgbClr val="888888"/>
                </a:solidFill>
                <a:effectLst/>
                <a:uFillTx/>
                <a:latin typeface="Calibri"/>
              </a:rPr>
              <a:t>Kenya Food Security Forecasting  |  IPC Time-Series Study</a:t>
            </a:r>
            <a:endParaRPr lang="en-US" sz="1000" b="0" u="none" strike="noStrike">
              <a:solidFill>
                <a:srgbClr val="000000"/>
              </a:solidFill>
              <a:effectLst/>
              <a:uFillTx/>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 name="TextBox 1"/>
          <p:cNvSpPr/>
          <p:nvPr/>
        </p:nvSpPr>
        <p:spPr>
          <a:xfrm>
            <a:off x="548640" y="320040"/>
            <a:ext cx="1097244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400" b="1" u="none" strike="noStrike">
                <a:solidFill>
                  <a:srgbClr val="E67E22"/>
                </a:solidFill>
                <a:effectLst/>
                <a:uFillTx/>
                <a:latin typeface="Calibri"/>
              </a:rPr>
              <a:t>MODEL 03 · XGBOOST</a:t>
            </a:r>
            <a:endParaRPr lang="en-US" sz="1400" b="0" u="none" strike="noStrike">
              <a:solidFill>
                <a:srgbClr val="000000"/>
              </a:solidFill>
              <a:effectLst/>
              <a:uFillTx/>
              <a:latin typeface="Arial"/>
            </a:endParaRPr>
          </a:p>
        </p:txBody>
      </p:sp>
      <p:sp>
        <p:nvSpPr>
          <p:cNvPr id="413" name="TextBox 2"/>
          <p:cNvSpPr/>
          <p:nvPr/>
        </p:nvSpPr>
        <p:spPr>
          <a:xfrm>
            <a:off x="548640" y="640080"/>
            <a:ext cx="10972440" cy="8226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3200" b="1" u="none" strike="noStrike">
                <a:solidFill>
                  <a:srgbClr val="1E2761"/>
                </a:solidFill>
                <a:effectLst/>
                <a:uFillTx/>
                <a:latin typeface="Calibri"/>
              </a:rPr>
              <a:t>XGBoost — Model Architecture</a:t>
            </a:r>
            <a:endParaRPr lang="en-US" sz="3200" b="0" u="none" strike="noStrike">
              <a:solidFill>
                <a:srgbClr val="000000"/>
              </a:solidFill>
              <a:effectLst/>
              <a:uFillTx/>
              <a:latin typeface="Arial"/>
            </a:endParaRPr>
          </a:p>
        </p:txBody>
      </p:sp>
      <p:pic>
        <p:nvPicPr>
          <p:cNvPr id="414" name="Picture 3" descr="xgboost.png"/>
          <p:cNvPicPr/>
          <p:nvPr/>
        </p:nvPicPr>
        <p:blipFill>
          <a:blip r:embed="rId2"/>
          <a:stretch/>
        </p:blipFill>
        <p:spPr>
          <a:xfrm>
            <a:off x="1073160" y="1500120"/>
            <a:ext cx="5168160" cy="4199760"/>
          </a:xfrm>
          <a:prstGeom prst="rect">
            <a:avLst/>
          </a:prstGeom>
          <a:noFill/>
          <a:ln w="0">
            <a:noFill/>
          </a:ln>
        </p:spPr>
      </p:pic>
      <p:sp>
        <p:nvSpPr>
          <p:cNvPr id="415" name="TextBox 4"/>
          <p:cNvSpPr/>
          <p:nvPr/>
        </p:nvSpPr>
        <p:spPr>
          <a:xfrm>
            <a:off x="7099920" y="1800000"/>
            <a:ext cx="4699800" cy="3799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u="none" strike="noStrike">
                <a:solidFill>
                  <a:srgbClr val="333333"/>
                </a:solidFill>
                <a:effectLst/>
                <a:uFillTx/>
                <a:latin typeface="Calibri"/>
              </a:rPr>
              <a:t>Sequential gradient boosting: each new tree fits the residuals of the previous ensemble.</a:t>
            </a:r>
            <a:endParaRPr lang="en-US" sz="1800" b="0" u="none" strike="noStrike">
              <a:solidFill>
                <a:srgbClr val="000000"/>
              </a:solidFill>
              <a:effectLst/>
              <a:uFillTx/>
              <a:latin typeface="Arial"/>
            </a:endParaRPr>
          </a:p>
          <a:p>
            <a:pPr defTabSz="914400">
              <a:lnSpc>
                <a:spcPct val="100000"/>
              </a:lnSpc>
              <a:spcBef>
                <a:spcPts val="799"/>
              </a:spcBef>
            </a:pPr>
            <a:r>
              <a:rPr lang="en-US" sz="1800" b="0" u="none" strike="noStrike">
                <a:solidFill>
                  <a:srgbClr val="333333"/>
                </a:solidFill>
                <a:effectLst/>
                <a:uFillTx/>
                <a:latin typeface="Calibri"/>
              </a:rPr>
              <a:t>Predictions are summed across all trees, giving strong performance on structured tabular data with built-in regularisation.</a:t>
            </a:r>
            <a:endParaRPr lang="en-US" sz="1800" b="0" u="none" strike="noStrike">
              <a:solidFill>
                <a:srgbClr val="000000"/>
              </a:solidFill>
              <a:effectLst/>
              <a:uFillTx/>
              <a:latin typeface="Arial"/>
            </a:endParaRPr>
          </a:p>
        </p:txBody>
      </p:sp>
      <p:sp>
        <p:nvSpPr>
          <p:cNvPr id="416" name="TextBox 5"/>
          <p:cNvSpPr/>
          <p:nvPr/>
        </p:nvSpPr>
        <p:spPr>
          <a:xfrm>
            <a:off x="548640" y="6400800"/>
            <a:ext cx="10972440" cy="27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000" b="0" u="none" strike="noStrike">
                <a:solidFill>
                  <a:srgbClr val="888888"/>
                </a:solidFill>
                <a:effectLst/>
                <a:uFillTx/>
                <a:latin typeface="Calibri"/>
              </a:rPr>
              <a:t>Kenya Food Security Forecasting  |  IPC Time-Series Study</a:t>
            </a:r>
            <a:endParaRPr lang="en-US" sz="1000" b="0" u="none" strike="noStrike">
              <a:solidFill>
                <a:srgbClr val="000000"/>
              </a:solidFill>
              <a:effectLst/>
              <a:uFillTx/>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 name="TextBox 1"/>
          <p:cNvSpPr/>
          <p:nvPr/>
        </p:nvSpPr>
        <p:spPr>
          <a:xfrm>
            <a:off x="548640" y="320040"/>
            <a:ext cx="1097244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400" b="1" u="none" strike="noStrike">
                <a:solidFill>
                  <a:srgbClr val="E67E22"/>
                </a:solidFill>
                <a:effectLst/>
                <a:uFillTx/>
                <a:latin typeface="Calibri"/>
              </a:rPr>
              <a:t>MODEL 04 · LSTM</a:t>
            </a:r>
            <a:endParaRPr lang="en-US" sz="1400" b="0" u="none" strike="noStrike">
              <a:solidFill>
                <a:srgbClr val="000000"/>
              </a:solidFill>
              <a:effectLst/>
              <a:uFillTx/>
              <a:latin typeface="Arial"/>
            </a:endParaRPr>
          </a:p>
        </p:txBody>
      </p:sp>
      <p:sp>
        <p:nvSpPr>
          <p:cNvPr id="418" name="TextBox 2"/>
          <p:cNvSpPr/>
          <p:nvPr/>
        </p:nvSpPr>
        <p:spPr>
          <a:xfrm>
            <a:off x="548640" y="640080"/>
            <a:ext cx="10972440" cy="8226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3200" b="1" u="none" strike="noStrike">
                <a:solidFill>
                  <a:srgbClr val="1E2761"/>
                </a:solidFill>
                <a:effectLst/>
                <a:uFillTx/>
                <a:latin typeface="Calibri"/>
              </a:rPr>
              <a:t>LSTM — Model Architecture</a:t>
            </a:r>
            <a:endParaRPr lang="en-US" sz="3200" b="0" u="none" strike="noStrike">
              <a:solidFill>
                <a:srgbClr val="000000"/>
              </a:solidFill>
              <a:effectLst/>
              <a:uFillTx/>
              <a:latin typeface="Arial"/>
            </a:endParaRPr>
          </a:p>
        </p:txBody>
      </p:sp>
      <p:pic>
        <p:nvPicPr>
          <p:cNvPr id="419" name="Picture 3" descr="lstm.png"/>
          <p:cNvPicPr/>
          <p:nvPr/>
        </p:nvPicPr>
        <p:blipFill>
          <a:blip r:embed="rId2"/>
          <a:stretch/>
        </p:blipFill>
        <p:spPr>
          <a:xfrm>
            <a:off x="457200" y="1873800"/>
            <a:ext cx="6399720" cy="3452400"/>
          </a:xfrm>
          <a:prstGeom prst="rect">
            <a:avLst/>
          </a:prstGeom>
          <a:noFill/>
          <a:ln w="0">
            <a:noFill/>
          </a:ln>
        </p:spPr>
      </p:pic>
      <p:sp>
        <p:nvSpPr>
          <p:cNvPr id="420" name="TextBox 4"/>
          <p:cNvSpPr/>
          <p:nvPr/>
        </p:nvSpPr>
        <p:spPr>
          <a:xfrm>
            <a:off x="7099920" y="1800000"/>
            <a:ext cx="4699800" cy="3799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u="none" strike="noStrike">
                <a:solidFill>
                  <a:srgbClr val="333333"/>
                </a:solidFill>
                <a:effectLst/>
                <a:uFillTx/>
                <a:latin typeface="Calibri"/>
              </a:rPr>
              <a:t>A recurrent cell with forget / input / output gates that maintain a cell state across time steps.</a:t>
            </a:r>
            <a:endParaRPr lang="en-US" sz="1800" b="0" u="none" strike="noStrike">
              <a:solidFill>
                <a:srgbClr val="000000"/>
              </a:solidFill>
              <a:effectLst/>
              <a:uFillTx/>
              <a:latin typeface="Arial"/>
            </a:endParaRPr>
          </a:p>
          <a:p>
            <a:pPr defTabSz="914400">
              <a:lnSpc>
                <a:spcPct val="100000"/>
              </a:lnSpc>
              <a:spcBef>
                <a:spcPts val="799"/>
              </a:spcBef>
            </a:pPr>
            <a:r>
              <a:rPr lang="en-US" sz="1800" b="0" u="none" strike="noStrike">
                <a:solidFill>
                  <a:srgbClr val="333333"/>
                </a:solidFill>
                <a:effectLst/>
                <a:uFillTx/>
                <a:latin typeface="Calibri"/>
              </a:rPr>
              <a:t>Designed to learn long-range temporal dependencies beyond fixed-window lag features.</a:t>
            </a:r>
            <a:endParaRPr lang="en-US" sz="1800" b="0" u="none" strike="noStrike">
              <a:solidFill>
                <a:srgbClr val="000000"/>
              </a:solidFill>
              <a:effectLst/>
              <a:uFillTx/>
              <a:latin typeface="Arial"/>
            </a:endParaRPr>
          </a:p>
        </p:txBody>
      </p:sp>
      <p:sp>
        <p:nvSpPr>
          <p:cNvPr id="421" name="TextBox 5"/>
          <p:cNvSpPr/>
          <p:nvPr/>
        </p:nvSpPr>
        <p:spPr>
          <a:xfrm>
            <a:off x="548640" y="6400800"/>
            <a:ext cx="10972440" cy="27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000" b="0" u="none" strike="noStrike">
                <a:solidFill>
                  <a:srgbClr val="888888"/>
                </a:solidFill>
                <a:effectLst/>
                <a:uFillTx/>
                <a:latin typeface="Calibri"/>
              </a:rPr>
              <a:t>Kenya Food Security Forecasting  |  IPC Time-Series Study</a:t>
            </a:r>
            <a:endParaRPr lang="en-US" sz="1000" b="0" u="none" strike="noStrike">
              <a:solidFill>
                <a:srgbClr val="000000"/>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sp>
        <p:nvSpPr>
          <p:cNvPr id="422" name="Text 0"/>
          <p:cNvSpPr/>
          <p:nvPr/>
        </p:nvSpPr>
        <p:spPr>
          <a:xfrm>
            <a:off x="640080" y="2377440"/>
            <a:ext cx="109724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spc="601">
                <a:solidFill>
                  <a:srgbClr val="B85042"/>
                </a:solidFill>
                <a:effectLst/>
                <a:uFillTx/>
                <a:latin typeface="Calibri"/>
                <a:ea typeface="Calibri"/>
              </a:rPr>
              <a:t>SECTION 05</a:t>
            </a:r>
            <a:endParaRPr lang="en-US" sz="1400" b="0" u="none" strike="noStrike">
              <a:solidFill>
                <a:srgbClr val="FFFFFF"/>
              </a:solidFill>
              <a:effectLst/>
              <a:uFillTx/>
              <a:latin typeface="Arial"/>
            </a:endParaRPr>
          </a:p>
        </p:txBody>
      </p:sp>
      <p:sp>
        <p:nvSpPr>
          <p:cNvPr id="423" name="Text 1"/>
          <p:cNvSpPr/>
          <p:nvPr/>
        </p:nvSpPr>
        <p:spPr>
          <a:xfrm>
            <a:off x="640080" y="3154680"/>
            <a:ext cx="10972440" cy="914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4600" b="1" u="none" strike="noStrike">
                <a:solidFill>
                  <a:srgbClr val="FFFFFF"/>
                </a:solidFill>
                <a:effectLst/>
                <a:uFillTx/>
                <a:latin typeface="Calibri"/>
                <a:ea typeface="Calibri"/>
              </a:rPr>
              <a:t>Model Evaluation</a:t>
            </a:r>
            <a:endParaRPr lang="en-US" sz="4600" b="0" u="none" strike="noStrike">
              <a:solidFill>
                <a:srgbClr val="FFFFFF"/>
              </a:solidFill>
              <a:effectLst/>
              <a:uFillTx/>
              <a:latin typeface="Arial"/>
            </a:endParaRPr>
          </a:p>
        </p:txBody>
      </p:sp>
      <p:sp>
        <p:nvSpPr>
          <p:cNvPr id="424" name="Text 2"/>
          <p:cNvSpPr/>
          <p:nvPr/>
        </p:nvSpPr>
        <p:spPr>
          <a:xfrm>
            <a:off x="640080" y="4069080"/>
            <a:ext cx="1097244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0" i="1" u="none" strike="noStrike">
                <a:solidFill>
                  <a:srgbClr val="CADCFC"/>
                </a:solidFill>
                <a:effectLst/>
                <a:uFillTx/>
                <a:latin typeface="Calibri"/>
                <a:ea typeface="Calibri"/>
              </a:rPr>
              <a:t>Forecast plots, diagnostics, feature importance, and a candid look at overfitting</a:t>
            </a:r>
            <a:endParaRPr lang="en-US" sz="1600" b="0" u="none" strike="noStrike">
              <a:solidFill>
                <a:srgbClr val="FFFFFF"/>
              </a:solidFill>
              <a:effectLst/>
              <a:uFillTx/>
              <a:latin typeface="Arial"/>
            </a:endParaRPr>
          </a:p>
        </p:txBody>
      </p:sp>
      <p:sp>
        <p:nvSpPr>
          <p:cNvPr id="425" name="Text 3"/>
          <p:cNvSpPr/>
          <p:nvPr/>
        </p:nvSpPr>
        <p:spPr>
          <a:xfrm>
            <a:off x="45720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5B6472"/>
                </a:solidFill>
                <a:effectLst/>
                <a:uFillTx/>
                <a:latin typeface="Calibri"/>
                <a:ea typeface="Calibri"/>
              </a:rPr>
              <a:t>Kenya Food Security Forecasting  |  IPC Time-Series Study</a:t>
            </a:r>
            <a:endParaRPr lang="en-US" sz="1000" b="0" u="none" strike="noStrike">
              <a:solidFill>
                <a:srgbClr val="FFFFFF"/>
              </a:solidFill>
              <a:effectLst/>
              <a:uFillTx/>
              <a:latin typeface="Arial"/>
            </a:endParaRPr>
          </a:p>
        </p:txBody>
      </p:sp>
      <p:sp>
        <p:nvSpPr>
          <p:cNvPr id="426" name="Text 4"/>
          <p:cNvSpPr/>
          <p:nvPr/>
        </p:nvSpPr>
        <p:spPr>
          <a:xfrm>
            <a:off x="11338560" y="6537960"/>
            <a:ext cx="4568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000" b="0" u="none" strike="noStrike">
                <a:solidFill>
                  <a:srgbClr val="5B6472"/>
                </a:solidFill>
                <a:effectLst/>
                <a:uFillTx/>
                <a:latin typeface="Calibri"/>
                <a:ea typeface="Calibri"/>
              </a:rPr>
              <a:t>27</a:t>
            </a:r>
            <a:endParaRPr lang="en-US" sz="1000" b="0" u="none" strike="noStrike">
              <a:solidFill>
                <a:srgbClr val="FFFFFF"/>
              </a:solidFill>
              <a:effectLst/>
              <a:uFillTx/>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427" name="Shape 0"/>
          <p:cNvSpPr/>
          <p:nvPr/>
        </p:nvSpPr>
        <p:spPr>
          <a:xfrm>
            <a:off x="0" y="0"/>
            <a:ext cx="12188520" cy="822600"/>
          </a:xfrm>
          <a:prstGeom prst="rect">
            <a:avLst/>
          </a:prstGeom>
          <a:solidFill>
            <a:srgbClr val="2C3E50"/>
          </a:solidFill>
          <a:ln w="12700">
            <a:solidFill>
              <a:srgbClr val="2C3E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28" name="Text 1"/>
          <p:cNvSpPr/>
          <p:nvPr/>
        </p:nvSpPr>
        <p:spPr>
          <a:xfrm>
            <a:off x="457200" y="13716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spc="400">
                <a:solidFill>
                  <a:srgbClr val="B85042"/>
                </a:solidFill>
                <a:effectLst/>
                <a:uFillTx/>
                <a:latin typeface="Calibri"/>
                <a:ea typeface="Calibri"/>
              </a:rPr>
              <a:t>ARIMA · INPUT SERIES</a:t>
            </a:r>
            <a:endParaRPr lang="en-US" sz="1200" b="0" u="none" strike="noStrike">
              <a:solidFill>
                <a:srgbClr val="000000"/>
              </a:solidFill>
              <a:effectLst/>
              <a:uFillTx/>
              <a:latin typeface="Arial"/>
            </a:endParaRPr>
          </a:p>
        </p:txBody>
      </p:sp>
      <p:sp>
        <p:nvSpPr>
          <p:cNvPr id="429" name="Text 2"/>
          <p:cNvSpPr/>
          <p:nvPr/>
        </p:nvSpPr>
        <p:spPr>
          <a:xfrm>
            <a:off x="457200" y="347400"/>
            <a:ext cx="109724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FFFFFF"/>
                </a:solidFill>
                <a:effectLst/>
                <a:uFillTx/>
                <a:latin typeface="Calibri"/>
                <a:ea typeface="Calibri"/>
              </a:rPr>
              <a:t>IPC Time Series for Selected Location</a:t>
            </a:r>
            <a:endParaRPr lang="en-US" sz="2600" b="0" u="none" strike="noStrike">
              <a:solidFill>
                <a:srgbClr val="000000"/>
              </a:solidFill>
              <a:effectLst/>
              <a:uFillTx/>
              <a:latin typeface="Arial"/>
            </a:endParaRPr>
          </a:p>
        </p:txBody>
      </p:sp>
      <p:sp>
        <p:nvSpPr>
          <p:cNvPr id="430" name="Shape 3"/>
          <p:cNvSpPr/>
          <p:nvPr/>
        </p:nvSpPr>
        <p:spPr>
          <a:xfrm>
            <a:off x="457200" y="960120"/>
            <a:ext cx="1097280" cy="360"/>
          </a:xfrm>
          <a:prstGeom prst="line">
            <a:avLst/>
          </a:prstGeom>
          <a:ln w="38100">
            <a:solidFill>
              <a:srgbClr val="B85042"/>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32" name="Shape 4"/>
          <p:cNvSpPr/>
          <p:nvPr/>
        </p:nvSpPr>
        <p:spPr>
          <a:xfrm>
            <a:off x="8763141" y="1210014"/>
            <a:ext cx="3187352" cy="4860151"/>
          </a:xfrm>
          <a:prstGeom prst="roundRect">
            <a:avLst>
              <a:gd name="adj" fmla="val 1758"/>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33" name="Text 5"/>
          <p:cNvSpPr/>
          <p:nvPr/>
        </p:nvSpPr>
        <p:spPr>
          <a:xfrm>
            <a:off x="8821272" y="1290395"/>
            <a:ext cx="3129222" cy="408074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spc="300" dirty="0">
                <a:solidFill>
                  <a:srgbClr val="B85042"/>
                </a:solidFill>
                <a:effectLst/>
                <a:uFillTx/>
                <a:latin typeface="Calibri"/>
                <a:ea typeface="Calibri"/>
              </a:rPr>
              <a:t>WHAT IT SHOWS</a:t>
            </a:r>
          </a:p>
          <a:p>
            <a:endParaRPr lang="en-US" sz="1100" b="0" u="none" strike="noStrike" dirty="0">
              <a:effectLst/>
              <a:latin typeface="Google Sans"/>
            </a:endParaRPr>
          </a:p>
          <a:p>
            <a:r>
              <a:rPr lang="en-US" sz="1100" b="0" i="1" u="none" strike="noStrike" dirty="0">
                <a:effectLst/>
                <a:latin typeface="Google Sans"/>
              </a:rPr>
              <a:t>This plot provides the empirical justification for our entire project architecture. We trained an optimized Auto-ARIMA(0,1,2) model as a traditional statistical baseline. While it captures the general structural mean of the data, its long-horizon out-of-sample forecast completely flatlines at a constant Crisis phase (3.0).</a:t>
            </a:r>
          </a:p>
          <a:p>
            <a:endParaRPr lang="en-US" sz="1100" b="0" u="none" strike="noStrike" dirty="0">
              <a:effectLst/>
              <a:latin typeface="Google Sans"/>
            </a:endParaRPr>
          </a:p>
          <a:p>
            <a:pPr>
              <a:buFont typeface="Arial" panose="020B0604020202020204" pitchFamily="34" charset="0"/>
              <a:buChar char="•"/>
            </a:pPr>
            <a:r>
              <a:rPr lang="en-US" sz="1100" b="1" u="none" strike="noStrike" dirty="0">
                <a:effectLst/>
                <a:latin typeface="Google Sans"/>
              </a:rPr>
              <a:t>The Scientific Justification:</a:t>
            </a:r>
            <a:r>
              <a:rPr lang="en-US" sz="1100" b="0" u="none" strike="noStrike" dirty="0">
                <a:effectLst/>
                <a:latin typeface="Google Sans"/>
              </a:rPr>
              <a:t> </a:t>
            </a:r>
            <a:r>
              <a:rPr lang="en-US" sz="1100" b="0" i="1" u="none" strike="noStrike" dirty="0">
                <a:effectLst/>
                <a:latin typeface="Google Sans"/>
              </a:rPr>
              <a:t>"Because food security in the Northeastern Pastoral Zone is driven by highly non-linear climate anomalies, price shocks, and seasonal vegetation changes, a purely autoregressive linear model cannot adapt over time without continuous manual updates. This structural failure results in a negative R² score of -0.9932.“</a:t>
            </a:r>
          </a:p>
          <a:p>
            <a:pPr>
              <a:buFont typeface="Arial" panose="020B0604020202020204" pitchFamily="34" charset="0"/>
              <a:buChar char="•"/>
            </a:pPr>
            <a:endParaRPr lang="en-US" sz="1100" b="0" u="none" strike="noStrike" dirty="0">
              <a:effectLst/>
              <a:latin typeface="Google Sans"/>
            </a:endParaRPr>
          </a:p>
          <a:p>
            <a:pPr>
              <a:buFont typeface="Arial" panose="020B0604020202020204" pitchFamily="34" charset="0"/>
              <a:buChar char="•"/>
            </a:pPr>
            <a:r>
              <a:rPr lang="en-US" sz="1100" b="1" u="none" strike="noStrike" dirty="0">
                <a:effectLst/>
                <a:latin typeface="Google Sans"/>
              </a:rPr>
              <a:t>The Pitch for Your Champion Model:</a:t>
            </a:r>
            <a:r>
              <a:rPr lang="en-US" sz="1100" b="0" u="none" strike="noStrike" dirty="0">
                <a:effectLst/>
                <a:latin typeface="Google Sans"/>
              </a:rPr>
              <a:t> </a:t>
            </a:r>
            <a:r>
              <a:rPr lang="en-US" sz="1100" b="0" i="1" u="none" strike="noStrike" dirty="0">
                <a:effectLst/>
                <a:latin typeface="Google Sans"/>
              </a:rPr>
              <a:t>"This baseline limitation is exactly why we engineered our global panel </a:t>
            </a:r>
            <a:r>
              <a:rPr lang="en-US" sz="1100" b="1" i="1" u="none" strike="noStrike" dirty="0" err="1">
                <a:effectLst/>
                <a:latin typeface="Google Sans"/>
              </a:rPr>
              <a:t>XGBoost</a:t>
            </a:r>
            <a:r>
              <a:rPr lang="en-US" sz="1100" b="1" i="1" u="none" strike="noStrike" dirty="0">
                <a:effectLst/>
                <a:latin typeface="Google Sans"/>
              </a:rPr>
              <a:t> Regressor</a:t>
            </a:r>
            <a:r>
              <a:rPr lang="en-US" sz="1100" b="0" i="1" u="none" strike="noStrike" dirty="0">
                <a:effectLst/>
                <a:latin typeface="Google Sans"/>
              </a:rPr>
              <a:t>. </a:t>
            </a:r>
            <a:endParaRPr lang="en-US" sz="1100" b="1" spc="300" dirty="0">
              <a:solidFill>
                <a:srgbClr val="B85042"/>
              </a:solidFill>
              <a:latin typeface="Calibri"/>
              <a:ea typeface="Calibri"/>
            </a:endParaRPr>
          </a:p>
          <a:p>
            <a:pPr defTabSz="914400">
              <a:lnSpc>
                <a:spcPct val="100000"/>
              </a:lnSpc>
              <a:tabLst>
                <a:tab pos="0" algn="l"/>
              </a:tabLst>
            </a:pPr>
            <a:endParaRPr lang="en-US" sz="1100" b="0" u="none" strike="noStrike" dirty="0">
              <a:solidFill>
                <a:srgbClr val="000000"/>
              </a:solidFill>
              <a:effectLst/>
              <a:uFillTx/>
              <a:latin typeface="Arial"/>
            </a:endParaRPr>
          </a:p>
        </p:txBody>
      </p:sp>
      <p:sp>
        <p:nvSpPr>
          <p:cNvPr id="434" name="Text 6"/>
          <p:cNvSpPr/>
          <p:nvPr/>
        </p:nvSpPr>
        <p:spPr>
          <a:xfrm>
            <a:off x="9078302" y="1736870"/>
            <a:ext cx="3931560" cy="1279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endParaRPr lang="en-US" sz="1100" b="0" u="none" strike="noStrike" dirty="0">
              <a:solidFill>
                <a:srgbClr val="000000"/>
              </a:solidFill>
              <a:effectLst/>
              <a:uFillTx/>
              <a:latin typeface="Arial"/>
            </a:endParaRPr>
          </a:p>
        </p:txBody>
      </p:sp>
      <p:sp>
        <p:nvSpPr>
          <p:cNvPr id="435" name="Text 7"/>
          <p:cNvSpPr/>
          <p:nvPr/>
        </p:nvSpPr>
        <p:spPr>
          <a:xfrm>
            <a:off x="9051792" y="3016670"/>
            <a:ext cx="3931560" cy="292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US" sz="1100" b="0" u="none" strike="noStrike" dirty="0">
              <a:solidFill>
                <a:srgbClr val="000000"/>
              </a:solidFill>
              <a:effectLst/>
              <a:uFillTx/>
              <a:latin typeface="Arial"/>
            </a:endParaRPr>
          </a:p>
        </p:txBody>
      </p:sp>
      <p:sp>
        <p:nvSpPr>
          <p:cNvPr id="436" name="Text 8"/>
          <p:cNvSpPr/>
          <p:nvPr/>
        </p:nvSpPr>
        <p:spPr>
          <a:xfrm>
            <a:off x="7818120" y="3328560"/>
            <a:ext cx="3931560" cy="3108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100" b="0" u="none" strike="noStrike" dirty="0">
                <a:solidFill>
                  <a:srgbClr val="1F2937"/>
                </a:solidFill>
                <a:effectLst/>
                <a:uFillTx/>
                <a:latin typeface="Calibri"/>
                <a:ea typeface="Calibri"/>
              </a:rPr>
              <a:t>The </a:t>
            </a:r>
            <a:endParaRPr lang="en-US" sz="1100" b="0" u="none" strike="noStrike" dirty="0">
              <a:solidFill>
                <a:srgbClr val="000000"/>
              </a:solidFill>
              <a:effectLst/>
              <a:uFillTx/>
              <a:latin typeface="Arial"/>
            </a:endParaRPr>
          </a:p>
        </p:txBody>
      </p:sp>
      <p:sp>
        <p:nvSpPr>
          <p:cNvPr id="437" name="Text 9"/>
          <p:cNvSpPr/>
          <p:nvPr/>
        </p:nvSpPr>
        <p:spPr>
          <a:xfrm>
            <a:off x="45720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5B6472"/>
                </a:solidFill>
                <a:effectLst/>
                <a:uFillTx/>
                <a:latin typeface="Calibri"/>
                <a:ea typeface="Calibri"/>
              </a:rPr>
              <a:t>Kenya Food Security Forecasting  |  IPC Time-Series Study</a:t>
            </a:r>
            <a:endParaRPr lang="en-US" sz="1000" b="0" u="none" strike="noStrike">
              <a:solidFill>
                <a:srgbClr val="000000"/>
              </a:solidFill>
              <a:effectLst/>
              <a:uFillTx/>
              <a:latin typeface="Arial"/>
            </a:endParaRPr>
          </a:p>
        </p:txBody>
      </p:sp>
      <p:sp>
        <p:nvSpPr>
          <p:cNvPr id="438" name="Text 10"/>
          <p:cNvSpPr/>
          <p:nvPr/>
        </p:nvSpPr>
        <p:spPr>
          <a:xfrm>
            <a:off x="11338560" y="6537960"/>
            <a:ext cx="4568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000" b="0" u="none" strike="noStrike">
                <a:solidFill>
                  <a:srgbClr val="5B6472"/>
                </a:solidFill>
                <a:effectLst/>
                <a:uFillTx/>
                <a:latin typeface="Calibri"/>
                <a:ea typeface="Calibri"/>
              </a:rPr>
              <a:t>28</a:t>
            </a:r>
            <a:endParaRPr lang="en-US" sz="1000" b="0" u="none" strike="noStrike">
              <a:solidFill>
                <a:srgbClr val="000000"/>
              </a:solidFill>
              <a:effectLst/>
              <a:uFillTx/>
              <a:latin typeface="Arial"/>
            </a:endParaRPr>
          </a:p>
        </p:txBody>
      </p:sp>
      <p:pic>
        <p:nvPicPr>
          <p:cNvPr id="2050" name="Picture 2" descr="Visually searched image">
            <a:extLst>
              <a:ext uri="{FF2B5EF4-FFF2-40B4-BE49-F238E27FC236}">
                <a16:creationId xmlns:a16="http://schemas.microsoft.com/office/drawing/2014/main" id="{66951EE9-EA97-48EC-9CA3-D27B087C7B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395" y="1612620"/>
            <a:ext cx="8667746" cy="4273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49078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481" name="Shape 0"/>
          <p:cNvSpPr/>
          <p:nvPr/>
        </p:nvSpPr>
        <p:spPr>
          <a:xfrm>
            <a:off x="0" y="0"/>
            <a:ext cx="12188520" cy="822600"/>
          </a:xfrm>
          <a:prstGeom prst="rect">
            <a:avLst/>
          </a:prstGeom>
          <a:solidFill>
            <a:srgbClr val="2C3E50"/>
          </a:solidFill>
          <a:ln w="12700">
            <a:solidFill>
              <a:srgbClr val="2C3E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82" name="Text 1"/>
          <p:cNvSpPr/>
          <p:nvPr/>
        </p:nvSpPr>
        <p:spPr>
          <a:xfrm>
            <a:off x="457200" y="13716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spc="400">
                <a:solidFill>
                  <a:srgbClr val="B85042"/>
                </a:solidFill>
                <a:effectLst/>
                <a:uFillTx/>
                <a:latin typeface="Calibri"/>
                <a:ea typeface="Calibri"/>
              </a:rPr>
              <a:t>LSTM · TRAINING</a:t>
            </a:r>
            <a:endParaRPr lang="en-US" sz="1200" b="0" u="none" strike="noStrike">
              <a:solidFill>
                <a:srgbClr val="000000"/>
              </a:solidFill>
              <a:effectLst/>
              <a:uFillTx/>
              <a:latin typeface="Arial"/>
            </a:endParaRPr>
          </a:p>
        </p:txBody>
      </p:sp>
      <p:sp>
        <p:nvSpPr>
          <p:cNvPr id="483" name="Text 2"/>
          <p:cNvSpPr/>
          <p:nvPr/>
        </p:nvSpPr>
        <p:spPr>
          <a:xfrm>
            <a:off x="457200" y="347400"/>
            <a:ext cx="109724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FFFFFF"/>
                </a:solidFill>
                <a:effectLst/>
                <a:uFillTx/>
                <a:latin typeface="Calibri"/>
                <a:ea typeface="Calibri"/>
              </a:rPr>
              <a:t>LSTM Training History (Loss Curves)</a:t>
            </a:r>
            <a:endParaRPr lang="en-US" sz="2600" b="0" u="none" strike="noStrike">
              <a:solidFill>
                <a:srgbClr val="000000"/>
              </a:solidFill>
              <a:effectLst/>
              <a:uFillTx/>
              <a:latin typeface="Arial"/>
            </a:endParaRPr>
          </a:p>
        </p:txBody>
      </p:sp>
      <p:sp>
        <p:nvSpPr>
          <p:cNvPr id="484" name="Shape 3"/>
          <p:cNvSpPr/>
          <p:nvPr/>
        </p:nvSpPr>
        <p:spPr>
          <a:xfrm>
            <a:off x="457200" y="960120"/>
            <a:ext cx="1097280" cy="360"/>
          </a:xfrm>
          <a:prstGeom prst="line">
            <a:avLst/>
          </a:prstGeom>
          <a:ln w="38100">
            <a:solidFill>
              <a:srgbClr val="B85042"/>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Calibri"/>
            </a:endParaRPr>
          </a:p>
        </p:txBody>
      </p:sp>
      <p:sp>
        <p:nvSpPr>
          <p:cNvPr id="486" name="Shape 4"/>
          <p:cNvSpPr/>
          <p:nvPr/>
        </p:nvSpPr>
        <p:spPr>
          <a:xfrm>
            <a:off x="7589520" y="1301243"/>
            <a:ext cx="4160160" cy="5074560"/>
          </a:xfrm>
          <a:prstGeom prst="roundRect">
            <a:avLst>
              <a:gd name="adj" fmla="val 1758"/>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87" name="Text 5"/>
          <p:cNvSpPr/>
          <p:nvPr/>
        </p:nvSpPr>
        <p:spPr>
          <a:xfrm>
            <a:off x="7818120" y="1371600"/>
            <a:ext cx="3931560" cy="292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US" sz="1100" b="0" u="none" strike="noStrike" dirty="0">
              <a:solidFill>
                <a:srgbClr val="000000"/>
              </a:solidFill>
              <a:effectLst/>
              <a:uFillTx/>
              <a:latin typeface="Arial"/>
            </a:endParaRPr>
          </a:p>
        </p:txBody>
      </p:sp>
      <p:sp>
        <p:nvSpPr>
          <p:cNvPr id="488" name="Text 6"/>
          <p:cNvSpPr/>
          <p:nvPr/>
        </p:nvSpPr>
        <p:spPr>
          <a:xfrm>
            <a:off x="7818120" y="1664280"/>
            <a:ext cx="3931560" cy="1096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endParaRPr lang="en-US" sz="1100" b="0" u="none" strike="noStrike" dirty="0">
              <a:solidFill>
                <a:srgbClr val="000000"/>
              </a:solidFill>
              <a:effectLst/>
              <a:uFillTx/>
              <a:latin typeface="Arial"/>
            </a:endParaRPr>
          </a:p>
        </p:txBody>
      </p:sp>
      <p:sp>
        <p:nvSpPr>
          <p:cNvPr id="489" name="Text 7"/>
          <p:cNvSpPr/>
          <p:nvPr/>
        </p:nvSpPr>
        <p:spPr>
          <a:xfrm>
            <a:off x="7635420" y="1463400"/>
            <a:ext cx="3931560" cy="167937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spc="300" dirty="0">
                <a:solidFill>
                  <a:srgbClr val="4A7C59"/>
                </a:solidFill>
                <a:effectLst/>
                <a:uFillTx/>
                <a:latin typeface="Calibri"/>
                <a:ea typeface="Calibri"/>
              </a:rPr>
              <a:t>INTERPRETATION</a:t>
            </a:r>
          </a:p>
          <a:p>
            <a:pPr defTabSz="914400">
              <a:lnSpc>
                <a:spcPct val="100000"/>
              </a:lnSpc>
              <a:tabLst>
                <a:tab pos="0" algn="l"/>
              </a:tabLst>
            </a:pPr>
            <a:endParaRPr lang="en-US" sz="1100" b="1" spc="300" dirty="0">
              <a:solidFill>
                <a:srgbClr val="4A7C59"/>
              </a:solidFill>
              <a:latin typeface="Calibri"/>
              <a:ea typeface="Calibri"/>
            </a:endParaRPr>
          </a:p>
          <a:p>
            <a:pPr defTabSz="914400">
              <a:lnSpc>
                <a:spcPct val="100000"/>
              </a:lnSpc>
              <a:tabLst>
                <a:tab pos="0" algn="l"/>
              </a:tabLst>
            </a:pPr>
            <a:endParaRPr lang="en-US" sz="1100" b="1" u="none" strike="noStrike" spc="300" dirty="0">
              <a:solidFill>
                <a:srgbClr val="4A7C59"/>
              </a:solidFill>
              <a:effectLst/>
              <a:uFillTx/>
              <a:latin typeface="Calibri"/>
              <a:ea typeface="Calibri"/>
            </a:endParaRPr>
          </a:p>
          <a:p>
            <a:pPr defTabSz="914400">
              <a:lnSpc>
                <a:spcPct val="100000"/>
              </a:lnSpc>
              <a:tabLst>
                <a:tab pos="0" algn="l"/>
              </a:tabLst>
            </a:pPr>
            <a:endParaRPr lang="en-US" sz="1100" b="1" spc="300" dirty="0">
              <a:solidFill>
                <a:srgbClr val="4A7C59"/>
              </a:solidFill>
              <a:latin typeface="Calibri"/>
              <a:ea typeface="Calibri"/>
            </a:endParaRPr>
          </a:p>
          <a:p>
            <a:pPr defTabSz="914400">
              <a:lnSpc>
                <a:spcPct val="100000"/>
              </a:lnSpc>
              <a:tabLst>
                <a:tab pos="0" algn="l"/>
              </a:tabLst>
            </a:pPr>
            <a:endParaRPr lang="en-US" sz="1100" b="1" u="none" strike="noStrike" spc="300" dirty="0">
              <a:solidFill>
                <a:srgbClr val="4A7C59"/>
              </a:solidFill>
              <a:effectLst/>
              <a:uFillTx/>
              <a:latin typeface="Calibri"/>
              <a:ea typeface="Calibri"/>
            </a:endParaRPr>
          </a:p>
          <a:p>
            <a:pPr defTabSz="914400">
              <a:lnSpc>
                <a:spcPct val="100000"/>
              </a:lnSpc>
              <a:tabLst>
                <a:tab pos="0" algn="l"/>
              </a:tabLst>
            </a:pPr>
            <a:endParaRPr lang="en-US" sz="1100" b="1" u="none" strike="noStrike" spc="300" dirty="0">
              <a:solidFill>
                <a:srgbClr val="4A7C59"/>
              </a:solidFill>
              <a:effectLst/>
              <a:uFillTx/>
              <a:latin typeface="Calibri"/>
              <a:ea typeface="Calibri"/>
            </a:endParaRPr>
          </a:p>
        </p:txBody>
      </p:sp>
      <p:sp>
        <p:nvSpPr>
          <p:cNvPr id="490" name="Text 8"/>
          <p:cNvSpPr/>
          <p:nvPr/>
        </p:nvSpPr>
        <p:spPr>
          <a:xfrm>
            <a:off x="7635420" y="1563480"/>
            <a:ext cx="3931560" cy="2468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endParaRPr lang="en-US" sz="1100" b="0" u="none" strike="noStrike" dirty="0">
              <a:solidFill>
                <a:srgbClr val="000000"/>
              </a:solidFill>
              <a:effectLst/>
              <a:uFillTx/>
              <a:latin typeface="Arial"/>
            </a:endParaRPr>
          </a:p>
        </p:txBody>
      </p:sp>
      <p:sp>
        <p:nvSpPr>
          <p:cNvPr id="491" name="Text 9"/>
          <p:cNvSpPr/>
          <p:nvPr/>
        </p:nvSpPr>
        <p:spPr>
          <a:xfrm>
            <a:off x="7818120" y="5706000"/>
            <a:ext cx="3931560" cy="292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US" sz="1100" b="0" u="none" strike="noStrike" dirty="0">
              <a:solidFill>
                <a:srgbClr val="000000"/>
              </a:solidFill>
              <a:effectLst/>
              <a:uFillTx/>
              <a:latin typeface="Arial"/>
            </a:endParaRPr>
          </a:p>
        </p:txBody>
      </p:sp>
      <p:sp>
        <p:nvSpPr>
          <p:cNvPr id="492" name="Text 10"/>
          <p:cNvSpPr/>
          <p:nvPr/>
        </p:nvSpPr>
        <p:spPr>
          <a:xfrm>
            <a:off x="7818120" y="5998320"/>
            <a:ext cx="3931560" cy="1188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endParaRPr lang="en-US" sz="1100" b="0" u="none" strike="noStrike" dirty="0">
              <a:solidFill>
                <a:srgbClr val="000000"/>
              </a:solidFill>
              <a:effectLst/>
              <a:uFillTx/>
              <a:latin typeface="Arial"/>
            </a:endParaRPr>
          </a:p>
        </p:txBody>
      </p:sp>
      <p:sp>
        <p:nvSpPr>
          <p:cNvPr id="493" name="Text 11"/>
          <p:cNvSpPr/>
          <p:nvPr/>
        </p:nvSpPr>
        <p:spPr>
          <a:xfrm>
            <a:off x="45720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5B6472"/>
                </a:solidFill>
                <a:effectLst/>
                <a:uFillTx/>
                <a:latin typeface="Calibri"/>
                <a:ea typeface="Calibri"/>
              </a:rPr>
              <a:t>Kenya Food Security Forecasting  |  IPC Time-Series Study</a:t>
            </a:r>
            <a:endParaRPr lang="en-US" sz="1000" b="0" u="none" strike="noStrike">
              <a:solidFill>
                <a:srgbClr val="000000"/>
              </a:solidFill>
              <a:effectLst/>
              <a:uFillTx/>
              <a:latin typeface="Arial"/>
            </a:endParaRPr>
          </a:p>
        </p:txBody>
      </p:sp>
      <p:sp>
        <p:nvSpPr>
          <p:cNvPr id="494" name="Text 12"/>
          <p:cNvSpPr/>
          <p:nvPr/>
        </p:nvSpPr>
        <p:spPr>
          <a:xfrm>
            <a:off x="11338560" y="6537960"/>
            <a:ext cx="4568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000" b="0" u="none" strike="noStrike">
                <a:solidFill>
                  <a:srgbClr val="5B6472"/>
                </a:solidFill>
                <a:effectLst/>
                <a:uFillTx/>
                <a:latin typeface="Calibri"/>
                <a:ea typeface="Calibri"/>
              </a:rPr>
              <a:t>32</a:t>
            </a:r>
            <a:endParaRPr lang="en-US" sz="1000" b="0" u="none" strike="noStrike">
              <a:solidFill>
                <a:srgbClr val="000000"/>
              </a:solidFill>
              <a:effectLst/>
              <a:uFillTx/>
              <a:latin typeface="Arial"/>
            </a:endParaRPr>
          </a:p>
        </p:txBody>
      </p:sp>
      <p:pic>
        <p:nvPicPr>
          <p:cNvPr id="3" name="Picture 2">
            <a:extLst>
              <a:ext uri="{FF2B5EF4-FFF2-40B4-BE49-F238E27FC236}">
                <a16:creationId xmlns:a16="http://schemas.microsoft.com/office/drawing/2014/main" id="{E0D22D40-9770-4E92-AA7F-60F7D70E31FD}"/>
              </a:ext>
            </a:extLst>
          </p:cNvPr>
          <p:cNvPicPr>
            <a:picLocks noChangeAspect="1"/>
          </p:cNvPicPr>
          <p:nvPr/>
        </p:nvPicPr>
        <p:blipFill>
          <a:blip r:embed="rId3"/>
          <a:stretch>
            <a:fillRect/>
          </a:stretch>
        </p:blipFill>
        <p:spPr>
          <a:xfrm>
            <a:off x="141834" y="1127296"/>
            <a:ext cx="7447686" cy="5086350"/>
          </a:xfrm>
          <a:prstGeom prst="rect">
            <a:avLst/>
          </a:prstGeom>
        </p:spPr>
      </p:pic>
      <p:sp>
        <p:nvSpPr>
          <p:cNvPr id="8" name="Rectangle 5">
            <a:extLst>
              <a:ext uri="{FF2B5EF4-FFF2-40B4-BE49-F238E27FC236}">
                <a16:creationId xmlns:a16="http://schemas.microsoft.com/office/drawing/2014/main" id="{3E7BBDE1-B4A3-488D-B813-8C48BC01578A}"/>
              </a:ext>
            </a:extLst>
          </p:cNvPr>
          <p:cNvSpPr>
            <a:spLocks noChangeArrowheads="1"/>
          </p:cNvSpPr>
          <p:nvPr/>
        </p:nvSpPr>
        <p:spPr bwMode="auto">
          <a:xfrm>
            <a:off x="7635420" y="1458655"/>
            <a:ext cx="3406536"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Both the </a:t>
            </a:r>
            <a:r>
              <a:rPr kumimoji="0" lang="en-US" altLang="en-US" sz="1400" b="1" i="0" u="none" strike="noStrike" cap="none" normalizeH="0" baseline="0" dirty="0">
                <a:ln>
                  <a:noFill/>
                </a:ln>
                <a:solidFill>
                  <a:schemeClr val="tx1"/>
                </a:solidFill>
                <a:effectLst/>
                <a:latin typeface="Arial" panose="020B0604020202020204" pitchFamily="34" charset="0"/>
              </a:rPr>
              <a:t>training loss</a:t>
            </a:r>
            <a:r>
              <a:rPr kumimoji="0" lang="en-US" altLang="en-US" sz="1400" b="0" i="0" u="none" strike="noStrike" cap="none" normalizeH="0" baseline="0" dirty="0">
                <a:ln>
                  <a:noFill/>
                </a:ln>
                <a:solidFill>
                  <a:schemeClr val="tx1"/>
                </a:solidFill>
                <a:effectLst/>
                <a:latin typeface="Arial" panose="020B0604020202020204" pitchFamily="34" charset="0"/>
              </a:rPr>
              <a:t> and </a:t>
            </a:r>
            <a:r>
              <a:rPr kumimoji="0" lang="en-US" altLang="en-US" sz="1400" b="1" i="0" u="none" strike="noStrike" cap="none" normalizeH="0" baseline="0" dirty="0">
                <a:ln>
                  <a:noFill/>
                </a:ln>
                <a:solidFill>
                  <a:schemeClr val="tx1"/>
                </a:solidFill>
                <a:effectLst/>
                <a:latin typeface="Arial" panose="020B0604020202020204" pitchFamily="34" charset="0"/>
              </a:rPr>
              <a:t>validation loss</a:t>
            </a:r>
            <a:r>
              <a:rPr kumimoji="0" lang="en-US" altLang="en-US" sz="1400" b="0" i="0" u="none" strike="noStrike" cap="none" normalizeH="0" baseline="0" dirty="0">
                <a:ln>
                  <a:noFill/>
                </a:ln>
                <a:solidFill>
                  <a:schemeClr val="tx1"/>
                </a:solidFill>
                <a:effectLst/>
                <a:latin typeface="Arial" panose="020B0604020202020204" pitchFamily="34" charset="0"/>
              </a:rPr>
              <a:t> decreased rapidly during the first few epochs and then stabilized.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The validation loss remained consistently lower than the training loss, indicating </a:t>
            </a:r>
            <a:r>
              <a:rPr kumimoji="0" lang="en-US" altLang="en-US" sz="1400" b="1" i="0" u="none" strike="noStrike" cap="none" normalizeH="0" baseline="0" dirty="0">
                <a:ln>
                  <a:noFill/>
                </a:ln>
                <a:solidFill>
                  <a:schemeClr val="tx1"/>
                </a:solidFill>
                <a:effectLst/>
                <a:latin typeface="Arial" panose="020B0604020202020204" pitchFamily="34" charset="0"/>
              </a:rPr>
              <a:t>good generalization</a:t>
            </a:r>
            <a:r>
              <a:rPr kumimoji="0" lang="en-US" altLang="en-US" sz="1400" b="0" i="0" u="none" strike="noStrike" cap="none" normalizeH="0" baseline="0" dirty="0">
                <a:ln>
                  <a:noFill/>
                </a:ln>
                <a:solidFill>
                  <a:schemeClr val="tx1"/>
                </a:solidFill>
                <a:effectLst/>
                <a:latin typeface="Arial" panose="020B0604020202020204" pitchFamily="34" charset="0"/>
              </a:rPr>
              <a:t> to unseen data.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There was </a:t>
            </a:r>
            <a:r>
              <a:rPr kumimoji="0" lang="en-US" altLang="en-US" sz="1400" b="1" i="0" u="none" strike="noStrike" cap="none" normalizeH="0" baseline="0" dirty="0">
                <a:ln>
                  <a:noFill/>
                </a:ln>
                <a:solidFill>
                  <a:schemeClr val="tx1"/>
                </a:solidFill>
                <a:effectLst/>
                <a:latin typeface="Arial" panose="020B0604020202020204" pitchFamily="34" charset="0"/>
              </a:rPr>
              <a:t>no evidence of overfitting</a:t>
            </a:r>
            <a:r>
              <a:rPr kumimoji="0" lang="en-US" altLang="en-US" sz="1400" b="0" i="0" u="none" strike="noStrike" cap="none" normalizeH="0" baseline="0" dirty="0">
                <a:ln>
                  <a:noFill/>
                </a:ln>
                <a:solidFill>
                  <a:schemeClr val="tx1"/>
                </a:solidFill>
                <a:effectLst/>
                <a:latin typeface="Arial" panose="020B0604020202020204" pitchFamily="34" charset="0"/>
              </a:rPr>
              <a:t>, as both curves remained stable throughout training.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Overall, the training process converged successfully, showing that the LSTM model was well-optimized and learned the historical food security patterns effectively.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495" name="Shape 0"/>
          <p:cNvSpPr/>
          <p:nvPr/>
        </p:nvSpPr>
        <p:spPr>
          <a:xfrm>
            <a:off x="0" y="0"/>
            <a:ext cx="12188520" cy="822600"/>
          </a:xfrm>
          <a:prstGeom prst="rect">
            <a:avLst/>
          </a:prstGeom>
          <a:solidFill>
            <a:srgbClr val="2C3E50"/>
          </a:solidFill>
          <a:ln w="12700">
            <a:solidFill>
              <a:srgbClr val="2C3E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96" name="Text 1"/>
          <p:cNvSpPr/>
          <p:nvPr/>
        </p:nvSpPr>
        <p:spPr>
          <a:xfrm>
            <a:off x="457200" y="13716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spc="400">
                <a:solidFill>
                  <a:srgbClr val="B85042"/>
                </a:solidFill>
                <a:effectLst/>
                <a:uFillTx/>
                <a:latin typeface="Calibri"/>
                <a:ea typeface="Calibri"/>
              </a:rPr>
              <a:t>LSTM · FORECAST</a:t>
            </a:r>
            <a:endParaRPr lang="en-US" sz="1200" b="0" u="none" strike="noStrike">
              <a:solidFill>
                <a:srgbClr val="000000"/>
              </a:solidFill>
              <a:effectLst/>
              <a:uFillTx/>
              <a:latin typeface="Arial"/>
            </a:endParaRPr>
          </a:p>
        </p:txBody>
      </p:sp>
      <p:sp>
        <p:nvSpPr>
          <p:cNvPr id="497" name="Text 2"/>
          <p:cNvSpPr/>
          <p:nvPr/>
        </p:nvSpPr>
        <p:spPr>
          <a:xfrm>
            <a:off x="457200" y="347400"/>
            <a:ext cx="109724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FFFFFF"/>
                </a:solidFill>
                <a:effectLst/>
                <a:uFillTx/>
                <a:latin typeface="Calibri"/>
                <a:ea typeface="Calibri"/>
              </a:rPr>
              <a:t>LSTM Forecast vs Actual — Underprediction Issue</a:t>
            </a:r>
            <a:endParaRPr lang="en-US" sz="2600" b="0" u="none" strike="noStrike">
              <a:solidFill>
                <a:srgbClr val="000000"/>
              </a:solidFill>
              <a:effectLst/>
              <a:uFillTx/>
              <a:latin typeface="Arial"/>
            </a:endParaRPr>
          </a:p>
        </p:txBody>
      </p:sp>
      <p:sp>
        <p:nvSpPr>
          <p:cNvPr id="498" name="Shape 3"/>
          <p:cNvSpPr/>
          <p:nvPr/>
        </p:nvSpPr>
        <p:spPr>
          <a:xfrm>
            <a:off x="457200" y="960120"/>
            <a:ext cx="1097280" cy="360"/>
          </a:xfrm>
          <a:prstGeom prst="line">
            <a:avLst/>
          </a:prstGeom>
          <a:ln w="38100">
            <a:solidFill>
              <a:srgbClr val="B85042"/>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Calibri"/>
            </a:endParaRPr>
          </a:p>
        </p:txBody>
      </p:sp>
      <p:sp>
        <p:nvSpPr>
          <p:cNvPr id="500" name="Shape 4"/>
          <p:cNvSpPr/>
          <p:nvPr/>
        </p:nvSpPr>
        <p:spPr>
          <a:xfrm>
            <a:off x="7426539" y="1085552"/>
            <a:ext cx="4683497" cy="5434048"/>
          </a:xfrm>
          <a:prstGeom prst="roundRect">
            <a:avLst>
              <a:gd name="adj" fmla="val 1758"/>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01" name="Text 5"/>
          <p:cNvSpPr/>
          <p:nvPr/>
        </p:nvSpPr>
        <p:spPr>
          <a:xfrm>
            <a:off x="7818120" y="1371600"/>
            <a:ext cx="3931560" cy="292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US" sz="1100" b="0" u="none" strike="noStrike" dirty="0">
              <a:solidFill>
                <a:srgbClr val="000000"/>
              </a:solidFill>
              <a:effectLst/>
              <a:uFillTx/>
              <a:latin typeface="Arial"/>
            </a:endParaRPr>
          </a:p>
        </p:txBody>
      </p:sp>
      <p:sp>
        <p:nvSpPr>
          <p:cNvPr id="502" name="Text 6"/>
          <p:cNvSpPr/>
          <p:nvPr/>
        </p:nvSpPr>
        <p:spPr>
          <a:xfrm>
            <a:off x="7818120" y="1664280"/>
            <a:ext cx="3931560" cy="1096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100" b="0" u="none" strike="noStrike" dirty="0">
                <a:solidFill>
                  <a:srgbClr val="1F2937"/>
                </a:solidFill>
                <a:effectLst/>
                <a:uFillTx/>
                <a:latin typeface="Calibri"/>
                <a:ea typeface="Calibri"/>
              </a:rPr>
              <a:t>.</a:t>
            </a:r>
            <a:endParaRPr lang="en-US" sz="1100" b="0" u="none" strike="noStrike" dirty="0">
              <a:solidFill>
                <a:srgbClr val="000000"/>
              </a:solidFill>
              <a:effectLst/>
              <a:uFillTx/>
              <a:latin typeface="Arial"/>
            </a:endParaRPr>
          </a:p>
        </p:txBody>
      </p:sp>
      <p:sp>
        <p:nvSpPr>
          <p:cNvPr id="503" name="Text 7"/>
          <p:cNvSpPr/>
          <p:nvPr/>
        </p:nvSpPr>
        <p:spPr>
          <a:xfrm>
            <a:off x="7863840" y="3372612"/>
            <a:ext cx="3931560" cy="261006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US" sz="1100" b="1" spc="300" dirty="0">
              <a:solidFill>
                <a:srgbClr val="B85042"/>
              </a:solidFill>
              <a:latin typeface="Calibri"/>
              <a:ea typeface="Calibri"/>
            </a:endParaRPr>
          </a:p>
          <a:p>
            <a:pPr defTabSz="914400">
              <a:lnSpc>
                <a:spcPct val="100000"/>
              </a:lnSpc>
              <a:tabLst>
                <a:tab pos="0" algn="l"/>
              </a:tabLst>
            </a:pPr>
            <a:endParaRPr lang="en-US" sz="1100" b="1" u="none" strike="noStrike" spc="300" dirty="0">
              <a:solidFill>
                <a:srgbClr val="B85042"/>
              </a:solidFill>
              <a:effectLst/>
              <a:uFillTx/>
              <a:latin typeface="Calibri"/>
              <a:ea typeface="Calibri"/>
            </a:endParaRPr>
          </a:p>
          <a:p>
            <a:pPr defTabSz="914400">
              <a:lnSpc>
                <a:spcPct val="100000"/>
              </a:lnSpc>
              <a:tabLst>
                <a:tab pos="0" algn="l"/>
              </a:tabLst>
            </a:pPr>
            <a:endParaRPr lang="en-US" sz="1100" b="1" spc="300" dirty="0">
              <a:solidFill>
                <a:srgbClr val="B85042"/>
              </a:solidFill>
              <a:latin typeface="Calibri"/>
              <a:ea typeface="Calibri"/>
            </a:endParaRPr>
          </a:p>
          <a:p>
            <a:pPr defTabSz="914400">
              <a:lnSpc>
                <a:spcPct val="100000"/>
              </a:lnSpc>
              <a:tabLst>
                <a:tab pos="0" algn="l"/>
              </a:tabLst>
            </a:pPr>
            <a:endParaRPr lang="en-US" sz="1100" b="1" u="none" strike="noStrike" spc="300" dirty="0">
              <a:solidFill>
                <a:srgbClr val="B85042"/>
              </a:solidFill>
              <a:effectLst/>
              <a:uFillTx/>
              <a:latin typeface="Calibri"/>
              <a:ea typeface="Calibri"/>
            </a:endParaRPr>
          </a:p>
          <a:p>
            <a:pPr defTabSz="914400">
              <a:lnSpc>
                <a:spcPct val="100000"/>
              </a:lnSpc>
              <a:tabLst>
                <a:tab pos="0" algn="l"/>
              </a:tabLst>
            </a:pPr>
            <a:endParaRPr lang="en-US" sz="1100" b="1" spc="300" dirty="0">
              <a:solidFill>
                <a:srgbClr val="B85042"/>
              </a:solidFill>
              <a:latin typeface="Calibri"/>
              <a:ea typeface="Calibri"/>
            </a:endParaRPr>
          </a:p>
          <a:p>
            <a:pPr defTabSz="914400">
              <a:lnSpc>
                <a:spcPct val="100000"/>
              </a:lnSpc>
              <a:tabLst>
                <a:tab pos="0" algn="l"/>
              </a:tabLst>
            </a:pPr>
            <a:endParaRPr lang="en-US" sz="1100" b="1" u="none" strike="noStrike" spc="300" dirty="0">
              <a:solidFill>
                <a:srgbClr val="B85042"/>
              </a:solidFill>
              <a:effectLst/>
              <a:uFillTx/>
              <a:latin typeface="Calibri"/>
              <a:ea typeface="Calibri"/>
            </a:endParaRPr>
          </a:p>
          <a:p>
            <a:pPr defTabSz="914400">
              <a:lnSpc>
                <a:spcPct val="100000"/>
              </a:lnSpc>
              <a:tabLst>
                <a:tab pos="0" algn="l"/>
              </a:tabLst>
            </a:pPr>
            <a:endParaRPr lang="en-US" sz="1100" b="1" spc="300" dirty="0">
              <a:solidFill>
                <a:srgbClr val="B85042"/>
              </a:solidFill>
              <a:latin typeface="Calibri"/>
              <a:ea typeface="Calibri"/>
            </a:endParaRPr>
          </a:p>
          <a:p>
            <a:pPr defTabSz="914400">
              <a:lnSpc>
                <a:spcPct val="100000"/>
              </a:lnSpc>
              <a:tabLst>
                <a:tab pos="0" algn="l"/>
              </a:tabLst>
            </a:pPr>
            <a:endParaRPr lang="en-US" sz="1100" b="1" u="none" strike="noStrike" spc="300" dirty="0">
              <a:solidFill>
                <a:srgbClr val="B85042"/>
              </a:solidFill>
              <a:effectLst/>
              <a:uFillTx/>
              <a:latin typeface="Calibri"/>
              <a:ea typeface="Calibri"/>
            </a:endParaRPr>
          </a:p>
          <a:p>
            <a:pPr defTabSz="914400">
              <a:lnSpc>
                <a:spcPct val="100000"/>
              </a:lnSpc>
              <a:tabLst>
                <a:tab pos="0" algn="l"/>
              </a:tabLst>
            </a:pPr>
            <a:endParaRPr lang="en-US" sz="1100" b="1" spc="300" dirty="0">
              <a:solidFill>
                <a:srgbClr val="B85042"/>
              </a:solidFill>
              <a:latin typeface="Calibri"/>
              <a:ea typeface="Calibri"/>
            </a:endParaRPr>
          </a:p>
          <a:p>
            <a:pPr defTabSz="914400">
              <a:lnSpc>
                <a:spcPct val="100000"/>
              </a:lnSpc>
              <a:tabLst>
                <a:tab pos="0" algn="l"/>
              </a:tabLst>
            </a:pPr>
            <a:endParaRPr lang="en-US" sz="1100" b="1" u="none" strike="noStrike" spc="300" dirty="0">
              <a:solidFill>
                <a:srgbClr val="B85042"/>
              </a:solidFill>
              <a:effectLst/>
              <a:uFillTx/>
              <a:latin typeface="Calibri"/>
              <a:ea typeface="Calibri"/>
            </a:endParaRPr>
          </a:p>
          <a:p>
            <a:pPr defTabSz="914400">
              <a:lnSpc>
                <a:spcPct val="100000"/>
              </a:lnSpc>
              <a:tabLst>
                <a:tab pos="0" algn="l"/>
              </a:tabLst>
            </a:pPr>
            <a:endParaRPr lang="en-US" sz="1100" b="1" spc="300" dirty="0">
              <a:solidFill>
                <a:srgbClr val="B85042"/>
              </a:solidFill>
              <a:latin typeface="Calibri"/>
              <a:ea typeface="Calibri"/>
            </a:endParaRPr>
          </a:p>
          <a:p>
            <a:pPr defTabSz="914400">
              <a:lnSpc>
                <a:spcPct val="100000"/>
              </a:lnSpc>
              <a:tabLst>
                <a:tab pos="0" algn="l"/>
              </a:tabLst>
            </a:pPr>
            <a:endParaRPr lang="en-US" sz="1100" b="1" u="none" strike="noStrike" spc="300" dirty="0">
              <a:solidFill>
                <a:srgbClr val="B85042"/>
              </a:solidFill>
              <a:effectLst/>
              <a:uFillTx/>
              <a:latin typeface="Calibri"/>
              <a:ea typeface="Calibri"/>
            </a:endParaRPr>
          </a:p>
          <a:p>
            <a:pPr defTabSz="914400">
              <a:lnSpc>
                <a:spcPct val="100000"/>
              </a:lnSpc>
              <a:tabLst>
                <a:tab pos="0" algn="l"/>
              </a:tabLst>
            </a:pPr>
            <a:endParaRPr lang="en-US" sz="1100" b="0" u="none" strike="noStrike" dirty="0">
              <a:solidFill>
                <a:srgbClr val="000000"/>
              </a:solidFill>
              <a:effectLst/>
              <a:uFillTx/>
              <a:latin typeface="Arial"/>
            </a:endParaRPr>
          </a:p>
        </p:txBody>
      </p:sp>
      <p:sp>
        <p:nvSpPr>
          <p:cNvPr id="504" name="Text 8"/>
          <p:cNvSpPr/>
          <p:nvPr/>
        </p:nvSpPr>
        <p:spPr>
          <a:xfrm>
            <a:off x="7818120" y="3145680"/>
            <a:ext cx="3931560" cy="2194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endParaRPr lang="en-US" sz="1100" b="0" u="none" strike="noStrike" dirty="0">
              <a:solidFill>
                <a:srgbClr val="000000"/>
              </a:solidFill>
              <a:effectLst/>
              <a:uFillTx/>
              <a:latin typeface="Arial"/>
            </a:endParaRPr>
          </a:p>
        </p:txBody>
      </p:sp>
      <p:sp>
        <p:nvSpPr>
          <p:cNvPr id="505" name="Text 9"/>
          <p:cNvSpPr/>
          <p:nvPr/>
        </p:nvSpPr>
        <p:spPr>
          <a:xfrm>
            <a:off x="7818120" y="5431680"/>
            <a:ext cx="3931560" cy="292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US" sz="1100" b="0" u="none" strike="noStrike" dirty="0">
              <a:solidFill>
                <a:srgbClr val="000000"/>
              </a:solidFill>
              <a:effectLst/>
              <a:uFillTx/>
              <a:latin typeface="Arial"/>
            </a:endParaRPr>
          </a:p>
        </p:txBody>
      </p:sp>
      <p:sp>
        <p:nvSpPr>
          <p:cNvPr id="506" name="Text 10"/>
          <p:cNvSpPr/>
          <p:nvPr/>
        </p:nvSpPr>
        <p:spPr>
          <a:xfrm>
            <a:off x="7818120" y="5725586"/>
            <a:ext cx="3931560" cy="1737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endParaRPr lang="en-US" sz="1100" b="0" u="none" strike="noStrike" dirty="0">
              <a:solidFill>
                <a:srgbClr val="000000"/>
              </a:solidFill>
              <a:effectLst/>
              <a:uFillTx/>
              <a:latin typeface="Arial"/>
            </a:endParaRPr>
          </a:p>
        </p:txBody>
      </p:sp>
      <p:sp>
        <p:nvSpPr>
          <p:cNvPr id="507" name="Text 11"/>
          <p:cNvSpPr/>
          <p:nvPr/>
        </p:nvSpPr>
        <p:spPr>
          <a:xfrm>
            <a:off x="7818120" y="7552800"/>
            <a:ext cx="3931560" cy="292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US" sz="1100" b="0" u="none" strike="noStrike" dirty="0">
              <a:solidFill>
                <a:srgbClr val="000000"/>
              </a:solidFill>
              <a:effectLst/>
              <a:uFillTx/>
              <a:latin typeface="Arial"/>
            </a:endParaRPr>
          </a:p>
        </p:txBody>
      </p:sp>
      <p:sp>
        <p:nvSpPr>
          <p:cNvPr id="509" name="Text 13"/>
          <p:cNvSpPr/>
          <p:nvPr/>
        </p:nvSpPr>
        <p:spPr>
          <a:xfrm>
            <a:off x="45720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5B6472"/>
                </a:solidFill>
                <a:effectLst/>
                <a:uFillTx/>
                <a:latin typeface="Calibri"/>
                <a:ea typeface="Calibri"/>
              </a:rPr>
              <a:t>Kenya Food Security Forecasting  |  IPC Time-Series Study</a:t>
            </a:r>
            <a:endParaRPr lang="en-US" sz="1000" b="0" u="none" strike="noStrike">
              <a:solidFill>
                <a:srgbClr val="000000"/>
              </a:solidFill>
              <a:effectLst/>
              <a:uFillTx/>
              <a:latin typeface="Arial"/>
            </a:endParaRPr>
          </a:p>
        </p:txBody>
      </p:sp>
      <p:sp>
        <p:nvSpPr>
          <p:cNvPr id="510" name="Text 14"/>
          <p:cNvSpPr/>
          <p:nvPr/>
        </p:nvSpPr>
        <p:spPr>
          <a:xfrm>
            <a:off x="11338560" y="6537960"/>
            <a:ext cx="4568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000" b="0" u="none" strike="noStrike">
                <a:solidFill>
                  <a:srgbClr val="5B6472"/>
                </a:solidFill>
                <a:effectLst/>
                <a:uFillTx/>
                <a:latin typeface="Calibri"/>
                <a:ea typeface="Calibri"/>
              </a:rPr>
              <a:t>33</a:t>
            </a:r>
            <a:endParaRPr lang="en-US" sz="1000" b="0" u="none" strike="noStrike">
              <a:solidFill>
                <a:srgbClr val="000000"/>
              </a:solidFill>
              <a:effectLst/>
              <a:uFillTx/>
              <a:latin typeface="Arial"/>
            </a:endParaRPr>
          </a:p>
        </p:txBody>
      </p:sp>
      <p:pic>
        <p:nvPicPr>
          <p:cNvPr id="3" name="Picture 2">
            <a:extLst>
              <a:ext uri="{FF2B5EF4-FFF2-40B4-BE49-F238E27FC236}">
                <a16:creationId xmlns:a16="http://schemas.microsoft.com/office/drawing/2014/main" id="{D6F82B97-C71D-44CC-B4F5-D0158D6AC12E}"/>
              </a:ext>
            </a:extLst>
          </p:cNvPr>
          <p:cNvPicPr>
            <a:picLocks noChangeAspect="1"/>
          </p:cNvPicPr>
          <p:nvPr/>
        </p:nvPicPr>
        <p:blipFill>
          <a:blip r:embed="rId3"/>
          <a:stretch>
            <a:fillRect/>
          </a:stretch>
        </p:blipFill>
        <p:spPr>
          <a:xfrm>
            <a:off x="3662" y="987660"/>
            <a:ext cx="7422877" cy="5523120"/>
          </a:xfrm>
          <a:prstGeom prst="rect">
            <a:avLst/>
          </a:prstGeom>
        </p:spPr>
      </p:pic>
      <p:sp>
        <p:nvSpPr>
          <p:cNvPr id="4" name="Rectangle 1">
            <a:extLst>
              <a:ext uri="{FF2B5EF4-FFF2-40B4-BE49-F238E27FC236}">
                <a16:creationId xmlns:a16="http://schemas.microsoft.com/office/drawing/2014/main" id="{E12EC162-065C-49C5-B0A1-79CD33AE5304}"/>
              </a:ext>
            </a:extLst>
          </p:cNvPr>
          <p:cNvSpPr>
            <a:spLocks noChangeArrowheads="1"/>
          </p:cNvSpPr>
          <p:nvPr/>
        </p:nvSpPr>
        <p:spPr bwMode="auto">
          <a:xfrm>
            <a:off x="7599943" y="1085552"/>
            <a:ext cx="4592057"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sz="1800" b="1" u="none" strike="noStrike" spc="300" dirty="0">
                <a:solidFill>
                  <a:srgbClr val="4A7C59"/>
                </a:solidFill>
                <a:effectLst/>
                <a:uFillTx/>
                <a:latin typeface="Calibri"/>
                <a:ea typeface="Calibri"/>
              </a:rPr>
              <a:t>INTERPRETATION</a:t>
            </a:r>
            <a:endParaRPr lang="en-US" sz="1800" b="0" u="none" strike="noStrike" dirty="0">
              <a:solidFill>
                <a:srgbClr val="000000"/>
              </a:solidFill>
              <a:effectLst/>
              <a:uFillTx/>
              <a:latin typeface="Arial"/>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The LSTM model successfully distinguished between the three IPC food security phases (Minimal, Stressed, and Crisis), with most predictions clustering around their correct classes.</a:t>
            </a:r>
          </a:p>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The model achieved an </a:t>
            </a:r>
            <a:r>
              <a:rPr kumimoji="0" lang="en-US" altLang="en-US" sz="1400" b="1" i="0" u="none" strike="noStrike" cap="none" normalizeH="0" baseline="0" dirty="0">
                <a:ln>
                  <a:noFill/>
                </a:ln>
                <a:solidFill>
                  <a:schemeClr val="tx1"/>
                </a:solidFill>
                <a:effectLst/>
                <a:latin typeface="Arial" panose="020B0604020202020204" pitchFamily="34" charset="0"/>
              </a:rPr>
              <a:t>R² score of 75.41%</a:t>
            </a:r>
            <a:r>
              <a:rPr kumimoji="0" lang="en-US" altLang="en-US" sz="1400" b="0" i="0" u="none" strike="noStrike" cap="none" normalizeH="0" baseline="0" dirty="0">
                <a:ln>
                  <a:noFill/>
                </a:ln>
                <a:solidFill>
                  <a:schemeClr val="tx1"/>
                </a:solidFill>
                <a:effectLst/>
                <a:latin typeface="Arial" panose="020B0604020202020204" pitchFamily="34" charset="0"/>
              </a:rPr>
              <a:t>, indicating it captured a large proportion of the patterns in the historical food security data.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lvl="0" eaLnBrk="0" fontAlgn="base" hangingPunct="0">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The </a:t>
            </a:r>
            <a:r>
              <a:rPr kumimoji="0" lang="en-US" altLang="en-US" sz="1400" b="1" i="0" u="none" strike="noStrike" cap="none" normalizeH="0" baseline="0" dirty="0">
                <a:ln>
                  <a:noFill/>
                </a:ln>
                <a:solidFill>
                  <a:schemeClr val="tx1"/>
                </a:solidFill>
                <a:effectLst/>
                <a:latin typeface="Arial" panose="020B0604020202020204" pitchFamily="34" charset="0"/>
              </a:rPr>
              <a:t>RMSE of 0.3851</a:t>
            </a:r>
            <a:r>
              <a:rPr kumimoji="0" lang="en-US" altLang="en-US" sz="1400" b="0" i="0" u="none" strike="noStrike" cap="none" normalizeH="0" baseline="0" dirty="0">
                <a:ln>
                  <a:noFill/>
                </a:ln>
                <a:solidFill>
                  <a:schemeClr val="tx1"/>
                </a:solidFill>
                <a:effectLst/>
                <a:latin typeface="Arial" panose="020B0604020202020204" pitchFamily="34" charset="0"/>
              </a:rPr>
              <a:t> and low residual error show that the model's predictions were generally close to the actual IPC values. </a:t>
            </a:r>
            <a:endParaRPr lang="en-US" altLang="en-US" sz="1400" dirty="0">
              <a:latin typeface="Arial" panose="020B0604020202020204" pitchFamily="34" charset="0"/>
            </a:endParaRPr>
          </a:p>
          <a:p>
            <a:pPr lvl="0" eaLnBrk="0" fontAlgn="base" hangingPunct="0">
              <a:spcBef>
                <a:spcPct val="0"/>
              </a:spcBef>
              <a:spcAft>
                <a:spcPct val="0"/>
              </a:spcAft>
              <a:buFontTx/>
              <a:buChar char="•"/>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Overall, the that the LSTM model learned meaningful relationships in the data, although some overlap between phases indicates occasional prediction errors.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525" name="Shape 0"/>
          <p:cNvSpPr/>
          <p:nvPr/>
        </p:nvSpPr>
        <p:spPr>
          <a:xfrm>
            <a:off x="0" y="0"/>
            <a:ext cx="12188520" cy="822600"/>
          </a:xfrm>
          <a:prstGeom prst="rect">
            <a:avLst/>
          </a:prstGeom>
          <a:solidFill>
            <a:srgbClr val="2C3E50"/>
          </a:solidFill>
          <a:ln w="12700">
            <a:solidFill>
              <a:srgbClr val="2C3E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26" name="Text 1"/>
          <p:cNvSpPr/>
          <p:nvPr/>
        </p:nvSpPr>
        <p:spPr>
          <a:xfrm>
            <a:off x="457200" y="13716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spc="400">
                <a:solidFill>
                  <a:srgbClr val="B85042"/>
                </a:solidFill>
                <a:effectLst/>
                <a:uFillTx/>
                <a:latin typeface="Calibri"/>
                <a:ea typeface="Calibri"/>
              </a:rPr>
              <a:t>END-TO-END COMPARISON</a:t>
            </a:r>
            <a:endParaRPr lang="en-US" sz="1200" b="0" u="none" strike="noStrike">
              <a:solidFill>
                <a:srgbClr val="000000"/>
              </a:solidFill>
              <a:effectLst/>
              <a:uFillTx/>
              <a:latin typeface="Arial"/>
            </a:endParaRPr>
          </a:p>
        </p:txBody>
      </p:sp>
      <p:sp>
        <p:nvSpPr>
          <p:cNvPr id="527" name="Text 2"/>
          <p:cNvSpPr/>
          <p:nvPr/>
        </p:nvSpPr>
        <p:spPr>
          <a:xfrm>
            <a:off x="457200" y="347400"/>
            <a:ext cx="109724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FFFFFF"/>
                </a:solidFill>
                <a:effectLst/>
                <a:uFillTx/>
                <a:latin typeface="Calibri"/>
                <a:ea typeface="Calibri"/>
              </a:rPr>
              <a:t>XGBoost vs Random Forest — Regression Metrics</a:t>
            </a:r>
            <a:endParaRPr lang="en-US" sz="2600" b="0" u="none" strike="noStrike">
              <a:solidFill>
                <a:srgbClr val="000000"/>
              </a:solidFill>
              <a:effectLst/>
              <a:uFillTx/>
              <a:latin typeface="Arial"/>
            </a:endParaRPr>
          </a:p>
        </p:txBody>
      </p:sp>
      <p:sp>
        <p:nvSpPr>
          <p:cNvPr id="528" name="Shape 3"/>
          <p:cNvSpPr/>
          <p:nvPr/>
        </p:nvSpPr>
        <p:spPr>
          <a:xfrm>
            <a:off x="457200" y="960120"/>
            <a:ext cx="1097280" cy="360"/>
          </a:xfrm>
          <a:prstGeom prst="line">
            <a:avLst/>
          </a:prstGeom>
          <a:ln w="38100">
            <a:solidFill>
              <a:srgbClr val="B85042"/>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Calibri"/>
            </a:endParaRPr>
          </a:p>
        </p:txBody>
      </p:sp>
      <p:sp>
        <p:nvSpPr>
          <p:cNvPr id="529" name="Shape 4"/>
          <p:cNvSpPr/>
          <p:nvPr/>
        </p:nvSpPr>
        <p:spPr>
          <a:xfrm>
            <a:off x="7734005" y="1272960"/>
            <a:ext cx="4276548" cy="5074560"/>
          </a:xfrm>
          <a:prstGeom prst="roundRect">
            <a:avLst>
              <a:gd name="adj" fmla="val 1758"/>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dirty="0">
              <a:solidFill>
                <a:schemeClr val="dk1"/>
              </a:solidFill>
              <a:effectLst/>
              <a:uFillTx/>
              <a:latin typeface="Calibri"/>
            </a:endParaRPr>
          </a:p>
        </p:txBody>
      </p:sp>
      <p:sp>
        <p:nvSpPr>
          <p:cNvPr id="530" name="Text 5"/>
          <p:cNvSpPr/>
          <p:nvPr/>
        </p:nvSpPr>
        <p:spPr>
          <a:xfrm>
            <a:off x="7818120" y="1272960"/>
            <a:ext cx="3931560" cy="292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spc="300" dirty="0">
                <a:solidFill>
                  <a:srgbClr val="B85042"/>
                </a:solidFill>
                <a:effectLst/>
                <a:uFillTx/>
                <a:latin typeface="Calibri"/>
                <a:ea typeface="Calibri"/>
              </a:rPr>
              <a:t>WHAT IT SHOWS</a:t>
            </a:r>
            <a:endParaRPr lang="en-US" sz="1100" b="0" u="none" strike="noStrike" dirty="0">
              <a:solidFill>
                <a:srgbClr val="000000"/>
              </a:solidFill>
              <a:effectLst/>
              <a:uFillTx/>
              <a:latin typeface="Arial"/>
            </a:endParaRPr>
          </a:p>
        </p:txBody>
      </p:sp>
      <p:sp>
        <p:nvSpPr>
          <p:cNvPr id="531" name="Text 6"/>
          <p:cNvSpPr/>
          <p:nvPr/>
        </p:nvSpPr>
        <p:spPr>
          <a:xfrm>
            <a:off x="8163108" y="1522620"/>
            <a:ext cx="3931560" cy="1188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100" b="0" u="none" strike="noStrike" dirty="0">
                <a:solidFill>
                  <a:srgbClr val="1F2937"/>
                </a:solidFill>
                <a:effectLst/>
                <a:uFillTx/>
                <a:latin typeface="Calibri"/>
              </a:rPr>
              <a:t>Side-by-side R², MSE and RMSE for the two top tabular models on the held-out chronological test set (train ≤ 2024-01-31, test &gt; 2024-01-31).</a:t>
            </a:r>
          </a:p>
          <a:p>
            <a:pPr defTabSz="914400">
              <a:lnSpc>
                <a:spcPct val="100000"/>
              </a:lnSpc>
              <a:tabLst>
                <a:tab pos="0" algn="l"/>
              </a:tabLst>
            </a:pPr>
            <a:endParaRPr lang="en-US" sz="1100" dirty="0">
              <a:solidFill>
                <a:srgbClr val="1F2937"/>
              </a:solidFill>
              <a:latin typeface="Calibri"/>
            </a:endParaRPr>
          </a:p>
          <a:p>
            <a:pPr defTabSz="914400">
              <a:lnSpc>
                <a:spcPct val="100000"/>
              </a:lnSpc>
              <a:tabLst>
                <a:tab pos="0" algn="l"/>
              </a:tabLst>
            </a:pPr>
            <a:endParaRPr lang="en-US" sz="1100" dirty="0">
              <a:solidFill>
                <a:srgbClr val="1F2937"/>
              </a:solidFill>
              <a:latin typeface="Calibri"/>
            </a:endParaRPr>
          </a:p>
        </p:txBody>
      </p:sp>
      <p:sp>
        <p:nvSpPr>
          <p:cNvPr id="532" name="Text 7"/>
          <p:cNvSpPr/>
          <p:nvPr/>
        </p:nvSpPr>
        <p:spPr>
          <a:xfrm>
            <a:off x="7734005" y="2113921"/>
            <a:ext cx="3931560" cy="292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spc="300" dirty="0">
                <a:solidFill>
                  <a:srgbClr val="4A7C59"/>
                </a:solidFill>
                <a:effectLst/>
                <a:uFillTx/>
                <a:latin typeface="Calibri"/>
                <a:ea typeface="Calibri"/>
              </a:rPr>
              <a:t>RESULTS</a:t>
            </a:r>
            <a:endParaRPr lang="en-US" sz="1100" b="0" u="none" strike="noStrike" dirty="0">
              <a:solidFill>
                <a:srgbClr val="000000"/>
              </a:solidFill>
              <a:effectLst/>
              <a:uFillTx/>
              <a:latin typeface="Arial"/>
            </a:endParaRPr>
          </a:p>
        </p:txBody>
      </p:sp>
      <p:sp>
        <p:nvSpPr>
          <p:cNvPr id="533" name="Text 8"/>
          <p:cNvSpPr/>
          <p:nvPr/>
        </p:nvSpPr>
        <p:spPr>
          <a:xfrm>
            <a:off x="7906499" y="2406241"/>
            <a:ext cx="3931560" cy="1645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sz="1200" b="1" dirty="0"/>
              <a:t>R² Score (Higher is Better)</a:t>
            </a:r>
          </a:p>
          <a:p>
            <a:r>
              <a:rPr lang="en-US" sz="1200" dirty="0" err="1"/>
              <a:t>XGBoost</a:t>
            </a:r>
            <a:r>
              <a:rPr lang="en-US" sz="1200" dirty="0"/>
              <a:t> achieved a slightly higher </a:t>
            </a:r>
            <a:r>
              <a:rPr lang="en-US" sz="1200" b="1" dirty="0"/>
              <a:t>R² score (0.7172)</a:t>
            </a:r>
            <a:r>
              <a:rPr lang="en-US" sz="1200" dirty="0"/>
              <a:t> than Random Forest </a:t>
            </a:r>
            <a:r>
              <a:rPr lang="en-US" sz="1200" b="1" dirty="0"/>
              <a:t>(0.6943)</a:t>
            </a:r>
            <a:r>
              <a:rPr lang="en-US" sz="1200" dirty="0"/>
              <a:t>, meaning it explained more of the patterns in Kenya's historical food security data and produced more reliable predictions.</a:t>
            </a:r>
          </a:p>
          <a:p>
            <a:endParaRPr lang="en-US" sz="1200" dirty="0"/>
          </a:p>
          <a:p>
            <a:r>
              <a:rPr lang="en-US" sz="1200" b="1" dirty="0"/>
              <a:t>MSE (Lower is Better)</a:t>
            </a:r>
          </a:p>
          <a:p>
            <a:r>
              <a:rPr lang="en-US" sz="1200" dirty="0" err="1"/>
              <a:t>XGBoost</a:t>
            </a:r>
            <a:r>
              <a:rPr lang="en-US" sz="1200" dirty="0"/>
              <a:t> recorded a lower </a:t>
            </a:r>
            <a:r>
              <a:rPr lang="en-US" sz="1200" b="1" dirty="0"/>
              <a:t>MSE (0.1716)</a:t>
            </a:r>
            <a:r>
              <a:rPr lang="en-US" sz="1200" dirty="0"/>
              <a:t> compared to Random Forest </a:t>
            </a:r>
            <a:r>
              <a:rPr lang="en-US" sz="1200" b="1" dirty="0"/>
              <a:t>(0.1854)</a:t>
            </a:r>
            <a:r>
              <a:rPr lang="en-US" sz="1200" dirty="0"/>
              <a:t>, indicating that its predictions had smaller overall errors.</a:t>
            </a:r>
          </a:p>
          <a:p>
            <a:endParaRPr lang="en-US" sz="1200" dirty="0"/>
          </a:p>
          <a:p>
            <a:r>
              <a:rPr lang="en-US" sz="1200" b="1" dirty="0"/>
              <a:t>RMSE (Lower is Better)</a:t>
            </a:r>
          </a:p>
          <a:p>
            <a:r>
              <a:rPr lang="en-US" sz="1200" dirty="0" err="1"/>
              <a:t>XGBoost</a:t>
            </a:r>
            <a:r>
              <a:rPr lang="en-US" sz="1200" dirty="0"/>
              <a:t> also achieved a lower </a:t>
            </a:r>
            <a:r>
              <a:rPr lang="en-US" sz="1200" b="1" dirty="0"/>
              <a:t>RMSE (0.4142)</a:t>
            </a:r>
            <a:r>
              <a:rPr lang="en-US" sz="1200" dirty="0"/>
              <a:t> than Random Forest </a:t>
            </a:r>
            <a:r>
              <a:rPr lang="en-US" sz="1200" b="1" dirty="0"/>
              <a:t>(0.4306)</a:t>
            </a:r>
            <a:r>
              <a:rPr lang="en-US" sz="1200" dirty="0"/>
              <a:t>, showing that its predicted IPC values were, on average, closer to the actual food security conditions.</a:t>
            </a:r>
          </a:p>
          <a:p>
            <a:endParaRPr lang="en-US" sz="1200" dirty="0"/>
          </a:p>
          <a:p>
            <a:r>
              <a:rPr lang="en-US" sz="1200" b="1" dirty="0"/>
              <a:t>Overall Conclusion</a:t>
            </a:r>
          </a:p>
          <a:p>
            <a:r>
              <a:rPr lang="en-US" sz="1200" dirty="0"/>
              <a:t>Overall, </a:t>
            </a:r>
            <a:r>
              <a:rPr lang="en-US" sz="1200" b="1" dirty="0" err="1"/>
              <a:t>XGBoost</a:t>
            </a:r>
            <a:r>
              <a:rPr lang="en-US" sz="1200" b="1" dirty="0"/>
              <a:t> outperformed Random Forest across all evaluation metrics</a:t>
            </a:r>
            <a:r>
              <a:rPr lang="en-US" sz="1200" dirty="0"/>
              <a:t>, making it the more accurate and reliable model for forecasting food security conditions in Kenya.</a:t>
            </a:r>
          </a:p>
          <a:p>
            <a:pPr defTabSz="914400">
              <a:lnSpc>
                <a:spcPct val="100000"/>
              </a:lnSpc>
              <a:tabLst>
                <a:tab pos="0" algn="l"/>
              </a:tabLst>
            </a:pPr>
            <a:r>
              <a:rPr lang="en-US" sz="1200" dirty="0"/>
              <a:t>values.</a:t>
            </a:r>
            <a:endParaRPr lang="en-US" sz="1200" dirty="0">
              <a:solidFill>
                <a:srgbClr val="1F2937"/>
              </a:solidFill>
              <a:latin typeface="Calibri"/>
            </a:endParaRPr>
          </a:p>
        </p:txBody>
      </p:sp>
      <p:sp>
        <p:nvSpPr>
          <p:cNvPr id="534" name="Text 9"/>
          <p:cNvSpPr/>
          <p:nvPr/>
        </p:nvSpPr>
        <p:spPr>
          <a:xfrm flipV="1">
            <a:off x="7818120" y="5266800"/>
            <a:ext cx="3931560" cy="21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US" sz="1100" b="0" u="none" strike="noStrike" dirty="0">
              <a:solidFill>
                <a:srgbClr val="000000"/>
              </a:solidFill>
              <a:effectLst/>
              <a:uFillTx/>
              <a:latin typeface="Arial"/>
            </a:endParaRPr>
          </a:p>
        </p:txBody>
      </p:sp>
      <p:sp>
        <p:nvSpPr>
          <p:cNvPr id="535" name="Text 10"/>
          <p:cNvSpPr/>
          <p:nvPr/>
        </p:nvSpPr>
        <p:spPr>
          <a:xfrm>
            <a:off x="7818120" y="5266800"/>
            <a:ext cx="3931560" cy="201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endParaRPr lang="en-US" sz="1800" b="0" u="none" strike="noStrike">
              <a:solidFill>
                <a:srgbClr val="000000"/>
              </a:solidFill>
              <a:effectLst/>
              <a:uFillTx/>
              <a:latin typeface="Arial"/>
            </a:endParaRPr>
          </a:p>
        </p:txBody>
      </p:sp>
      <p:sp>
        <p:nvSpPr>
          <p:cNvPr id="536" name="Text 11"/>
          <p:cNvSpPr/>
          <p:nvPr/>
        </p:nvSpPr>
        <p:spPr>
          <a:xfrm>
            <a:off x="45720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5B6472"/>
                </a:solidFill>
                <a:effectLst/>
                <a:uFillTx/>
                <a:latin typeface="Calibri"/>
                <a:ea typeface="Calibri"/>
              </a:rPr>
              <a:t>Kenya Food Security Forecasting  |  IPC Time-Series Study</a:t>
            </a:r>
            <a:endParaRPr lang="en-US" sz="1000" b="0" u="none" strike="noStrike">
              <a:solidFill>
                <a:srgbClr val="000000"/>
              </a:solidFill>
              <a:effectLst/>
              <a:uFillTx/>
              <a:latin typeface="Arial"/>
            </a:endParaRPr>
          </a:p>
        </p:txBody>
      </p:sp>
      <p:sp>
        <p:nvSpPr>
          <p:cNvPr id="537" name="Text 12"/>
          <p:cNvSpPr/>
          <p:nvPr/>
        </p:nvSpPr>
        <p:spPr>
          <a:xfrm>
            <a:off x="11338560" y="6537960"/>
            <a:ext cx="4568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000" b="0" u="none" strike="noStrike">
                <a:solidFill>
                  <a:srgbClr val="5B6472"/>
                </a:solidFill>
                <a:effectLst/>
                <a:uFillTx/>
                <a:latin typeface="Calibri"/>
                <a:ea typeface="Calibri"/>
              </a:rPr>
              <a:t>35</a:t>
            </a:r>
            <a:endParaRPr lang="en-US" sz="1000" b="0" u="none" strike="noStrike">
              <a:solidFill>
                <a:srgbClr val="000000"/>
              </a:solidFill>
              <a:effectLst/>
              <a:uFillTx/>
              <a:latin typeface="Arial"/>
            </a:endParaRPr>
          </a:p>
        </p:txBody>
      </p:sp>
      <p:pic>
        <p:nvPicPr>
          <p:cNvPr id="538" name="Picture 15" descr="output.png"/>
          <p:cNvPicPr/>
          <p:nvPr/>
        </p:nvPicPr>
        <p:blipFill>
          <a:blip r:embed="rId3"/>
          <a:stretch/>
        </p:blipFill>
        <p:spPr>
          <a:xfrm>
            <a:off x="0" y="1187834"/>
            <a:ext cx="7232917" cy="3615719"/>
          </a:xfrm>
          <a:prstGeom prst="rect">
            <a:avLst/>
          </a:prstGeom>
          <a:noFill/>
          <a:ln w="0">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539" name="Shape 0"/>
          <p:cNvSpPr/>
          <p:nvPr/>
        </p:nvSpPr>
        <p:spPr>
          <a:xfrm>
            <a:off x="0" y="0"/>
            <a:ext cx="12188520" cy="822600"/>
          </a:xfrm>
          <a:prstGeom prst="rect">
            <a:avLst/>
          </a:prstGeom>
          <a:solidFill>
            <a:srgbClr val="2C3E50"/>
          </a:solidFill>
          <a:ln w="12700">
            <a:solidFill>
              <a:srgbClr val="2C3E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40" name="Text 1"/>
          <p:cNvSpPr/>
          <p:nvPr/>
        </p:nvSpPr>
        <p:spPr>
          <a:xfrm>
            <a:off x="457200" y="13716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spc="400">
                <a:solidFill>
                  <a:srgbClr val="B85042"/>
                </a:solidFill>
                <a:effectLst/>
                <a:uFillTx/>
                <a:latin typeface="Calibri"/>
                <a:ea typeface="Calibri"/>
              </a:rPr>
              <a:t>FEATURE IMPORTANCE · RF</a:t>
            </a:r>
            <a:endParaRPr lang="en-US" sz="1200" b="0" u="none" strike="noStrike">
              <a:solidFill>
                <a:srgbClr val="000000"/>
              </a:solidFill>
              <a:effectLst/>
              <a:uFillTx/>
              <a:latin typeface="Arial"/>
            </a:endParaRPr>
          </a:p>
        </p:txBody>
      </p:sp>
      <p:sp>
        <p:nvSpPr>
          <p:cNvPr id="541" name="Text 2"/>
          <p:cNvSpPr/>
          <p:nvPr/>
        </p:nvSpPr>
        <p:spPr>
          <a:xfrm>
            <a:off x="457200" y="347400"/>
            <a:ext cx="109724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FFFFFF"/>
                </a:solidFill>
                <a:effectLst/>
                <a:uFillTx/>
                <a:latin typeface="Calibri"/>
                <a:ea typeface="Calibri"/>
              </a:rPr>
              <a:t>Random Forest — Top 15 Feature Importances</a:t>
            </a:r>
            <a:endParaRPr lang="en-US" sz="2600" b="0" u="none" strike="noStrike">
              <a:solidFill>
                <a:srgbClr val="000000"/>
              </a:solidFill>
              <a:effectLst/>
              <a:uFillTx/>
              <a:latin typeface="Arial"/>
            </a:endParaRPr>
          </a:p>
        </p:txBody>
      </p:sp>
      <p:sp>
        <p:nvSpPr>
          <p:cNvPr id="542" name="Shape 3"/>
          <p:cNvSpPr/>
          <p:nvPr/>
        </p:nvSpPr>
        <p:spPr>
          <a:xfrm>
            <a:off x="457200" y="960120"/>
            <a:ext cx="1097280" cy="360"/>
          </a:xfrm>
          <a:prstGeom prst="line">
            <a:avLst/>
          </a:prstGeom>
          <a:ln w="38100">
            <a:solidFill>
              <a:srgbClr val="B85042"/>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Calibri"/>
            </a:endParaRPr>
          </a:p>
        </p:txBody>
      </p:sp>
      <p:pic>
        <p:nvPicPr>
          <p:cNvPr id="543" name="Image 0" descr="preencoded.png"/>
          <p:cNvPicPr/>
          <p:nvPr/>
        </p:nvPicPr>
        <p:blipFill>
          <a:blip r:embed="rId3"/>
          <a:stretch/>
        </p:blipFill>
        <p:spPr>
          <a:xfrm>
            <a:off x="365760" y="1234440"/>
            <a:ext cx="7131960" cy="5074560"/>
          </a:xfrm>
          <a:prstGeom prst="rect">
            <a:avLst/>
          </a:prstGeom>
          <a:noFill/>
          <a:ln w="0">
            <a:noFill/>
          </a:ln>
        </p:spPr>
      </p:pic>
      <p:sp>
        <p:nvSpPr>
          <p:cNvPr id="544" name="Shape 4"/>
          <p:cNvSpPr/>
          <p:nvPr/>
        </p:nvSpPr>
        <p:spPr>
          <a:xfrm>
            <a:off x="7635240" y="1234440"/>
            <a:ext cx="4160160" cy="5074560"/>
          </a:xfrm>
          <a:prstGeom prst="roundRect">
            <a:avLst>
              <a:gd name="adj" fmla="val 1758"/>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45" name="Text 5"/>
          <p:cNvSpPr/>
          <p:nvPr/>
        </p:nvSpPr>
        <p:spPr>
          <a:xfrm>
            <a:off x="7818120" y="1371600"/>
            <a:ext cx="3931560" cy="292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spc="300">
                <a:solidFill>
                  <a:srgbClr val="B85042"/>
                </a:solidFill>
                <a:effectLst/>
                <a:uFillTx/>
                <a:latin typeface="Calibri"/>
                <a:ea typeface="Calibri"/>
              </a:rPr>
              <a:t>WHAT IT SHOWS</a:t>
            </a:r>
            <a:endParaRPr lang="en-US" sz="1100" b="0" u="none" strike="noStrike">
              <a:solidFill>
                <a:srgbClr val="000000"/>
              </a:solidFill>
              <a:effectLst/>
              <a:uFillTx/>
              <a:latin typeface="Arial"/>
            </a:endParaRPr>
          </a:p>
        </p:txBody>
      </p:sp>
      <p:sp>
        <p:nvSpPr>
          <p:cNvPr id="546" name="Text 6"/>
          <p:cNvSpPr/>
          <p:nvPr/>
        </p:nvSpPr>
        <p:spPr>
          <a:xfrm>
            <a:off x="7818120" y="1664280"/>
            <a:ext cx="3931560" cy="1005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100" b="0" u="none" strike="noStrike">
                <a:solidFill>
                  <a:srgbClr val="1F2937"/>
                </a:solidFill>
                <a:effectLst/>
                <a:uFillTx/>
                <a:latin typeface="Calibri"/>
                <a:ea typeface="Calibri"/>
              </a:rPr>
              <a:t>Gini importance for the top 15 engineered features in the Random Forest model.</a:t>
            </a:r>
            <a:endParaRPr lang="en-US" sz="1100" b="0" u="none" strike="noStrike">
              <a:solidFill>
                <a:srgbClr val="000000"/>
              </a:solidFill>
              <a:effectLst/>
              <a:uFillTx/>
              <a:latin typeface="Arial"/>
            </a:endParaRPr>
          </a:p>
        </p:txBody>
      </p:sp>
      <p:sp>
        <p:nvSpPr>
          <p:cNvPr id="547" name="Text 7"/>
          <p:cNvSpPr/>
          <p:nvPr/>
        </p:nvSpPr>
        <p:spPr>
          <a:xfrm>
            <a:off x="7818120" y="2761560"/>
            <a:ext cx="3931560" cy="292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spc="300">
                <a:solidFill>
                  <a:srgbClr val="4A7C59"/>
                </a:solidFill>
                <a:effectLst/>
                <a:uFillTx/>
                <a:latin typeface="Calibri"/>
                <a:ea typeface="Calibri"/>
              </a:rPr>
              <a:t>DOMINANT DRIVERS</a:t>
            </a:r>
            <a:endParaRPr lang="en-US" sz="1100" b="0" u="none" strike="noStrike">
              <a:solidFill>
                <a:srgbClr val="000000"/>
              </a:solidFill>
              <a:effectLst/>
              <a:uFillTx/>
              <a:latin typeface="Arial"/>
            </a:endParaRPr>
          </a:p>
        </p:txBody>
      </p:sp>
      <p:sp>
        <p:nvSpPr>
          <p:cNvPr id="548" name="Text 8"/>
          <p:cNvSpPr/>
          <p:nvPr/>
        </p:nvSpPr>
        <p:spPr>
          <a:xfrm>
            <a:off x="7818120" y="3054240"/>
            <a:ext cx="3931560" cy="1737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100" b="0" u="none" strike="noStrike">
                <a:solidFill>
                  <a:srgbClr val="1F2937"/>
                </a:solidFill>
                <a:effectLst/>
                <a:uFillTx/>
                <a:latin typeface="Calibri"/>
              </a:rPr>
              <a:t>lag_1 dominates by a wide margin, followed by rolling_mean_3 and expanding_mean. Recent history strongly explains the next phase.</a:t>
            </a:r>
            <a:endParaRPr lang="en-US" sz="1100" b="0" u="none" strike="noStrike">
              <a:solidFill>
                <a:srgbClr val="000000"/>
              </a:solidFill>
              <a:effectLst/>
              <a:uFillTx/>
              <a:latin typeface="Arial"/>
            </a:endParaRPr>
          </a:p>
        </p:txBody>
      </p:sp>
      <p:sp>
        <p:nvSpPr>
          <p:cNvPr id="549" name="Text 9"/>
          <p:cNvSpPr/>
          <p:nvPr/>
        </p:nvSpPr>
        <p:spPr>
          <a:xfrm>
            <a:off x="7818120" y="4883040"/>
            <a:ext cx="3931560" cy="292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spc="300">
                <a:solidFill>
                  <a:srgbClr val="065A82"/>
                </a:solidFill>
                <a:effectLst/>
                <a:uFillTx/>
                <a:latin typeface="Calibri"/>
                <a:ea typeface="Calibri"/>
              </a:rPr>
              <a:t>INTERPRETATION</a:t>
            </a:r>
            <a:endParaRPr lang="en-US" sz="1100" b="0" u="none" strike="noStrike">
              <a:solidFill>
                <a:srgbClr val="000000"/>
              </a:solidFill>
              <a:effectLst/>
              <a:uFillTx/>
              <a:latin typeface="Arial"/>
            </a:endParaRPr>
          </a:p>
        </p:txBody>
      </p:sp>
      <p:sp>
        <p:nvSpPr>
          <p:cNvPr id="550" name="Text 10"/>
          <p:cNvSpPr/>
          <p:nvPr/>
        </p:nvSpPr>
        <p:spPr>
          <a:xfrm>
            <a:off x="7818120" y="5175360"/>
            <a:ext cx="3931560" cy="2102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100" b="0" u="none" strike="noStrike">
                <a:solidFill>
                  <a:srgbClr val="1F2937"/>
                </a:solidFill>
                <a:effectLst/>
                <a:uFillTx/>
                <a:latin typeface="Calibri"/>
              </a:rPr>
              <a:t>IPC phases persist for months, so the last observed phase is a genuine predictor — not leakage under the chronological split. Seasonal (month_sin/cos) and volatility (rolling_std) features play a supporting role.</a:t>
            </a:r>
            <a:endParaRPr lang="en-US" sz="1100" b="0" u="none" strike="noStrike">
              <a:solidFill>
                <a:srgbClr val="000000"/>
              </a:solidFill>
              <a:effectLst/>
              <a:uFillTx/>
              <a:latin typeface="Arial"/>
            </a:endParaRPr>
          </a:p>
        </p:txBody>
      </p:sp>
      <p:sp>
        <p:nvSpPr>
          <p:cNvPr id="551" name="Text 11"/>
          <p:cNvSpPr/>
          <p:nvPr/>
        </p:nvSpPr>
        <p:spPr>
          <a:xfrm>
            <a:off x="7818120" y="7369920"/>
            <a:ext cx="3931560" cy="292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spc="300">
                <a:solidFill>
                  <a:srgbClr val="B85042"/>
                </a:solidFill>
                <a:effectLst/>
                <a:uFillTx/>
                <a:latin typeface="Calibri"/>
                <a:ea typeface="Calibri"/>
              </a:rPr>
              <a:t>ECOLOGICAL ANCHOR</a:t>
            </a:r>
            <a:endParaRPr lang="en-US" sz="1100" b="0" u="none" strike="noStrike">
              <a:solidFill>
                <a:srgbClr val="000000"/>
              </a:solidFill>
              <a:effectLst/>
              <a:uFillTx/>
              <a:latin typeface="Arial"/>
            </a:endParaRPr>
          </a:p>
        </p:txBody>
      </p:sp>
      <p:sp>
        <p:nvSpPr>
          <p:cNvPr id="552" name="Text 12"/>
          <p:cNvSpPr/>
          <p:nvPr/>
        </p:nvSpPr>
        <p:spPr>
          <a:xfrm>
            <a:off x="7818120" y="7662600"/>
            <a:ext cx="3931560" cy="639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100" b="0" u="none" strike="noStrike">
                <a:solidFill>
                  <a:srgbClr val="1F2937"/>
                </a:solidFill>
                <a:effectLst/>
                <a:uFillTx/>
                <a:latin typeface="Calibri"/>
              </a:rPr>
              <a:t>NOTE</a:t>
            </a:r>
            <a:endParaRPr lang="en-US"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1F2937"/>
                </a:solidFill>
                <a:effectLst/>
                <a:uFillTx/>
                <a:latin typeface="Calibri"/>
              </a:rPr>
              <a:t>The ecological anchor (is_humid_forest_zone) helps the model separate stable forest zones from volatile ASAL panels.</a:t>
            </a:r>
            <a:endParaRPr lang="en-US" sz="1100" b="0" u="none" strike="noStrike">
              <a:solidFill>
                <a:srgbClr val="000000"/>
              </a:solidFill>
              <a:effectLst/>
              <a:uFillTx/>
              <a:latin typeface="Arial"/>
            </a:endParaRPr>
          </a:p>
        </p:txBody>
      </p:sp>
      <p:sp>
        <p:nvSpPr>
          <p:cNvPr id="553" name="Text 13"/>
          <p:cNvSpPr/>
          <p:nvPr/>
        </p:nvSpPr>
        <p:spPr>
          <a:xfrm>
            <a:off x="45720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5B6472"/>
                </a:solidFill>
                <a:effectLst/>
                <a:uFillTx/>
                <a:latin typeface="Calibri"/>
                <a:ea typeface="Calibri"/>
              </a:rPr>
              <a:t>Kenya Food Security Forecasting  |  IPC Time-Series Study</a:t>
            </a:r>
            <a:endParaRPr lang="en-US" sz="1000" b="0" u="none" strike="noStrike">
              <a:solidFill>
                <a:srgbClr val="000000"/>
              </a:solidFill>
              <a:effectLst/>
              <a:uFillTx/>
              <a:latin typeface="Arial"/>
            </a:endParaRPr>
          </a:p>
        </p:txBody>
      </p:sp>
      <p:sp>
        <p:nvSpPr>
          <p:cNvPr id="554" name="Text 14"/>
          <p:cNvSpPr/>
          <p:nvPr/>
        </p:nvSpPr>
        <p:spPr>
          <a:xfrm>
            <a:off x="11338560" y="6537960"/>
            <a:ext cx="4568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000" b="0" u="none" strike="noStrike">
                <a:solidFill>
                  <a:srgbClr val="5B6472"/>
                </a:solidFill>
                <a:effectLst/>
                <a:uFillTx/>
                <a:latin typeface="Calibri"/>
                <a:ea typeface="Calibri"/>
              </a:rPr>
              <a:t>36</a:t>
            </a:r>
            <a:endParaRPr lang="en-US" sz="1000" b="0" u="none" strike="noStrike">
              <a:solidFill>
                <a:srgbClr val="000000"/>
              </a:solidFill>
              <a:effectLst/>
              <a:uFillTx/>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555" name="Shape 0"/>
          <p:cNvSpPr/>
          <p:nvPr/>
        </p:nvSpPr>
        <p:spPr>
          <a:xfrm>
            <a:off x="0" y="0"/>
            <a:ext cx="12188520" cy="822600"/>
          </a:xfrm>
          <a:prstGeom prst="rect">
            <a:avLst/>
          </a:prstGeom>
          <a:solidFill>
            <a:srgbClr val="2C3E50"/>
          </a:solidFill>
          <a:ln w="12700">
            <a:solidFill>
              <a:srgbClr val="2C3E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56" name="Text 1"/>
          <p:cNvSpPr/>
          <p:nvPr/>
        </p:nvSpPr>
        <p:spPr>
          <a:xfrm>
            <a:off x="457200" y="13716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spc="400">
                <a:solidFill>
                  <a:srgbClr val="B85042"/>
                </a:solidFill>
                <a:effectLst/>
                <a:uFillTx/>
                <a:latin typeface="Calibri"/>
                <a:ea typeface="Calibri"/>
              </a:rPr>
              <a:t>FEATURE IMPORTANCE · XGBOOST</a:t>
            </a:r>
            <a:endParaRPr lang="en-US" sz="1200" b="0" u="none" strike="noStrike">
              <a:solidFill>
                <a:srgbClr val="000000"/>
              </a:solidFill>
              <a:effectLst/>
              <a:uFillTx/>
              <a:latin typeface="Arial"/>
            </a:endParaRPr>
          </a:p>
        </p:txBody>
      </p:sp>
      <p:sp>
        <p:nvSpPr>
          <p:cNvPr id="557" name="Text 2"/>
          <p:cNvSpPr/>
          <p:nvPr/>
        </p:nvSpPr>
        <p:spPr>
          <a:xfrm>
            <a:off x="457200" y="347400"/>
            <a:ext cx="109724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FFFFFF"/>
                </a:solidFill>
                <a:effectLst/>
                <a:uFillTx/>
                <a:latin typeface="Calibri"/>
                <a:ea typeface="Calibri"/>
              </a:rPr>
              <a:t>XGBoost — Top 15 Feature Importances</a:t>
            </a:r>
            <a:endParaRPr lang="en-US" sz="2600" b="0" u="none" strike="noStrike">
              <a:solidFill>
                <a:srgbClr val="000000"/>
              </a:solidFill>
              <a:effectLst/>
              <a:uFillTx/>
              <a:latin typeface="Arial"/>
            </a:endParaRPr>
          </a:p>
        </p:txBody>
      </p:sp>
      <p:sp>
        <p:nvSpPr>
          <p:cNvPr id="558" name="Shape 3"/>
          <p:cNvSpPr/>
          <p:nvPr/>
        </p:nvSpPr>
        <p:spPr>
          <a:xfrm>
            <a:off x="457200" y="960120"/>
            <a:ext cx="1097280" cy="360"/>
          </a:xfrm>
          <a:prstGeom prst="line">
            <a:avLst/>
          </a:prstGeom>
          <a:ln w="38100">
            <a:solidFill>
              <a:srgbClr val="B85042"/>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Calibri"/>
            </a:endParaRPr>
          </a:p>
        </p:txBody>
      </p:sp>
      <p:pic>
        <p:nvPicPr>
          <p:cNvPr id="559" name="Image 0" descr="preencoded.png"/>
          <p:cNvPicPr/>
          <p:nvPr/>
        </p:nvPicPr>
        <p:blipFill>
          <a:blip r:embed="rId3"/>
          <a:stretch/>
        </p:blipFill>
        <p:spPr>
          <a:xfrm>
            <a:off x="365760" y="1234440"/>
            <a:ext cx="7131960" cy="5074560"/>
          </a:xfrm>
          <a:prstGeom prst="rect">
            <a:avLst/>
          </a:prstGeom>
          <a:noFill/>
          <a:ln w="0">
            <a:noFill/>
          </a:ln>
        </p:spPr>
      </p:pic>
      <p:sp>
        <p:nvSpPr>
          <p:cNvPr id="560" name="Shape 4"/>
          <p:cNvSpPr/>
          <p:nvPr/>
        </p:nvSpPr>
        <p:spPr>
          <a:xfrm>
            <a:off x="7635240" y="1234440"/>
            <a:ext cx="4160160" cy="5074560"/>
          </a:xfrm>
          <a:prstGeom prst="roundRect">
            <a:avLst>
              <a:gd name="adj" fmla="val 1758"/>
            </a:avLst>
          </a:prstGeom>
          <a:solidFill>
            <a:srgbClr val="FFFFFF"/>
          </a:solidFill>
          <a:ln w="12700">
            <a:solidFill>
              <a:srgbClr val="E5E1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61" name="Text 5"/>
          <p:cNvSpPr/>
          <p:nvPr/>
        </p:nvSpPr>
        <p:spPr>
          <a:xfrm>
            <a:off x="7818120" y="1371600"/>
            <a:ext cx="3931560" cy="292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spc="300">
                <a:solidFill>
                  <a:srgbClr val="B85042"/>
                </a:solidFill>
                <a:effectLst/>
                <a:uFillTx/>
                <a:latin typeface="Calibri"/>
                <a:ea typeface="Calibri"/>
              </a:rPr>
              <a:t>WHAT IT SHOWS</a:t>
            </a:r>
            <a:endParaRPr lang="en-US" sz="1100" b="0" u="none" strike="noStrike">
              <a:solidFill>
                <a:srgbClr val="000000"/>
              </a:solidFill>
              <a:effectLst/>
              <a:uFillTx/>
              <a:latin typeface="Arial"/>
            </a:endParaRPr>
          </a:p>
        </p:txBody>
      </p:sp>
      <p:sp>
        <p:nvSpPr>
          <p:cNvPr id="562" name="Text 6"/>
          <p:cNvSpPr/>
          <p:nvPr/>
        </p:nvSpPr>
        <p:spPr>
          <a:xfrm>
            <a:off x="7818120" y="1664280"/>
            <a:ext cx="3931560" cy="1005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100" b="0" u="none" strike="noStrike">
                <a:solidFill>
                  <a:srgbClr val="1F2937"/>
                </a:solidFill>
                <a:effectLst/>
                <a:uFillTx/>
                <a:latin typeface="Calibri"/>
                <a:ea typeface="Calibri"/>
              </a:rPr>
              <a:t>Gain-based feature importance for the top 15 features in the XGBoost model.</a:t>
            </a:r>
            <a:endParaRPr lang="en-US" sz="1100" b="0" u="none" strike="noStrike">
              <a:solidFill>
                <a:srgbClr val="000000"/>
              </a:solidFill>
              <a:effectLst/>
              <a:uFillTx/>
              <a:latin typeface="Arial"/>
            </a:endParaRPr>
          </a:p>
        </p:txBody>
      </p:sp>
      <p:sp>
        <p:nvSpPr>
          <p:cNvPr id="563" name="Text 7"/>
          <p:cNvSpPr/>
          <p:nvPr/>
        </p:nvSpPr>
        <p:spPr>
          <a:xfrm>
            <a:off x="7818120" y="2761560"/>
            <a:ext cx="3931560" cy="292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spc="300">
                <a:solidFill>
                  <a:srgbClr val="4A7C59"/>
                </a:solidFill>
                <a:effectLst/>
                <a:uFillTx/>
                <a:latin typeface="Calibri"/>
                <a:ea typeface="Calibri"/>
              </a:rPr>
              <a:t>DOMINANT DRIVERS</a:t>
            </a:r>
            <a:endParaRPr lang="en-US" sz="1100" b="0" u="none" strike="noStrike">
              <a:solidFill>
                <a:srgbClr val="000000"/>
              </a:solidFill>
              <a:effectLst/>
              <a:uFillTx/>
              <a:latin typeface="Arial"/>
            </a:endParaRPr>
          </a:p>
        </p:txBody>
      </p:sp>
      <p:sp>
        <p:nvSpPr>
          <p:cNvPr id="564" name="Text 8"/>
          <p:cNvSpPr/>
          <p:nvPr/>
        </p:nvSpPr>
        <p:spPr>
          <a:xfrm>
            <a:off x="7818120" y="3054240"/>
            <a:ext cx="3931560" cy="1828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100" b="0" u="none" strike="noStrike">
                <a:solidFill>
                  <a:srgbClr val="1F2937"/>
                </a:solidFill>
                <a:effectLst/>
                <a:uFillTx/>
                <a:latin typeface="Calibri"/>
              </a:rPr>
              <a:t>lag_1 leads, with rolling_mean_3, rolling_min_3, and lag_2 close behind. Difference-based and seasonal features add smaller but meaningful gains.</a:t>
            </a:r>
            <a:endParaRPr lang="en-US" sz="1100" b="0" u="none" strike="noStrike">
              <a:solidFill>
                <a:srgbClr val="000000"/>
              </a:solidFill>
              <a:effectLst/>
              <a:uFillTx/>
              <a:latin typeface="Arial"/>
            </a:endParaRPr>
          </a:p>
        </p:txBody>
      </p:sp>
      <p:sp>
        <p:nvSpPr>
          <p:cNvPr id="565" name="Text 9"/>
          <p:cNvSpPr/>
          <p:nvPr/>
        </p:nvSpPr>
        <p:spPr>
          <a:xfrm>
            <a:off x="7818120" y="4974480"/>
            <a:ext cx="3931560" cy="292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spc="300">
                <a:solidFill>
                  <a:srgbClr val="065A82"/>
                </a:solidFill>
                <a:effectLst/>
                <a:uFillTx/>
                <a:latin typeface="Calibri"/>
                <a:ea typeface="Calibri"/>
              </a:rPr>
              <a:t>INTERPRETATION</a:t>
            </a:r>
            <a:endParaRPr lang="en-US" sz="1100" b="0" u="none" strike="noStrike">
              <a:solidFill>
                <a:srgbClr val="000000"/>
              </a:solidFill>
              <a:effectLst/>
              <a:uFillTx/>
              <a:latin typeface="Arial"/>
            </a:endParaRPr>
          </a:p>
        </p:txBody>
      </p:sp>
      <p:sp>
        <p:nvSpPr>
          <p:cNvPr id="566" name="Text 10"/>
          <p:cNvSpPr/>
          <p:nvPr/>
        </p:nvSpPr>
        <p:spPr>
          <a:xfrm>
            <a:off x="7818120" y="5266800"/>
            <a:ext cx="3931560" cy="201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100" b="0" u="none" strike="noStrike">
                <a:solidFill>
                  <a:srgbClr val="1F2937"/>
                </a:solidFill>
                <a:effectLst/>
                <a:uFillTx/>
                <a:latin typeface="Calibri"/>
              </a:rPr>
              <a:t>XGBoost spreads importance more evenly than RF and picks up short-window volatility (rolling_min/max_3), which helps it respond to phase transitions.</a:t>
            </a:r>
            <a:endParaRPr lang="en-US" sz="1100" b="0" u="none" strike="noStrike">
              <a:solidFill>
                <a:srgbClr val="000000"/>
              </a:solidFill>
              <a:effectLst/>
              <a:uFillTx/>
              <a:latin typeface="Arial"/>
            </a:endParaRPr>
          </a:p>
        </p:txBody>
      </p:sp>
      <p:sp>
        <p:nvSpPr>
          <p:cNvPr id="567" name="Text 11"/>
          <p:cNvSpPr/>
          <p:nvPr/>
        </p:nvSpPr>
        <p:spPr>
          <a:xfrm>
            <a:off x="7818120" y="7369920"/>
            <a:ext cx="3931560" cy="292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spc="300">
                <a:solidFill>
                  <a:srgbClr val="B85042"/>
                </a:solidFill>
                <a:effectLst/>
                <a:uFillTx/>
                <a:latin typeface="Calibri"/>
                <a:ea typeface="Calibri"/>
              </a:rPr>
              <a:t>SPLIT NOTE</a:t>
            </a:r>
            <a:endParaRPr lang="en-US" sz="1100" b="0" u="none" strike="noStrike">
              <a:solidFill>
                <a:srgbClr val="000000"/>
              </a:solidFill>
              <a:effectLst/>
              <a:uFillTx/>
              <a:latin typeface="Arial"/>
            </a:endParaRPr>
          </a:p>
        </p:txBody>
      </p:sp>
      <p:sp>
        <p:nvSpPr>
          <p:cNvPr id="568" name="Text 12"/>
          <p:cNvSpPr/>
          <p:nvPr/>
        </p:nvSpPr>
        <p:spPr>
          <a:xfrm>
            <a:off x="7818120" y="7662600"/>
            <a:ext cx="3931560" cy="639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100" b="0" u="none" strike="noStrike">
                <a:solidFill>
                  <a:srgbClr val="1F2937"/>
                </a:solidFill>
                <a:effectLst/>
                <a:uFillTx/>
                <a:latin typeface="Calibri"/>
              </a:rPr>
              <a:t>NOTE</a:t>
            </a:r>
            <a:endParaRPr lang="en-US"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1F2937"/>
                </a:solidFill>
                <a:effectLst/>
                <a:uFillTx/>
                <a:latin typeface="Calibri"/>
              </a:rPr>
              <a:t>With the chronological split, this feature mix reflects genuine temporal signal rather than target leakage.</a:t>
            </a:r>
            <a:endParaRPr lang="en-US" sz="1100" b="0" u="none" strike="noStrike">
              <a:solidFill>
                <a:srgbClr val="000000"/>
              </a:solidFill>
              <a:effectLst/>
              <a:uFillTx/>
              <a:latin typeface="Arial"/>
            </a:endParaRPr>
          </a:p>
        </p:txBody>
      </p:sp>
      <p:sp>
        <p:nvSpPr>
          <p:cNvPr id="569" name="Text 13"/>
          <p:cNvSpPr/>
          <p:nvPr/>
        </p:nvSpPr>
        <p:spPr>
          <a:xfrm>
            <a:off x="45720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5B6472"/>
                </a:solidFill>
                <a:effectLst/>
                <a:uFillTx/>
                <a:latin typeface="Calibri"/>
                <a:ea typeface="Calibri"/>
              </a:rPr>
              <a:t>Kenya Food Security Forecasting  |  IPC Time-Series Study</a:t>
            </a:r>
            <a:endParaRPr lang="en-US" sz="1000" b="0" u="none" strike="noStrike">
              <a:solidFill>
                <a:srgbClr val="000000"/>
              </a:solidFill>
              <a:effectLst/>
              <a:uFillTx/>
              <a:latin typeface="Arial"/>
            </a:endParaRPr>
          </a:p>
        </p:txBody>
      </p:sp>
      <p:sp>
        <p:nvSpPr>
          <p:cNvPr id="570" name="Text 14"/>
          <p:cNvSpPr/>
          <p:nvPr/>
        </p:nvSpPr>
        <p:spPr>
          <a:xfrm>
            <a:off x="11338560" y="6537960"/>
            <a:ext cx="4568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000" b="0" u="none" strike="noStrike">
                <a:solidFill>
                  <a:srgbClr val="5B6472"/>
                </a:solidFill>
                <a:effectLst/>
                <a:uFillTx/>
                <a:latin typeface="Calibri"/>
                <a:ea typeface="Calibri"/>
              </a:rPr>
              <a:t>37</a:t>
            </a:r>
            <a:endParaRPr lang="en-US" sz="1000" b="0" u="none" strike="noStrike">
              <a:solidFill>
                <a:srgbClr val="000000"/>
              </a:solidFill>
              <a:effectLst/>
              <a:uFillTx/>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571" name="Shape 0"/>
          <p:cNvSpPr/>
          <p:nvPr/>
        </p:nvSpPr>
        <p:spPr>
          <a:xfrm>
            <a:off x="0" y="0"/>
            <a:ext cx="12188520" cy="822600"/>
          </a:xfrm>
          <a:prstGeom prst="rect">
            <a:avLst/>
          </a:prstGeom>
          <a:solidFill>
            <a:srgbClr val="2C3E50"/>
          </a:solidFill>
          <a:ln w="12700">
            <a:solidFill>
              <a:srgbClr val="2C3E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72" name="Text 1"/>
          <p:cNvSpPr/>
          <p:nvPr/>
        </p:nvSpPr>
        <p:spPr>
          <a:xfrm>
            <a:off x="457200" y="13716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spc="400">
                <a:solidFill>
                  <a:srgbClr val="B85042"/>
                </a:solidFill>
                <a:effectLst/>
                <a:uFillTx/>
                <a:latin typeface="Calibri"/>
                <a:ea typeface="Calibri"/>
              </a:rPr>
              <a:t>SECTION 06</a:t>
            </a:r>
            <a:endParaRPr lang="en-US" sz="1200" b="0" u="none" strike="noStrike">
              <a:solidFill>
                <a:srgbClr val="000000"/>
              </a:solidFill>
              <a:effectLst/>
              <a:uFillTx/>
              <a:latin typeface="Arial"/>
            </a:endParaRPr>
          </a:p>
        </p:txBody>
      </p:sp>
      <p:sp>
        <p:nvSpPr>
          <p:cNvPr id="573" name="Text 2"/>
          <p:cNvSpPr/>
          <p:nvPr/>
        </p:nvSpPr>
        <p:spPr>
          <a:xfrm>
            <a:off x="457200" y="347400"/>
            <a:ext cx="109724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FFFFFF"/>
                </a:solidFill>
                <a:effectLst/>
                <a:uFillTx/>
                <a:latin typeface="Calibri"/>
                <a:ea typeface="Calibri"/>
              </a:rPr>
              <a:t>Conclusions</a:t>
            </a:r>
            <a:endParaRPr lang="en-US" sz="2600" b="0" u="none" strike="noStrike">
              <a:solidFill>
                <a:srgbClr val="000000"/>
              </a:solidFill>
              <a:effectLst/>
              <a:uFillTx/>
              <a:latin typeface="Arial"/>
            </a:endParaRPr>
          </a:p>
        </p:txBody>
      </p:sp>
      <p:sp>
        <p:nvSpPr>
          <p:cNvPr id="574" name="Shape 3"/>
          <p:cNvSpPr/>
          <p:nvPr/>
        </p:nvSpPr>
        <p:spPr>
          <a:xfrm>
            <a:off x="457200" y="960120"/>
            <a:ext cx="1097280" cy="360"/>
          </a:xfrm>
          <a:prstGeom prst="line">
            <a:avLst/>
          </a:prstGeom>
          <a:ln w="38100">
            <a:solidFill>
              <a:srgbClr val="B85042"/>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Calibri"/>
            </a:endParaRPr>
          </a:p>
        </p:txBody>
      </p:sp>
      <p:sp>
        <p:nvSpPr>
          <p:cNvPr id="575" name="Shape 4"/>
          <p:cNvSpPr/>
          <p:nvPr/>
        </p:nvSpPr>
        <p:spPr>
          <a:xfrm>
            <a:off x="502920" y="1325880"/>
            <a:ext cx="502560" cy="502560"/>
          </a:xfrm>
          <a:prstGeom prst="ellipse">
            <a:avLst/>
          </a:prstGeom>
          <a:solidFill>
            <a:srgbClr val="B85042"/>
          </a:solidFill>
          <a:ln w="12700">
            <a:solidFill>
              <a:srgbClr val="B8504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76" name="Text 5"/>
          <p:cNvSpPr/>
          <p:nvPr/>
        </p:nvSpPr>
        <p:spPr>
          <a:xfrm>
            <a:off x="502920" y="1325880"/>
            <a:ext cx="502560" cy="50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1</a:t>
            </a:r>
            <a:endParaRPr lang="en-US" sz="1400" b="0" u="none" strike="noStrike">
              <a:solidFill>
                <a:srgbClr val="000000"/>
              </a:solidFill>
              <a:effectLst/>
              <a:uFillTx/>
              <a:latin typeface="Arial"/>
            </a:endParaRPr>
          </a:p>
        </p:txBody>
      </p:sp>
      <p:sp>
        <p:nvSpPr>
          <p:cNvPr id="577" name="Text 6"/>
          <p:cNvSpPr/>
          <p:nvPr/>
        </p:nvSpPr>
        <p:spPr>
          <a:xfrm>
            <a:off x="1188720" y="1252800"/>
            <a:ext cx="105152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50" b="1" u="none" strike="noStrike">
                <a:solidFill>
                  <a:srgbClr val="2C3E50"/>
                </a:solidFill>
                <a:effectLst/>
                <a:uFillTx/>
                <a:latin typeface="Calibri"/>
                <a:ea typeface="Calibri"/>
              </a:rPr>
              <a:t>IPC data has strong temporal structure</a:t>
            </a:r>
            <a:endParaRPr lang="en-US" sz="1350" b="0" u="none" strike="noStrike">
              <a:solidFill>
                <a:srgbClr val="000000"/>
              </a:solidFill>
              <a:effectLst/>
              <a:uFillTx/>
              <a:latin typeface="Arial"/>
            </a:endParaRPr>
          </a:p>
        </p:txBody>
      </p:sp>
      <p:sp>
        <p:nvSpPr>
          <p:cNvPr id="578" name="Text 7"/>
          <p:cNvSpPr/>
          <p:nvPr/>
        </p:nvSpPr>
        <p:spPr>
          <a:xfrm>
            <a:off x="1188720" y="1581840"/>
            <a:ext cx="105152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0" u="none" strike="noStrike">
                <a:solidFill>
                  <a:srgbClr val="5B6472"/>
                </a:solidFill>
                <a:effectLst/>
                <a:uFillTx/>
                <a:latin typeface="Calibri"/>
              </a:rPr>
              <a:t>National average IPC clearly rises in drought years (2011, 2017, 2021–22) and follows Q1/Q3 lean-season seasonality — the signal is real and forecastable.</a:t>
            </a:r>
            <a:endParaRPr lang="en-US" sz="1100" b="0" u="none" strike="noStrike">
              <a:solidFill>
                <a:srgbClr val="000000"/>
              </a:solidFill>
              <a:effectLst/>
              <a:uFillTx/>
              <a:latin typeface="Arial"/>
            </a:endParaRPr>
          </a:p>
        </p:txBody>
      </p:sp>
      <p:sp>
        <p:nvSpPr>
          <p:cNvPr id="579" name="Shape 8"/>
          <p:cNvSpPr/>
          <p:nvPr/>
        </p:nvSpPr>
        <p:spPr>
          <a:xfrm>
            <a:off x="502920" y="2148840"/>
            <a:ext cx="502560" cy="502560"/>
          </a:xfrm>
          <a:prstGeom prst="ellipse">
            <a:avLst/>
          </a:prstGeom>
          <a:solidFill>
            <a:srgbClr val="B85042"/>
          </a:solidFill>
          <a:ln w="12700">
            <a:solidFill>
              <a:srgbClr val="B8504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80" name="Text 9"/>
          <p:cNvSpPr/>
          <p:nvPr/>
        </p:nvSpPr>
        <p:spPr>
          <a:xfrm>
            <a:off x="502920" y="2148840"/>
            <a:ext cx="502560" cy="50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2</a:t>
            </a:r>
            <a:endParaRPr lang="en-US" sz="1400" b="0" u="none" strike="noStrike">
              <a:solidFill>
                <a:srgbClr val="000000"/>
              </a:solidFill>
              <a:effectLst/>
              <a:uFillTx/>
              <a:latin typeface="Arial"/>
            </a:endParaRPr>
          </a:p>
        </p:txBody>
      </p:sp>
      <p:sp>
        <p:nvSpPr>
          <p:cNvPr id="581" name="Text 10"/>
          <p:cNvSpPr/>
          <p:nvPr/>
        </p:nvSpPr>
        <p:spPr>
          <a:xfrm>
            <a:off x="1188720" y="2075760"/>
            <a:ext cx="105152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50" b="1" u="none" strike="noStrike">
                <a:solidFill>
                  <a:srgbClr val="2C3E50"/>
                </a:solidFill>
                <a:effectLst/>
                <a:uFillTx/>
                <a:latin typeface="Calibri"/>
                <a:ea typeface="Calibri"/>
              </a:rPr>
              <a:t>Class imbalance drives everything</a:t>
            </a:r>
            <a:endParaRPr lang="en-US" sz="1350" b="0" u="none" strike="noStrike">
              <a:solidFill>
                <a:srgbClr val="000000"/>
              </a:solidFill>
              <a:effectLst/>
              <a:uFillTx/>
              <a:latin typeface="Arial"/>
            </a:endParaRPr>
          </a:p>
        </p:txBody>
      </p:sp>
      <p:sp>
        <p:nvSpPr>
          <p:cNvPr id="582" name="Text 11"/>
          <p:cNvSpPr/>
          <p:nvPr/>
        </p:nvSpPr>
        <p:spPr>
          <a:xfrm>
            <a:off x="1188720" y="2404800"/>
            <a:ext cx="105152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0" u="none" strike="noStrike">
                <a:solidFill>
                  <a:srgbClr val="5B6472"/>
                </a:solidFill>
                <a:effectLst/>
                <a:uFillTx/>
                <a:latin typeface="Calibri"/>
              </a:rPr>
              <a:t>Phases 1–2 dominate, phase 5 is virtually absent. Any regression model minimizing MSE will underpredict Crisis / Emergency events.</a:t>
            </a:r>
            <a:endParaRPr lang="en-US" sz="1100" b="0" u="none" strike="noStrike">
              <a:solidFill>
                <a:srgbClr val="000000"/>
              </a:solidFill>
              <a:effectLst/>
              <a:uFillTx/>
              <a:latin typeface="Arial"/>
            </a:endParaRPr>
          </a:p>
        </p:txBody>
      </p:sp>
      <p:sp>
        <p:nvSpPr>
          <p:cNvPr id="583" name="Shape 12"/>
          <p:cNvSpPr/>
          <p:nvPr/>
        </p:nvSpPr>
        <p:spPr>
          <a:xfrm>
            <a:off x="502920" y="2971800"/>
            <a:ext cx="502560" cy="502560"/>
          </a:xfrm>
          <a:prstGeom prst="ellipse">
            <a:avLst/>
          </a:prstGeom>
          <a:solidFill>
            <a:srgbClr val="B85042"/>
          </a:solidFill>
          <a:ln w="12700">
            <a:solidFill>
              <a:srgbClr val="B8504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84" name="Text 13"/>
          <p:cNvSpPr/>
          <p:nvPr/>
        </p:nvSpPr>
        <p:spPr>
          <a:xfrm>
            <a:off x="502920" y="2971800"/>
            <a:ext cx="502560" cy="50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3</a:t>
            </a:r>
            <a:endParaRPr lang="en-US" sz="1400" b="0" u="none" strike="noStrike">
              <a:solidFill>
                <a:srgbClr val="000000"/>
              </a:solidFill>
              <a:effectLst/>
              <a:uFillTx/>
              <a:latin typeface="Arial"/>
            </a:endParaRPr>
          </a:p>
        </p:txBody>
      </p:sp>
      <p:sp>
        <p:nvSpPr>
          <p:cNvPr id="585" name="Text 14"/>
          <p:cNvSpPr/>
          <p:nvPr/>
        </p:nvSpPr>
        <p:spPr>
          <a:xfrm>
            <a:off x="1188720" y="2898720"/>
            <a:ext cx="105152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50" b="1" u="none" strike="noStrike">
                <a:solidFill>
                  <a:srgbClr val="2C3E50"/>
                </a:solidFill>
                <a:effectLst/>
                <a:uFillTx/>
                <a:latin typeface="Calibri"/>
                <a:ea typeface="Calibri"/>
              </a:rPr>
              <a:t>ARIMA underperformed on a discrete step-wise target</a:t>
            </a:r>
            <a:endParaRPr lang="en-US" sz="1350" b="0" u="none" strike="noStrike">
              <a:solidFill>
                <a:srgbClr val="000000"/>
              </a:solidFill>
              <a:effectLst/>
              <a:uFillTx/>
              <a:latin typeface="Arial"/>
            </a:endParaRPr>
          </a:p>
        </p:txBody>
      </p:sp>
      <p:sp>
        <p:nvSpPr>
          <p:cNvPr id="586" name="Text 15"/>
          <p:cNvSpPr/>
          <p:nvPr/>
        </p:nvSpPr>
        <p:spPr>
          <a:xfrm>
            <a:off x="1188720" y="3227760"/>
            <a:ext cx="105152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0" u="none" strike="noStrike">
                <a:solidFill>
                  <a:srgbClr val="5B6472"/>
                </a:solidFill>
                <a:effectLst/>
                <a:uFillTx/>
                <a:latin typeface="Calibri"/>
              </a:rPr>
              <a:t>R² = −1.12: the univariate linear approach cannot reproduce sudden multi-phase jumps even after differencing.</a:t>
            </a:r>
            <a:endParaRPr lang="en-US" sz="1100" b="0" u="none" strike="noStrike">
              <a:solidFill>
                <a:srgbClr val="000000"/>
              </a:solidFill>
              <a:effectLst/>
              <a:uFillTx/>
              <a:latin typeface="Arial"/>
            </a:endParaRPr>
          </a:p>
        </p:txBody>
      </p:sp>
      <p:sp>
        <p:nvSpPr>
          <p:cNvPr id="587" name="Shape 16"/>
          <p:cNvSpPr/>
          <p:nvPr/>
        </p:nvSpPr>
        <p:spPr>
          <a:xfrm>
            <a:off x="502920" y="3794760"/>
            <a:ext cx="502560" cy="502560"/>
          </a:xfrm>
          <a:prstGeom prst="ellipse">
            <a:avLst/>
          </a:prstGeom>
          <a:solidFill>
            <a:srgbClr val="B85042"/>
          </a:solidFill>
          <a:ln w="12700">
            <a:solidFill>
              <a:srgbClr val="B8504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88" name="Text 17"/>
          <p:cNvSpPr/>
          <p:nvPr/>
        </p:nvSpPr>
        <p:spPr>
          <a:xfrm>
            <a:off x="502920" y="3794760"/>
            <a:ext cx="502560" cy="50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4</a:t>
            </a:r>
            <a:endParaRPr lang="en-US" sz="1400" b="0" u="none" strike="noStrike">
              <a:solidFill>
                <a:srgbClr val="000000"/>
              </a:solidFill>
              <a:effectLst/>
              <a:uFillTx/>
              <a:latin typeface="Arial"/>
            </a:endParaRPr>
          </a:p>
        </p:txBody>
      </p:sp>
      <p:sp>
        <p:nvSpPr>
          <p:cNvPr id="589" name="Text 18"/>
          <p:cNvSpPr/>
          <p:nvPr/>
        </p:nvSpPr>
        <p:spPr>
          <a:xfrm>
            <a:off x="1188720" y="3721680"/>
            <a:ext cx="105152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50" b="1" u="none" strike="noStrike">
                <a:solidFill>
                  <a:srgbClr val="2C3E50"/>
                </a:solidFill>
                <a:effectLst/>
                <a:uFillTx/>
                <a:latin typeface="Calibri"/>
                <a:ea typeface="Calibri"/>
              </a:rPr>
              <a:t>LSTM systematically underpredicts spikes</a:t>
            </a:r>
            <a:endParaRPr lang="en-US" sz="1350" b="0" u="none" strike="noStrike">
              <a:solidFill>
                <a:srgbClr val="000000"/>
              </a:solidFill>
              <a:effectLst/>
              <a:uFillTx/>
              <a:latin typeface="Arial"/>
            </a:endParaRPr>
          </a:p>
        </p:txBody>
      </p:sp>
      <p:sp>
        <p:nvSpPr>
          <p:cNvPr id="590" name="Text 19"/>
          <p:cNvSpPr/>
          <p:nvPr/>
        </p:nvSpPr>
        <p:spPr>
          <a:xfrm>
            <a:off x="1188720" y="4050720"/>
            <a:ext cx="105152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0" u="none" strike="noStrike">
                <a:solidFill>
                  <a:srgbClr val="5B6472"/>
                </a:solidFill>
                <a:effectLst/>
                <a:uFillTx/>
                <a:latin typeface="Calibri"/>
              </a:rPr>
              <a:t>Training/validation loss curves diverge and forecasts collapse to the low-phase mean → R² = −9.84 on the held-out window.</a:t>
            </a:r>
            <a:endParaRPr lang="en-US" sz="1100" b="0" u="none" strike="noStrike">
              <a:solidFill>
                <a:srgbClr val="000000"/>
              </a:solidFill>
              <a:effectLst/>
              <a:uFillTx/>
              <a:latin typeface="Arial"/>
            </a:endParaRPr>
          </a:p>
        </p:txBody>
      </p:sp>
      <p:sp>
        <p:nvSpPr>
          <p:cNvPr id="591" name="Shape 20"/>
          <p:cNvSpPr/>
          <p:nvPr/>
        </p:nvSpPr>
        <p:spPr>
          <a:xfrm>
            <a:off x="502920" y="4617720"/>
            <a:ext cx="502560" cy="502560"/>
          </a:xfrm>
          <a:prstGeom prst="ellipse">
            <a:avLst/>
          </a:prstGeom>
          <a:solidFill>
            <a:srgbClr val="B85042"/>
          </a:solidFill>
          <a:ln w="12700">
            <a:solidFill>
              <a:srgbClr val="B8504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92" name="Text 21"/>
          <p:cNvSpPr/>
          <p:nvPr/>
        </p:nvSpPr>
        <p:spPr>
          <a:xfrm>
            <a:off x="502920" y="4617720"/>
            <a:ext cx="502560" cy="50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5</a:t>
            </a:r>
            <a:endParaRPr lang="en-US" sz="1400" b="0" u="none" strike="noStrike">
              <a:solidFill>
                <a:srgbClr val="000000"/>
              </a:solidFill>
              <a:effectLst/>
              <a:uFillTx/>
              <a:latin typeface="Arial"/>
            </a:endParaRPr>
          </a:p>
        </p:txBody>
      </p:sp>
      <p:sp>
        <p:nvSpPr>
          <p:cNvPr id="593" name="Text 22"/>
          <p:cNvSpPr/>
          <p:nvPr/>
        </p:nvSpPr>
        <p:spPr>
          <a:xfrm>
            <a:off x="1188720" y="4544640"/>
            <a:ext cx="105152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50" b="1" u="none" strike="noStrike">
                <a:solidFill>
                  <a:srgbClr val="2C3E50"/>
                </a:solidFill>
                <a:effectLst/>
                <a:uFillTx/>
                <a:latin typeface="Calibri"/>
                <a:ea typeface="Calibri"/>
              </a:rPr>
              <a:t>Tree models perform strongly and realistically</a:t>
            </a:r>
            <a:endParaRPr lang="en-US" sz="1350" b="0" u="none" strike="noStrike">
              <a:solidFill>
                <a:srgbClr val="000000"/>
              </a:solidFill>
              <a:effectLst/>
              <a:uFillTx/>
              <a:latin typeface="Arial"/>
            </a:endParaRPr>
          </a:p>
        </p:txBody>
      </p:sp>
      <p:sp>
        <p:nvSpPr>
          <p:cNvPr id="594" name="Text 23"/>
          <p:cNvSpPr/>
          <p:nvPr/>
        </p:nvSpPr>
        <p:spPr>
          <a:xfrm>
            <a:off x="1188720" y="4873680"/>
            <a:ext cx="105152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0" u="none" strike="noStrike">
                <a:solidFill>
                  <a:srgbClr val="5B6472"/>
                </a:solidFill>
                <a:effectLst/>
                <a:uFillTx/>
                <a:latin typeface="Calibri"/>
              </a:rPr>
              <a:t>XGBoost R² = 0.7172, RF R² = 0.6943 under a strict chronological split — strong, realistic performance after fixing the earlier leakage.</a:t>
            </a:r>
            <a:endParaRPr lang="en-US" sz="1100" b="0" u="none" strike="noStrike">
              <a:solidFill>
                <a:srgbClr val="000000"/>
              </a:solidFill>
              <a:effectLst/>
              <a:uFillTx/>
              <a:latin typeface="Arial"/>
            </a:endParaRPr>
          </a:p>
        </p:txBody>
      </p:sp>
      <p:sp>
        <p:nvSpPr>
          <p:cNvPr id="595" name="Shape 24"/>
          <p:cNvSpPr/>
          <p:nvPr/>
        </p:nvSpPr>
        <p:spPr>
          <a:xfrm>
            <a:off x="502920" y="5440680"/>
            <a:ext cx="502560" cy="502560"/>
          </a:xfrm>
          <a:prstGeom prst="ellipse">
            <a:avLst/>
          </a:prstGeom>
          <a:solidFill>
            <a:srgbClr val="B85042"/>
          </a:solidFill>
          <a:ln w="12700">
            <a:solidFill>
              <a:srgbClr val="B8504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96" name="Text 25"/>
          <p:cNvSpPr/>
          <p:nvPr/>
        </p:nvSpPr>
        <p:spPr>
          <a:xfrm>
            <a:off x="502920" y="5440680"/>
            <a:ext cx="502560" cy="50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6</a:t>
            </a:r>
            <a:endParaRPr lang="en-US" sz="1400" b="0" u="none" strike="noStrike">
              <a:solidFill>
                <a:srgbClr val="000000"/>
              </a:solidFill>
              <a:effectLst/>
              <a:uFillTx/>
              <a:latin typeface="Arial"/>
            </a:endParaRPr>
          </a:p>
        </p:txBody>
      </p:sp>
      <p:sp>
        <p:nvSpPr>
          <p:cNvPr id="597" name="Text 26"/>
          <p:cNvSpPr/>
          <p:nvPr/>
        </p:nvSpPr>
        <p:spPr>
          <a:xfrm>
            <a:off x="1188720" y="5367600"/>
            <a:ext cx="105152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50" b="1" u="none" strike="noStrike">
                <a:solidFill>
                  <a:srgbClr val="2C3E50"/>
                </a:solidFill>
                <a:effectLst/>
                <a:uFillTx/>
                <a:latin typeface="Calibri"/>
                <a:ea typeface="Calibri"/>
              </a:rPr>
              <a:t>Feature importance is dominated by recent history</a:t>
            </a:r>
            <a:endParaRPr lang="en-US" sz="1350" b="0" u="none" strike="noStrike">
              <a:solidFill>
                <a:srgbClr val="000000"/>
              </a:solidFill>
              <a:effectLst/>
              <a:uFillTx/>
              <a:latin typeface="Arial"/>
            </a:endParaRPr>
          </a:p>
        </p:txBody>
      </p:sp>
      <p:sp>
        <p:nvSpPr>
          <p:cNvPr id="598" name="Text 27"/>
          <p:cNvSpPr/>
          <p:nvPr/>
        </p:nvSpPr>
        <p:spPr>
          <a:xfrm>
            <a:off x="1188720" y="5696640"/>
            <a:ext cx="105152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0" u="none" strike="noStrike">
                <a:solidFill>
                  <a:srgbClr val="5B6472"/>
                </a:solidFill>
                <a:effectLst/>
                <a:uFillTx/>
                <a:latin typeface="Calibri"/>
              </a:rPr>
              <a:t>lag_1, rolling_mean_3, expanding_mean and the ecological anchor (is_humid_forest_zone) drive predictions — persistent history plus zone context.</a:t>
            </a:r>
            <a:endParaRPr lang="en-US" sz="1100" b="0" u="none" strike="noStrike">
              <a:solidFill>
                <a:srgbClr val="000000"/>
              </a:solidFill>
              <a:effectLst/>
              <a:uFillTx/>
              <a:latin typeface="Arial"/>
            </a:endParaRPr>
          </a:p>
        </p:txBody>
      </p:sp>
      <p:sp>
        <p:nvSpPr>
          <p:cNvPr id="599" name="Text 28"/>
          <p:cNvSpPr/>
          <p:nvPr/>
        </p:nvSpPr>
        <p:spPr>
          <a:xfrm>
            <a:off x="45720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5B6472"/>
                </a:solidFill>
                <a:effectLst/>
                <a:uFillTx/>
                <a:latin typeface="Calibri"/>
                <a:ea typeface="Calibri"/>
              </a:rPr>
              <a:t>Kenya Food Security Forecasting  |  IPC Time-Series Study</a:t>
            </a:r>
            <a:endParaRPr lang="en-US" sz="1000" b="0" u="none" strike="noStrike">
              <a:solidFill>
                <a:srgbClr val="000000"/>
              </a:solidFill>
              <a:effectLst/>
              <a:uFillTx/>
              <a:latin typeface="Arial"/>
            </a:endParaRPr>
          </a:p>
        </p:txBody>
      </p:sp>
      <p:sp>
        <p:nvSpPr>
          <p:cNvPr id="600" name="Text 29"/>
          <p:cNvSpPr/>
          <p:nvPr/>
        </p:nvSpPr>
        <p:spPr>
          <a:xfrm>
            <a:off x="11338560" y="6537960"/>
            <a:ext cx="4568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000" b="0" u="none" strike="noStrike">
                <a:solidFill>
                  <a:srgbClr val="5B6472"/>
                </a:solidFill>
                <a:effectLst/>
                <a:uFillTx/>
                <a:latin typeface="Calibri"/>
                <a:ea typeface="Calibri"/>
              </a:rPr>
              <a:t>38</a:t>
            </a:r>
            <a:endParaRPr lang="en-US" sz="1000" b="0" u="none" strike="noStrike">
              <a:solidFill>
                <a:srgbClr val="000000"/>
              </a:solidFill>
              <a:effectLst/>
              <a:uFillTx/>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601" name="Shape 0"/>
          <p:cNvSpPr/>
          <p:nvPr/>
        </p:nvSpPr>
        <p:spPr>
          <a:xfrm>
            <a:off x="0" y="0"/>
            <a:ext cx="12188520" cy="822600"/>
          </a:xfrm>
          <a:prstGeom prst="rect">
            <a:avLst/>
          </a:prstGeom>
          <a:solidFill>
            <a:srgbClr val="2C3E50"/>
          </a:solidFill>
          <a:ln w="12700">
            <a:solidFill>
              <a:srgbClr val="2C3E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02" name="Text 1"/>
          <p:cNvSpPr/>
          <p:nvPr/>
        </p:nvSpPr>
        <p:spPr>
          <a:xfrm>
            <a:off x="457200" y="13716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spc="400">
                <a:solidFill>
                  <a:srgbClr val="B85042"/>
                </a:solidFill>
                <a:effectLst/>
                <a:uFillTx/>
                <a:latin typeface="Calibri"/>
                <a:ea typeface="Calibri"/>
              </a:rPr>
              <a:t>NEXT STEPS</a:t>
            </a:r>
            <a:endParaRPr lang="en-US" sz="1200" b="0" u="none" strike="noStrike">
              <a:solidFill>
                <a:srgbClr val="000000"/>
              </a:solidFill>
              <a:effectLst/>
              <a:uFillTx/>
              <a:latin typeface="Arial"/>
            </a:endParaRPr>
          </a:p>
        </p:txBody>
      </p:sp>
      <p:sp>
        <p:nvSpPr>
          <p:cNvPr id="603" name="Text 2"/>
          <p:cNvSpPr/>
          <p:nvPr/>
        </p:nvSpPr>
        <p:spPr>
          <a:xfrm>
            <a:off x="457200" y="347400"/>
            <a:ext cx="109724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FFFFFF"/>
                </a:solidFill>
                <a:effectLst/>
                <a:uFillTx/>
                <a:latin typeface="Calibri"/>
                <a:ea typeface="Calibri"/>
              </a:rPr>
              <a:t>Recommendations</a:t>
            </a:r>
            <a:endParaRPr lang="en-US" sz="2600" b="0" u="none" strike="noStrike">
              <a:solidFill>
                <a:srgbClr val="000000"/>
              </a:solidFill>
              <a:effectLst/>
              <a:uFillTx/>
              <a:latin typeface="Arial"/>
            </a:endParaRPr>
          </a:p>
        </p:txBody>
      </p:sp>
      <p:sp>
        <p:nvSpPr>
          <p:cNvPr id="604" name="Shape 3"/>
          <p:cNvSpPr/>
          <p:nvPr/>
        </p:nvSpPr>
        <p:spPr>
          <a:xfrm>
            <a:off x="457200" y="960120"/>
            <a:ext cx="1097280" cy="360"/>
          </a:xfrm>
          <a:prstGeom prst="line">
            <a:avLst/>
          </a:prstGeom>
          <a:ln w="38100">
            <a:solidFill>
              <a:srgbClr val="B85042"/>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Calibri"/>
            </a:endParaRPr>
          </a:p>
        </p:txBody>
      </p:sp>
      <p:sp>
        <p:nvSpPr>
          <p:cNvPr id="605" name="Shape 4"/>
          <p:cNvSpPr/>
          <p:nvPr/>
        </p:nvSpPr>
        <p:spPr>
          <a:xfrm>
            <a:off x="502920" y="1325880"/>
            <a:ext cx="502560" cy="502560"/>
          </a:xfrm>
          <a:prstGeom prst="roundRect">
            <a:avLst>
              <a:gd name="adj" fmla="val 18182"/>
            </a:avLst>
          </a:prstGeom>
          <a:solidFill>
            <a:srgbClr val="4A7C59"/>
          </a:solidFill>
          <a:ln w="12700">
            <a:solidFill>
              <a:srgbClr val="4A7C5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06" name="Text 5"/>
          <p:cNvSpPr/>
          <p:nvPr/>
        </p:nvSpPr>
        <p:spPr>
          <a:xfrm>
            <a:off x="502920" y="1325880"/>
            <a:ext cx="502560" cy="50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600" b="1" u="none" strike="noStrike">
                <a:solidFill>
                  <a:srgbClr val="FFFFFF"/>
                </a:solidFill>
                <a:effectLst/>
                <a:uFillTx/>
                <a:latin typeface="Calibri"/>
                <a:ea typeface="Calibri"/>
              </a:rPr>
              <a:t>✓</a:t>
            </a:r>
            <a:endParaRPr lang="en-US" sz="1600" b="0" u="none" strike="noStrike">
              <a:solidFill>
                <a:srgbClr val="000000"/>
              </a:solidFill>
              <a:effectLst/>
              <a:uFillTx/>
              <a:latin typeface="Arial"/>
            </a:endParaRPr>
          </a:p>
        </p:txBody>
      </p:sp>
      <p:sp>
        <p:nvSpPr>
          <p:cNvPr id="607" name="Text 6"/>
          <p:cNvSpPr/>
          <p:nvPr/>
        </p:nvSpPr>
        <p:spPr>
          <a:xfrm>
            <a:off x="1188720" y="1252800"/>
            <a:ext cx="105152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50" b="1" u="none" strike="noStrike">
                <a:solidFill>
                  <a:srgbClr val="2C3E50"/>
                </a:solidFill>
                <a:effectLst/>
                <a:uFillTx/>
                <a:latin typeface="Calibri"/>
                <a:ea typeface="Calibri"/>
              </a:rPr>
              <a:t>Adopt a strict time-based split</a:t>
            </a:r>
            <a:endParaRPr lang="en-US" sz="1350" b="0" u="none" strike="noStrike">
              <a:solidFill>
                <a:srgbClr val="000000"/>
              </a:solidFill>
              <a:effectLst/>
              <a:uFillTx/>
              <a:latin typeface="Arial"/>
            </a:endParaRPr>
          </a:p>
        </p:txBody>
      </p:sp>
      <p:sp>
        <p:nvSpPr>
          <p:cNvPr id="608" name="Text 7"/>
          <p:cNvSpPr/>
          <p:nvPr/>
        </p:nvSpPr>
        <p:spPr>
          <a:xfrm>
            <a:off x="1188720" y="1581840"/>
            <a:ext cx="105152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0" u="none" strike="noStrike">
                <a:solidFill>
                  <a:srgbClr val="5B6472"/>
                </a:solidFill>
                <a:effectLst/>
                <a:uFillTx/>
                <a:latin typeface="Calibri"/>
              </a:rPr>
              <a:t>Keep the chronological cutoff and extend to rolling-origin / walk-forward CV for more robust generalisation estimates.</a:t>
            </a:r>
            <a:endParaRPr lang="en-US" sz="1100" b="0" u="none" strike="noStrike">
              <a:solidFill>
                <a:srgbClr val="000000"/>
              </a:solidFill>
              <a:effectLst/>
              <a:uFillTx/>
              <a:latin typeface="Arial"/>
            </a:endParaRPr>
          </a:p>
        </p:txBody>
      </p:sp>
      <p:sp>
        <p:nvSpPr>
          <p:cNvPr id="609" name="Shape 8"/>
          <p:cNvSpPr/>
          <p:nvPr/>
        </p:nvSpPr>
        <p:spPr>
          <a:xfrm>
            <a:off x="502920" y="2148840"/>
            <a:ext cx="502560" cy="502560"/>
          </a:xfrm>
          <a:prstGeom prst="roundRect">
            <a:avLst>
              <a:gd name="adj" fmla="val 18182"/>
            </a:avLst>
          </a:prstGeom>
          <a:solidFill>
            <a:srgbClr val="4A7C59"/>
          </a:solidFill>
          <a:ln w="12700">
            <a:solidFill>
              <a:srgbClr val="4A7C5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10" name="Text 9"/>
          <p:cNvSpPr/>
          <p:nvPr/>
        </p:nvSpPr>
        <p:spPr>
          <a:xfrm>
            <a:off x="502920" y="2148840"/>
            <a:ext cx="502560" cy="50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600" b="1" u="none" strike="noStrike">
                <a:solidFill>
                  <a:srgbClr val="FFFFFF"/>
                </a:solidFill>
                <a:effectLst/>
                <a:uFillTx/>
                <a:latin typeface="Calibri"/>
                <a:ea typeface="Calibri"/>
              </a:rPr>
              <a:t>✓</a:t>
            </a:r>
            <a:endParaRPr lang="en-US" sz="1600" b="0" u="none" strike="noStrike">
              <a:solidFill>
                <a:srgbClr val="000000"/>
              </a:solidFill>
              <a:effectLst/>
              <a:uFillTx/>
              <a:latin typeface="Arial"/>
            </a:endParaRPr>
          </a:p>
        </p:txBody>
      </p:sp>
      <p:sp>
        <p:nvSpPr>
          <p:cNvPr id="611" name="Text 10"/>
          <p:cNvSpPr/>
          <p:nvPr/>
        </p:nvSpPr>
        <p:spPr>
          <a:xfrm>
            <a:off x="1188720" y="2075760"/>
            <a:ext cx="105152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50" b="1" u="none" strike="noStrike">
                <a:solidFill>
                  <a:srgbClr val="2C3E50"/>
                </a:solidFill>
                <a:effectLst/>
                <a:uFillTx/>
                <a:latin typeface="Calibri"/>
                <a:ea typeface="Calibri"/>
              </a:rPr>
              <a:t>Reformulate as classification</a:t>
            </a:r>
            <a:endParaRPr lang="en-US" sz="1350" b="0" u="none" strike="noStrike">
              <a:solidFill>
                <a:srgbClr val="000000"/>
              </a:solidFill>
              <a:effectLst/>
              <a:uFillTx/>
              <a:latin typeface="Arial"/>
            </a:endParaRPr>
          </a:p>
        </p:txBody>
      </p:sp>
      <p:sp>
        <p:nvSpPr>
          <p:cNvPr id="612" name="Text 11"/>
          <p:cNvSpPr/>
          <p:nvPr/>
        </p:nvSpPr>
        <p:spPr>
          <a:xfrm>
            <a:off x="1188720" y="2404800"/>
            <a:ext cx="105152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0" u="none" strike="noStrike">
                <a:solidFill>
                  <a:srgbClr val="5B6472"/>
                </a:solidFill>
                <a:effectLst/>
                <a:uFillTx/>
                <a:latin typeface="Calibri"/>
              </a:rPr>
              <a:t>Add a classification head with class-weighted or focal loss so rare Crisis and Emergency events are explicitly learned alongside regression.</a:t>
            </a:r>
            <a:endParaRPr lang="en-US" sz="1100" b="0" u="none" strike="noStrike">
              <a:solidFill>
                <a:srgbClr val="000000"/>
              </a:solidFill>
              <a:effectLst/>
              <a:uFillTx/>
              <a:latin typeface="Arial"/>
            </a:endParaRPr>
          </a:p>
        </p:txBody>
      </p:sp>
      <p:sp>
        <p:nvSpPr>
          <p:cNvPr id="613" name="Shape 12"/>
          <p:cNvSpPr/>
          <p:nvPr/>
        </p:nvSpPr>
        <p:spPr>
          <a:xfrm>
            <a:off x="502920" y="2971800"/>
            <a:ext cx="502560" cy="502560"/>
          </a:xfrm>
          <a:prstGeom prst="roundRect">
            <a:avLst>
              <a:gd name="adj" fmla="val 18182"/>
            </a:avLst>
          </a:prstGeom>
          <a:solidFill>
            <a:srgbClr val="4A7C59"/>
          </a:solidFill>
          <a:ln w="12700">
            <a:solidFill>
              <a:srgbClr val="4A7C5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14" name="Text 13"/>
          <p:cNvSpPr/>
          <p:nvPr/>
        </p:nvSpPr>
        <p:spPr>
          <a:xfrm>
            <a:off x="502920" y="2971800"/>
            <a:ext cx="502560" cy="50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600" b="1" u="none" strike="noStrike">
                <a:solidFill>
                  <a:srgbClr val="FFFFFF"/>
                </a:solidFill>
                <a:effectLst/>
                <a:uFillTx/>
                <a:latin typeface="Calibri"/>
                <a:ea typeface="Calibri"/>
              </a:rPr>
              <a:t>✓</a:t>
            </a:r>
            <a:endParaRPr lang="en-US" sz="1600" b="0" u="none" strike="noStrike">
              <a:solidFill>
                <a:srgbClr val="000000"/>
              </a:solidFill>
              <a:effectLst/>
              <a:uFillTx/>
              <a:latin typeface="Arial"/>
            </a:endParaRPr>
          </a:p>
        </p:txBody>
      </p:sp>
      <p:sp>
        <p:nvSpPr>
          <p:cNvPr id="615" name="Text 14"/>
          <p:cNvSpPr/>
          <p:nvPr/>
        </p:nvSpPr>
        <p:spPr>
          <a:xfrm>
            <a:off x="1188720" y="2898720"/>
            <a:ext cx="105152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50" b="1" u="none" strike="noStrike">
                <a:solidFill>
                  <a:srgbClr val="2C3E50"/>
                </a:solidFill>
                <a:effectLst/>
                <a:uFillTx/>
                <a:latin typeface="Calibri"/>
                <a:ea typeface="Calibri"/>
              </a:rPr>
              <a:t>Remove or lag-shift near-target features</a:t>
            </a:r>
            <a:endParaRPr lang="en-US" sz="1350" b="0" u="none" strike="noStrike">
              <a:solidFill>
                <a:srgbClr val="000000"/>
              </a:solidFill>
              <a:effectLst/>
              <a:uFillTx/>
              <a:latin typeface="Arial"/>
            </a:endParaRPr>
          </a:p>
        </p:txBody>
      </p:sp>
      <p:sp>
        <p:nvSpPr>
          <p:cNvPr id="616" name="Text 15"/>
          <p:cNvSpPr/>
          <p:nvPr/>
        </p:nvSpPr>
        <p:spPr>
          <a:xfrm>
            <a:off x="1188720" y="3227760"/>
            <a:ext cx="105152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0" u="none" strike="noStrike">
                <a:solidFill>
                  <a:srgbClr val="5B6472"/>
                </a:solidFill>
                <a:effectLst/>
                <a:uFillTx/>
                <a:latin typeface="Calibri"/>
              </a:rPr>
              <a:t>Test longer forecast horizons (t+3, t+6) so the model must rely on trend and seasonality rather than the previous observation alone.</a:t>
            </a:r>
            <a:endParaRPr lang="en-US" sz="1100" b="0" u="none" strike="noStrike">
              <a:solidFill>
                <a:srgbClr val="000000"/>
              </a:solidFill>
              <a:effectLst/>
              <a:uFillTx/>
              <a:latin typeface="Arial"/>
            </a:endParaRPr>
          </a:p>
        </p:txBody>
      </p:sp>
      <p:sp>
        <p:nvSpPr>
          <p:cNvPr id="617" name="Shape 16"/>
          <p:cNvSpPr/>
          <p:nvPr/>
        </p:nvSpPr>
        <p:spPr>
          <a:xfrm>
            <a:off x="502920" y="3794760"/>
            <a:ext cx="502560" cy="502560"/>
          </a:xfrm>
          <a:prstGeom prst="roundRect">
            <a:avLst>
              <a:gd name="adj" fmla="val 18182"/>
            </a:avLst>
          </a:prstGeom>
          <a:solidFill>
            <a:srgbClr val="4A7C59"/>
          </a:solidFill>
          <a:ln w="12700">
            <a:solidFill>
              <a:srgbClr val="4A7C5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18" name="Text 17"/>
          <p:cNvSpPr/>
          <p:nvPr/>
        </p:nvSpPr>
        <p:spPr>
          <a:xfrm>
            <a:off x="502920" y="3794760"/>
            <a:ext cx="502560" cy="50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600" b="1" u="none" strike="noStrike">
                <a:solidFill>
                  <a:srgbClr val="FFFFFF"/>
                </a:solidFill>
                <a:effectLst/>
                <a:uFillTx/>
                <a:latin typeface="Calibri"/>
                <a:ea typeface="Calibri"/>
              </a:rPr>
              <a:t>✓</a:t>
            </a:r>
            <a:endParaRPr lang="en-US" sz="1600" b="0" u="none" strike="noStrike">
              <a:solidFill>
                <a:srgbClr val="000000"/>
              </a:solidFill>
              <a:effectLst/>
              <a:uFillTx/>
              <a:latin typeface="Arial"/>
            </a:endParaRPr>
          </a:p>
        </p:txBody>
      </p:sp>
      <p:sp>
        <p:nvSpPr>
          <p:cNvPr id="619" name="Text 18"/>
          <p:cNvSpPr/>
          <p:nvPr/>
        </p:nvSpPr>
        <p:spPr>
          <a:xfrm>
            <a:off x="1188720" y="3721680"/>
            <a:ext cx="105152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50" b="1" u="none" strike="noStrike">
                <a:solidFill>
                  <a:srgbClr val="2C3E50"/>
                </a:solidFill>
                <a:effectLst/>
                <a:uFillTx/>
                <a:latin typeface="Calibri"/>
                <a:ea typeface="Calibri"/>
              </a:rPr>
              <a:t>Regularize the LSTM more aggressively</a:t>
            </a:r>
            <a:endParaRPr lang="en-US" sz="1350" b="0" u="none" strike="noStrike">
              <a:solidFill>
                <a:srgbClr val="000000"/>
              </a:solidFill>
              <a:effectLst/>
              <a:uFillTx/>
              <a:latin typeface="Arial"/>
            </a:endParaRPr>
          </a:p>
        </p:txBody>
      </p:sp>
      <p:sp>
        <p:nvSpPr>
          <p:cNvPr id="620" name="Text 19"/>
          <p:cNvSpPr/>
          <p:nvPr/>
        </p:nvSpPr>
        <p:spPr>
          <a:xfrm>
            <a:off x="1188720" y="4050720"/>
            <a:ext cx="105152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0" u="none" strike="noStrike">
                <a:solidFill>
                  <a:srgbClr val="5B6472"/>
                </a:solidFill>
                <a:effectLst/>
                <a:uFillTx/>
                <a:latin typeface="Calibri"/>
              </a:rPr>
              <a:t>Early stopping, dropout, smaller network, longer sequences, and sample-weighted loss to counter the LSTM underprediction bias.</a:t>
            </a:r>
            <a:endParaRPr lang="en-US" sz="1100" b="0" u="none" strike="noStrike">
              <a:solidFill>
                <a:srgbClr val="000000"/>
              </a:solidFill>
              <a:effectLst/>
              <a:uFillTx/>
              <a:latin typeface="Arial"/>
            </a:endParaRPr>
          </a:p>
        </p:txBody>
      </p:sp>
      <p:sp>
        <p:nvSpPr>
          <p:cNvPr id="621" name="Shape 20"/>
          <p:cNvSpPr/>
          <p:nvPr/>
        </p:nvSpPr>
        <p:spPr>
          <a:xfrm>
            <a:off x="502920" y="4617720"/>
            <a:ext cx="502560" cy="502560"/>
          </a:xfrm>
          <a:prstGeom prst="roundRect">
            <a:avLst>
              <a:gd name="adj" fmla="val 18182"/>
            </a:avLst>
          </a:prstGeom>
          <a:solidFill>
            <a:srgbClr val="4A7C59"/>
          </a:solidFill>
          <a:ln w="12700">
            <a:solidFill>
              <a:srgbClr val="4A7C5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22" name="Text 21"/>
          <p:cNvSpPr/>
          <p:nvPr/>
        </p:nvSpPr>
        <p:spPr>
          <a:xfrm>
            <a:off x="502920" y="4617720"/>
            <a:ext cx="502560" cy="50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600" b="1" u="none" strike="noStrike">
                <a:solidFill>
                  <a:srgbClr val="FFFFFF"/>
                </a:solidFill>
                <a:effectLst/>
                <a:uFillTx/>
                <a:latin typeface="Calibri"/>
                <a:ea typeface="Calibri"/>
              </a:rPr>
              <a:t>✓</a:t>
            </a:r>
            <a:endParaRPr lang="en-US" sz="1600" b="0" u="none" strike="noStrike">
              <a:solidFill>
                <a:srgbClr val="000000"/>
              </a:solidFill>
              <a:effectLst/>
              <a:uFillTx/>
              <a:latin typeface="Arial"/>
            </a:endParaRPr>
          </a:p>
        </p:txBody>
      </p:sp>
      <p:sp>
        <p:nvSpPr>
          <p:cNvPr id="623" name="Text 22"/>
          <p:cNvSpPr/>
          <p:nvPr/>
        </p:nvSpPr>
        <p:spPr>
          <a:xfrm>
            <a:off x="1188720" y="4544640"/>
            <a:ext cx="105152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50" b="1" u="none" strike="noStrike">
                <a:solidFill>
                  <a:srgbClr val="2C3E50"/>
                </a:solidFill>
                <a:effectLst/>
                <a:uFillTx/>
                <a:latin typeface="Calibri"/>
                <a:ea typeface="Calibri"/>
              </a:rPr>
              <a:t>Enrich with exogenous drivers</a:t>
            </a:r>
            <a:endParaRPr lang="en-US" sz="1350" b="0" u="none" strike="noStrike">
              <a:solidFill>
                <a:srgbClr val="000000"/>
              </a:solidFill>
              <a:effectLst/>
              <a:uFillTx/>
              <a:latin typeface="Arial"/>
            </a:endParaRPr>
          </a:p>
        </p:txBody>
      </p:sp>
      <p:sp>
        <p:nvSpPr>
          <p:cNvPr id="624" name="Text 23"/>
          <p:cNvSpPr/>
          <p:nvPr/>
        </p:nvSpPr>
        <p:spPr>
          <a:xfrm>
            <a:off x="1188720" y="4873680"/>
            <a:ext cx="105152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0" u="none" strike="noStrike">
                <a:solidFill>
                  <a:srgbClr val="5B6472"/>
                </a:solidFill>
                <a:effectLst/>
                <a:uFillTx/>
                <a:latin typeface="Calibri"/>
              </a:rPr>
              <a:t>Add NDVI, rainfall anomaly (CHIRPS), maize prices, and conflict indices to explain shocks IPC alone cannot.</a:t>
            </a:r>
            <a:endParaRPr lang="en-US" sz="1100" b="0" u="none" strike="noStrike">
              <a:solidFill>
                <a:srgbClr val="000000"/>
              </a:solidFill>
              <a:effectLst/>
              <a:uFillTx/>
              <a:latin typeface="Arial"/>
            </a:endParaRPr>
          </a:p>
        </p:txBody>
      </p:sp>
      <p:sp>
        <p:nvSpPr>
          <p:cNvPr id="625" name="Shape 24"/>
          <p:cNvSpPr/>
          <p:nvPr/>
        </p:nvSpPr>
        <p:spPr>
          <a:xfrm>
            <a:off x="502920" y="5440680"/>
            <a:ext cx="502560" cy="502560"/>
          </a:xfrm>
          <a:prstGeom prst="roundRect">
            <a:avLst>
              <a:gd name="adj" fmla="val 18182"/>
            </a:avLst>
          </a:prstGeom>
          <a:solidFill>
            <a:srgbClr val="4A7C59"/>
          </a:solidFill>
          <a:ln w="12700">
            <a:solidFill>
              <a:srgbClr val="4A7C5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26" name="Text 25"/>
          <p:cNvSpPr/>
          <p:nvPr/>
        </p:nvSpPr>
        <p:spPr>
          <a:xfrm>
            <a:off x="502920" y="5440680"/>
            <a:ext cx="502560" cy="50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600" b="1" u="none" strike="noStrike">
                <a:solidFill>
                  <a:srgbClr val="FFFFFF"/>
                </a:solidFill>
                <a:effectLst/>
                <a:uFillTx/>
                <a:latin typeface="Calibri"/>
                <a:ea typeface="Calibri"/>
              </a:rPr>
              <a:t>✓</a:t>
            </a:r>
            <a:endParaRPr lang="en-US" sz="1600" b="0" u="none" strike="noStrike">
              <a:solidFill>
                <a:srgbClr val="000000"/>
              </a:solidFill>
              <a:effectLst/>
              <a:uFillTx/>
              <a:latin typeface="Arial"/>
            </a:endParaRPr>
          </a:p>
        </p:txBody>
      </p:sp>
      <p:sp>
        <p:nvSpPr>
          <p:cNvPr id="627" name="Text 26"/>
          <p:cNvSpPr/>
          <p:nvPr/>
        </p:nvSpPr>
        <p:spPr>
          <a:xfrm>
            <a:off x="1188720" y="5367600"/>
            <a:ext cx="105152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50" b="1" u="none" strike="noStrike">
                <a:solidFill>
                  <a:srgbClr val="2C3E50"/>
                </a:solidFill>
                <a:effectLst/>
                <a:uFillTx/>
                <a:latin typeface="Calibri"/>
                <a:ea typeface="Calibri"/>
              </a:rPr>
              <a:t>Deploy XGBoost as a decision-support tool, not an oracle</a:t>
            </a:r>
            <a:endParaRPr lang="en-US" sz="1350" b="0" u="none" strike="noStrike">
              <a:solidFill>
                <a:srgbClr val="000000"/>
              </a:solidFill>
              <a:effectLst/>
              <a:uFillTx/>
              <a:latin typeface="Arial"/>
            </a:endParaRPr>
          </a:p>
        </p:txBody>
      </p:sp>
      <p:sp>
        <p:nvSpPr>
          <p:cNvPr id="628" name="Text 27"/>
          <p:cNvSpPr/>
          <p:nvPr/>
        </p:nvSpPr>
        <p:spPr>
          <a:xfrm>
            <a:off x="1188720" y="5696640"/>
            <a:ext cx="105152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0" u="none" strike="noStrike">
                <a:solidFill>
                  <a:srgbClr val="5B6472"/>
                </a:solidFill>
                <a:effectLst/>
                <a:uFillTx/>
                <a:latin typeface="Calibri"/>
              </a:rPr>
              <a:t>XGBoost is the strongest tabular learner (R² = 0.72) — deploy alongside FEWS NET analyst review before operational use.</a:t>
            </a:r>
            <a:endParaRPr lang="en-US" sz="1100" b="0" u="none" strike="noStrike">
              <a:solidFill>
                <a:srgbClr val="000000"/>
              </a:solidFill>
              <a:effectLst/>
              <a:uFillTx/>
              <a:latin typeface="Arial"/>
            </a:endParaRPr>
          </a:p>
        </p:txBody>
      </p:sp>
      <p:sp>
        <p:nvSpPr>
          <p:cNvPr id="629" name="Text 28"/>
          <p:cNvSpPr/>
          <p:nvPr/>
        </p:nvSpPr>
        <p:spPr>
          <a:xfrm>
            <a:off x="45720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5B6472"/>
                </a:solidFill>
                <a:effectLst/>
                <a:uFillTx/>
                <a:latin typeface="Calibri"/>
                <a:ea typeface="Calibri"/>
              </a:rPr>
              <a:t>Kenya Food Security Forecasting  |  IPC Time-Series Study</a:t>
            </a:r>
            <a:endParaRPr lang="en-US" sz="1000" b="0" u="none" strike="noStrike">
              <a:solidFill>
                <a:srgbClr val="000000"/>
              </a:solidFill>
              <a:effectLst/>
              <a:uFillTx/>
              <a:latin typeface="Arial"/>
            </a:endParaRPr>
          </a:p>
        </p:txBody>
      </p:sp>
      <p:sp>
        <p:nvSpPr>
          <p:cNvPr id="630" name="Text 29"/>
          <p:cNvSpPr/>
          <p:nvPr/>
        </p:nvSpPr>
        <p:spPr>
          <a:xfrm>
            <a:off x="11338560" y="6537960"/>
            <a:ext cx="4568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000" b="0" u="none" strike="noStrike">
                <a:solidFill>
                  <a:srgbClr val="5B6472"/>
                </a:solidFill>
                <a:effectLst/>
                <a:uFillTx/>
                <a:latin typeface="Calibri"/>
                <a:ea typeface="Calibri"/>
              </a:rPr>
              <a:t>39</a:t>
            </a:r>
            <a:endParaRPr lang="en-US" sz="1000" b="0" u="none" strike="noStrike">
              <a:solidFill>
                <a:srgbClr val="000000"/>
              </a:solidFill>
              <a:effectLst/>
              <a:uFillTx/>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sp>
        <p:nvSpPr>
          <p:cNvPr id="631" name="Shape 0"/>
          <p:cNvSpPr/>
          <p:nvPr/>
        </p:nvSpPr>
        <p:spPr>
          <a:xfrm>
            <a:off x="0" y="5943600"/>
            <a:ext cx="12188520" cy="914040"/>
          </a:xfrm>
          <a:prstGeom prst="rect">
            <a:avLst/>
          </a:prstGeom>
          <a:solidFill>
            <a:srgbClr val="B85042"/>
          </a:solidFill>
          <a:ln w="12700">
            <a:solidFill>
              <a:srgbClr val="B8504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32" name="Text 1"/>
          <p:cNvSpPr/>
          <p:nvPr/>
        </p:nvSpPr>
        <p:spPr>
          <a:xfrm>
            <a:off x="640080" y="2194560"/>
            <a:ext cx="10972440" cy="1188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0" b="1" u="none" strike="noStrike" spc="799">
                <a:solidFill>
                  <a:srgbClr val="FFFFFF"/>
                </a:solidFill>
                <a:effectLst/>
                <a:uFillTx/>
                <a:latin typeface="Calibri"/>
                <a:ea typeface="Calibri"/>
              </a:rPr>
              <a:t>THANK YOU</a:t>
            </a:r>
            <a:endParaRPr lang="en-US" sz="8000" b="0" u="none" strike="noStrike">
              <a:solidFill>
                <a:srgbClr val="FFFFFF"/>
              </a:solidFill>
              <a:effectLst/>
              <a:uFillTx/>
              <a:latin typeface="Arial"/>
            </a:endParaRPr>
          </a:p>
        </p:txBody>
      </p:sp>
      <p:sp>
        <p:nvSpPr>
          <p:cNvPr id="633" name="Text 2"/>
          <p:cNvSpPr/>
          <p:nvPr/>
        </p:nvSpPr>
        <p:spPr>
          <a:xfrm>
            <a:off x="640080" y="3566160"/>
            <a:ext cx="10972440" cy="639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0" i="1" u="none" strike="noStrike">
                <a:solidFill>
                  <a:srgbClr val="CADCFC"/>
                </a:solidFill>
                <a:effectLst/>
                <a:uFillTx/>
                <a:latin typeface="Calibri"/>
                <a:ea typeface="Calibri"/>
              </a:rPr>
              <a:t>Questions &amp; Discussion</a:t>
            </a:r>
            <a:endParaRPr lang="en-US" sz="2200" b="0" u="none" strike="noStrike">
              <a:solidFill>
                <a:srgbClr val="FFFFFF"/>
              </a:solidFill>
              <a:effectLst/>
              <a:uFillTx/>
              <a:latin typeface="Arial"/>
            </a:endParaRPr>
          </a:p>
        </p:txBody>
      </p:sp>
      <p:sp>
        <p:nvSpPr>
          <p:cNvPr id="634" name="Text 3"/>
          <p:cNvSpPr/>
          <p:nvPr/>
        </p:nvSpPr>
        <p:spPr>
          <a:xfrm>
            <a:off x="640080" y="6172200"/>
            <a:ext cx="109724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a:solidFill>
                  <a:srgbClr val="FFFFFF"/>
                </a:solidFill>
                <a:effectLst/>
                <a:uFillTx/>
                <a:latin typeface="Calibri"/>
                <a:ea typeface="Calibri"/>
              </a:rPr>
              <a:t>Kenya Food Security Forecasting  ·  IPC Time-Series Study</a:t>
            </a:r>
            <a:endParaRPr lang="en-US" sz="1400" b="0" u="none" strike="noStrike">
              <a:solidFill>
                <a:srgbClr val="FFFFFF"/>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260</TotalTime>
  <Words>3658</Words>
  <Application>Microsoft Office PowerPoint</Application>
  <PresentationFormat>Widescreen</PresentationFormat>
  <Paragraphs>442</Paragraphs>
  <Slides>34</Slides>
  <Notes>30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Arial</vt:lpstr>
      <vt:lpstr>Calibri</vt:lpstr>
      <vt:lpstr>Google Sans</vt:lpstr>
      <vt:lpstr>OpenSymbol</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Christine K</dc:creator>
  <cp:lastModifiedBy>Christine K</cp:lastModifiedBy>
  <cp:revision>7</cp:revision>
  <dcterms:modified xsi:type="dcterms:W3CDTF">2026-07-14T22:10:24Z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2026-07-14T13:31:55Z</dcterms:created>
  <dc:creator>PptxGenJS</dc:creator>
  <dc:description/>
  <dc:language>en-US</dc:language>
  <cp:lastModifiedBy>PptxGenJS</cp:lastModifiedBy>
  <dcterms:modified xsi:type="dcterms:W3CDTF">2026-07-14T13:31:55Z</dcterms:modified>
  <cp:revision>1</cp:revision>
  <dc:subject>PptxGenJS Presentation</dc:subject>
  <dc:title>Kenya Food Security Forecasting</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41</vt:r8>
  </property>
  <property fmtid="{D5CDD505-2E9C-101B-9397-08002B2CF9AE}" pid="3" name="PresentationFormat">
    <vt:lpwstr>On-screen Show (16:9)</vt:lpwstr>
  </property>
  <property fmtid="{D5CDD505-2E9C-101B-9397-08002B2CF9AE}" pid="4" name="Slides">
    <vt:r8>41</vt:r8>
  </property>
</Properties>
</file>